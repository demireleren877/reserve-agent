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b2de7923fa469d" /><Relationship Type="http://schemas.openxmlformats.org/officeDocument/2006/relationships/extended-properties" Target="/docProps/app.xml" Id="Re7ea5001d0ee4bb4" /><Relationship Type="http://schemas.openxmlformats.org/officeDocument/2006/relationships/officeDocument" Target="/ppt/presentation.xml" Id="R7e590f9127714d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6eb8de460b4b93"/>
  </p:sldMasterIdLst>
  <p:notesMasterIdLst>
    <p:notesMasterId xmlns:r="http://schemas.openxmlformats.org/officeDocument/2006/relationships" r:id="R77ee99bf5ff84f3e"/>
  </p:notesMasterIdLst>
  <p:sldIdLst>
    <p:sldId xmlns:r="http://schemas.openxmlformats.org/officeDocument/2006/relationships" id="256" r:id="R113598ba7fde4e6f"/>
    <p:sldId xmlns:r="http://schemas.openxmlformats.org/officeDocument/2006/relationships" id="257" r:id="Rb34dee7b40694376"/>
    <p:sldId xmlns:r="http://schemas.openxmlformats.org/officeDocument/2006/relationships" id="258" r:id="R35d9b9a594c44c91"/>
    <p:sldId xmlns:r="http://schemas.openxmlformats.org/officeDocument/2006/relationships" id="259" r:id="R413452277f044264"/>
    <p:sldId xmlns:r="http://schemas.openxmlformats.org/officeDocument/2006/relationships" id="260" r:id="Re79807dcf2d54317"/>
    <p:sldId xmlns:r="http://schemas.openxmlformats.org/officeDocument/2006/relationships" id="261" r:id="R2983c7c46efb4f84"/>
    <p:sldId xmlns:r="http://schemas.openxmlformats.org/officeDocument/2006/relationships" id="262" r:id="R16ed7fe4d5994961"/>
    <p:sldId xmlns:r="http://schemas.openxmlformats.org/officeDocument/2006/relationships" id="263" r:id="Rf5e5a1395efd4f28"/>
    <p:sldId xmlns:r="http://schemas.openxmlformats.org/officeDocument/2006/relationships" id="264" r:id="R8040877bcac24740"/>
    <p:sldId xmlns:r="http://schemas.openxmlformats.org/officeDocument/2006/relationships" id="265" r:id="R23b808602e384db2"/>
    <p:sldId xmlns:r="http://schemas.openxmlformats.org/officeDocument/2006/relationships" id="266" r:id="Rc7c3cf7dabd642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c80f6f424f4e78" /><Relationship Type="http://schemas.openxmlformats.org/officeDocument/2006/relationships/slideMaster" Target="/ppt/slideMasters/slideMaster1.xml" Id="Ra96eb8de460b4b93" /><Relationship Type="http://schemas.openxmlformats.org/officeDocument/2006/relationships/notesMaster" Target="/ppt/notesMasters/notesMaster1.xml" Id="R77ee99bf5ff84f3e" /><Relationship Type="http://schemas.openxmlformats.org/officeDocument/2006/relationships/presProps" Target="/ppt/presProps.xml" Id="Rf0b70e19d80f453b" /><Relationship Type="http://schemas.openxmlformats.org/officeDocument/2006/relationships/tableStyles" Target="/ppt/tableStyles.xml" Id="R60b70006bcba4a0b" /><Relationship Type="http://schemas.openxmlformats.org/officeDocument/2006/relationships/slide" Target="/ppt/slides/slide1.xml" Id="R113598ba7fde4e6f" /><Relationship Type="http://schemas.openxmlformats.org/officeDocument/2006/relationships/slide" Target="/ppt/slides/slide2.xml" Id="Rb34dee7b40694376" /><Relationship Type="http://schemas.openxmlformats.org/officeDocument/2006/relationships/slide" Target="/ppt/slides/slide3.xml" Id="R35d9b9a594c44c91" /><Relationship Type="http://schemas.openxmlformats.org/officeDocument/2006/relationships/slide" Target="/ppt/slides/slide4.xml" Id="R413452277f044264" /><Relationship Type="http://schemas.openxmlformats.org/officeDocument/2006/relationships/slide" Target="/ppt/slides/slide5.xml" Id="Re79807dcf2d54317" /><Relationship Type="http://schemas.openxmlformats.org/officeDocument/2006/relationships/slide" Target="/ppt/slides/slide6.xml" Id="R2983c7c46efb4f84" /><Relationship Type="http://schemas.openxmlformats.org/officeDocument/2006/relationships/slide" Target="/ppt/slides/slide7.xml" Id="R16ed7fe4d5994961" /><Relationship Type="http://schemas.openxmlformats.org/officeDocument/2006/relationships/slide" Target="/ppt/slides/slide8.xml" Id="Rf5e5a1395efd4f28" /><Relationship Type="http://schemas.openxmlformats.org/officeDocument/2006/relationships/slide" Target="/ppt/slides/slide9.xml" Id="R8040877bcac24740" /><Relationship Type="http://schemas.openxmlformats.org/officeDocument/2006/relationships/slide" Target="/ppt/slides/slide10.xml" Id="R23b808602e384db2" /><Relationship Type="http://schemas.openxmlformats.org/officeDocument/2006/relationships/slide" Target="/ppt/slides/slide11.xml" Id="Rc7c3cf7dabd642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e7c089a85f46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df460655b74b2c" /><Relationship Type="http://schemas.openxmlformats.org/officeDocument/2006/relationships/notesMaster" Target="/ppt/notesMasters/notesMaster1.xml" Id="Rab5a7140143045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5d6758294743d7" /><Relationship Type="http://schemas.openxmlformats.org/officeDocument/2006/relationships/notesMaster" Target="/ppt/notesMasters/notesMaster1.xml" Id="Ra56d385f8f4c45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ad86ce8da744fe" /><Relationship Type="http://schemas.openxmlformats.org/officeDocument/2006/relationships/notesMaster" Target="/ppt/notesMasters/notesMaster1.xml" Id="Red52b90bee4e4a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83aabada0e4353" /><Relationship Type="http://schemas.openxmlformats.org/officeDocument/2006/relationships/notesMaster" Target="/ppt/notesMasters/notesMaster1.xml" Id="R91daec78ef4d41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6b3a34526043a9" /><Relationship Type="http://schemas.openxmlformats.org/officeDocument/2006/relationships/notesMaster" Target="/ppt/notesMasters/notesMaster1.xml" Id="R145b545f069d45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d42bd8aea142d8" /><Relationship Type="http://schemas.openxmlformats.org/officeDocument/2006/relationships/notesMaster" Target="/ppt/notesMasters/notesMaster1.xml" Id="R0b6c914d68ec4e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63eb24d1304ac5" /><Relationship Type="http://schemas.openxmlformats.org/officeDocument/2006/relationships/notesMaster" Target="/ppt/notesMasters/notesMaster1.xml" Id="Raffe84b38a5f4bc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b6d2ff09ef4755" /><Relationship Type="http://schemas.openxmlformats.org/officeDocument/2006/relationships/notesMaster" Target="/ppt/notesMasters/notesMaster1.xml" Id="R2c34f411ee764f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e9cbf5754b74358" /><Relationship Type="http://schemas.openxmlformats.org/officeDocument/2006/relationships/notesMaster" Target="/ppt/notesMasters/notesMaster1.xml" Id="R81be80dc770642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33cfdf69444b07" /><Relationship Type="http://schemas.openxmlformats.org/officeDocument/2006/relationships/notesMaster" Target="/ppt/notesMasters/notesMaster1.xml" Id="R3c5714a8cb684c2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253ffa04c8145aa" /><Relationship Type="http://schemas.openxmlformats.org/officeDocument/2006/relationships/notesMaster" Target="/ppt/notesMasters/notesMaster1.xml" Id="R5be23878d3f744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sunumun amacı yalnızca bir ürün göstermek değil. Finansın hata toleransı düşük alanlarından birinde yapay zekâyı nasıl kontrollü kullanabileceğimizi anlatmak.</a:t>
            </a:r>
          </a:p>
          <a:p xmlns:a="http://schemas.openxmlformats.org/drawingml/2006/main">
            <a:r>
              <a:t>Actuarius, bu yaklaşımı aktüeryal rezerv süreci üzerinde somutlaştırıyor.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Aktüerya, üretken yapay zekânın sınırsız hareket edebileceği bir alan değil.</a:t>
            </a:r>
          </a:p>
          <a:p xmlns:a="http://schemas.openxmlformats.org/drawingml/2006/main">
            <a:r>
              <a:t>Bu kısıt bir engel değil. Doğru mimariyi tarif ediyor: hesap, veri sınırı, kayıt ve insan onayı ayrı ayrı korunmalı.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Bizim yaklaşımımızda AI hesap motorunun yerine geçmiyor.</a:t>
            </a:r>
          </a:p>
          <a:p xmlns:a="http://schemas.openxmlformats.org/drawingml/2006/main">
            <a:r>
              <a:t>AI, aktüerin doğal dildeki sorusunu ilgili kontrole ve hesap fonksiyonuna bağlıyor. Sayıyı versiyonlu motor döndürüyor. Aktüer bağlamı ve varsayımı değerlendirerek onaylıyor.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İlk değer noktası veri hazırlığı. Aktüer bugün önemli zamanını dosya yapısını anlamaya ve hatayı aramaya ayırıyor.</a:t>
            </a:r>
          </a:p>
          <a:p xmlns:a="http://schemas.openxmlformats.org/drawingml/2006/main">
            <a:r>
              <a:t>AI burada karar vermek yerine kolon eşleme önerisi, kalite özeti ve anomali açıklaması sağlayabilir. Kullanıcı her eşlemeyi görür ve onaylar.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ekranında her adım görünür. Aktüer hangi gelişim faktörünü kullandığını ve hangi hücreyi dışladığını açık biçimde görür.</a:t>
            </a:r>
          </a:p>
          <a:p xmlns:a="http://schemas.openxmlformats.org/drawingml/2006/main">
            <a:r>
              <a:t>AI’nın katkısı, seçimi aktüer adına yapmak değil. Seçimi açıklamak, dönem farklarını araştırmak ve kontrol sorularını hızlandırmak.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Dört kullanım alanı öncelikli. İlki doğal dilde analiz, ikincisi kontroller, üçüncüsü açıklama taslağı, dördüncüsü süreç desteği.</a:t>
            </a:r>
          </a:p>
          <a:p xmlns:a="http://schemas.openxmlformats.org/drawingml/2006/main">
            <a:r>
              <a:t>Bu yeteneklerin ortak kuralı aynı: AI serbestçe sayı uydurmaz. Doğrulanmış fonksiyonları çağırır ve dönen sonucu kaynak bağlamıyla sunar.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soru bugün birden fazla dosya ve ekran arasında araştırma gerektirebilir.</a:t>
            </a:r>
          </a:p>
          <a:p xmlns:a="http://schemas.openxmlformats.org/drawingml/2006/main">
            <a:r>
              <a:t>Agent önce bağlamı belirler, sonra ilgili kontrollere gider. Hesap motoru sonuçları verir. Agent bunları kısa bir açıklamaya çevirir. Aktüer ayrıntılı inceleme izini korur.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slaytta mevcut durum ile hedef kontrol katmanını açıkça ayırıyoruz.</a:t>
            </a:r>
          </a:p>
          <a:p xmlns:a="http://schemas.openxmlformats.org/drawingml/2006/main">
            <a:r>
              <a:t>Yerel çalışma, Oracle bağlantısı ve deterministik motor elimizde. Kurumsal parola kasası, ayrıntılı yetki, değiştirilemez kapanış ve AI sağlayıcı politikası pilotun kontrol kapsamını oluşturmalı.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Sunumda doğrulanmamış verimlilik oranları kullanmıyoruz.</a:t>
            </a:r>
          </a:p>
          <a:p xmlns:a="http://schemas.openxmlformats.org/drawingml/2006/main">
            <a:r>
              <a:t>Pilot öncesinde mevcut kapanış süresini, analiz zamanını ve yeniden çalışmayı ölçeceğiz. Aynı akışın Actuarius ile yürütülen kapanışını karşılaştıracağız.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Öneri, tek branş ve bir kapanış dönemiyle başlamaktır.</a:t>
            </a:r>
          </a:p>
          <a:p xmlns:a="http://schemas.openxmlformats.org/drawingml/2006/main">
            <a:r>
              <a:t>İlk ay veri ve kontrol kapsamını hazırlarız. İkinci ay mevcut süreçle yan yana çalışırız. Son ay ölçümleri, riskleri ve ölçekleme kararını yönetime sunarız.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Yönetimden talebimiz geniş ölçekli bir teknoloji yatırımı kararı değil.</a:t>
            </a:r>
          </a:p>
          <a:p xmlns:a="http://schemas.openxmlformats.org/drawingml/2006/main">
            <a:r>
              <a:t>Tek branşta, ölçülebilir ve kontrollü bir pilot için sponsor, aktüerya ve IT temsilcisi ile ortak başarı kriterleri istiyoruz.</a:t>
            </a:r>
          </a:p>
          <a:p xmlns:a="http://schemas.openxmlformats.org/drawingml/2006/main">
            <a:r>
              <a:t>Pilot sonunda faydayı ve kontrol sonuçlarını birlikte değerlendirebiliriz.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72bc230f984f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ddfd3e730f4026" /><Relationship Type="http://schemas.openxmlformats.org/officeDocument/2006/relationships/slideLayout" Target="/ppt/slideLayouts/slideLayout1.xml" Id="Ra93abb22b93d4b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3abb22b93d4b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7c03aeb9941b9" /><Relationship Type="http://schemas.openxmlformats.org/officeDocument/2006/relationships/notesSlide" Target="/ppt/notesSlides/notesSlide1.xml" Id="R794f70385ca64a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c699995aea476a" /><Relationship Type="http://schemas.openxmlformats.org/officeDocument/2006/relationships/notesSlide" Target="/ppt/notesSlides/notesSlide2.xml" Id="R3d3660c029db4c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2ac73e65be4125" /><Relationship Type="http://schemas.openxmlformats.org/officeDocument/2006/relationships/notesSlide" Target="/ppt/notesSlides/notesSlide3.xml" Id="Rea31bc719be043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e99a7fd5354e6c" /><Relationship Type="http://schemas.openxmlformats.org/officeDocument/2006/relationships/image" Target="/ppt/media/image.png" Id="R1c8588101719463e" /><Relationship Type="http://schemas.openxmlformats.org/officeDocument/2006/relationships/notesSlide" Target="/ppt/notesSlides/notesSlide4.xml" Id="Re83725be8a624e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4232e2c2d541fe" /><Relationship Type="http://schemas.openxmlformats.org/officeDocument/2006/relationships/image" Target="/ppt/media/image2.png" Id="R42afd4989dc642c7" /><Relationship Type="http://schemas.openxmlformats.org/officeDocument/2006/relationships/notesSlide" Target="/ppt/notesSlides/notesSlide5.xml" Id="R7eea417140ba43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ebc3cf0de41fc" /><Relationship Type="http://schemas.openxmlformats.org/officeDocument/2006/relationships/image" Target="/ppt/media/image3.png" Id="Rca480d1c7aad4197" /><Relationship Type="http://schemas.openxmlformats.org/officeDocument/2006/relationships/notesSlide" Target="/ppt/notesSlides/notesSlide6.xml" Id="R4ca3b033171744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b8acb4328a4a7f" /><Relationship Type="http://schemas.openxmlformats.org/officeDocument/2006/relationships/notesSlide" Target="/ppt/notesSlides/notesSlide7.xml" Id="Rc097aa8e17974b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163196f5143a8" /><Relationship Type="http://schemas.openxmlformats.org/officeDocument/2006/relationships/notesSlide" Target="/ppt/notesSlides/notesSlide8.xml" Id="Rb5896fb296f542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da3092fd394817" /><Relationship Type="http://schemas.openxmlformats.org/officeDocument/2006/relationships/notesSlide" Target="/ppt/notesSlides/notesSlide9.xml" Id="R678fe7d6b3d6463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97a15afb834e98" /><Relationship Type="http://schemas.openxmlformats.org/officeDocument/2006/relationships/notesSlide" Target="/ppt/notesSlides/notesSlide10.xml" Id="Re18961501c05473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1eddd76154c23" /><Relationship Type="http://schemas.openxmlformats.org/officeDocument/2006/relationships/notesSlide" Target="/ppt/notesSlides/notesSlide11.xml" Id="Rcd6ebd687ab14f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5E9CC9-E0B3-4F4A-BC01-2308D956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896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62893E-D73D-48C8-BB02-77CE3EB0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3D8F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63D8F3"/>
                </a:solidFill>
                <a:latin typeface="Avenir Next"/>
                <a:ea typeface="Avenir Next"/>
                <a:cs typeface="Avenir Next"/>
              </a:rPr>
              <a:t>FINANCE DAY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162140-BF35-43C4-9E0F-22B9BDA8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4200" b="1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Aktüeryada </a:t>
            </a:r>
            <a:r>
              <a:rPr sz="4200" b="1">
                <a:solidFill>
                  <a:srgbClr val="D78962"/>
                </a:solidFill>
                <a:latin typeface="Avenir Next"/>
                <a:ea typeface="Avenir Next"/>
                <a:cs typeface="Avenir Next"/>
              </a:rPr>
              <a:t>yapay zekâ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E1AF24-C367-4BD2-9B7B-7A512F1D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AAB5C7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AAB5C7"/>
                </a:solidFill>
                <a:latin typeface="Avenir Next"/>
                <a:ea typeface="Avenir Next"/>
                <a:cs typeface="Avenir Next"/>
              </a:rPr>
              <a:t>Kontrollü bir finans alanında somut kullanım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5CFA36-E94E-4B41-AD62-F8F5D108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Actuarius Enterprise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4EF3C-ACDA-4CB8-8B88-8576B484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AAB5C7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AAB5C7"/>
                </a:solidFill>
                <a:latin typeface="Avenir Next"/>
                <a:ea typeface="Avenir Next"/>
                <a:cs typeface="Avenir Next"/>
              </a:rPr>
              <a:t>Ürün yaklaşımı, güvenlik çerçevesi ve pilot önerisi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16C5A6-7D28-4811-A4D8-92C343B2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143000"/>
            <a:ext cx="1695450" cy="4000500"/>
          </a:xfrm>
          <a:prstGeom xmlns:a="http://schemas.openxmlformats.org/drawingml/2006/main" prst="roundRect">
            <a:avLst>
              <a:gd name="adj" fmla="val 15730"/>
            </a:avLst>
          </a:prstGeom>
          <a:solidFill xmlns:a="http://schemas.openxmlformats.org/drawingml/2006/main">
            <a:srgbClr val="121A2E"/>
          </a:solidFill>
          <a:ln xmlns:a="http://schemas.openxmlformats.org/drawingml/2006/main" w="9525">
            <a:solidFill>
              <a:srgbClr val="2A35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AE834D-F849-41CB-8DE5-3BFE56FE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809750"/>
            <a:ext cx="1314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950" b="1">
                <a:solidFill>
                  <a:srgbClr val="63D8F3"/>
                </a:solidFill>
                <a:latin typeface="Avenir Next"/>
                <a:ea typeface="Avenir Next"/>
                <a:cs typeface="Avenir Next"/>
              </a:defRPr>
            </a:pPr>
            <a:r>
              <a:rPr sz="4950" b="1">
                <a:solidFill>
                  <a:srgbClr val="63D8F3"/>
                </a:solidFill>
                <a:latin typeface="Avenir Next"/>
                <a:ea typeface="Avenir Next"/>
                <a:cs typeface="Avenir Next"/>
              </a:rPr>
              <a:t>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B79259-128C-4B08-8F06-F41578A4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971800"/>
            <a:ext cx="838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896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95DE53-DFCE-49BC-8E0B-2F6E29C5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381375"/>
            <a:ext cx="1276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KONTROL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ALTINDA</a:t>
            </a:r>
          </a:p>
        </p:txBody>
      </p:sp>
    </p:spTree>
    <p:extLst>
      <p:ext uri="{BB962C8B-B14F-4D97-AF65-F5344CB8AC3E}">
        <p14:creationId xmlns:p14="http://schemas.microsoft.com/office/powerpoint/2010/main" val="3383482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434B0A-FFB5-46CC-9487-30E01FE6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Aktüeryada AI neden farklı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EFB55C-C158-4528-B221-4061DDE0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723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7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Rezerv sonucu finansal tablolara girer. Bu nedenle hız kadar izlenebilirlik ve tekrar üretilebilirlik de gerekir.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0A01B9-CBE6-4D36-BA0E-EFA0F26E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D7896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D78962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B16D0B-D8BA-4D58-A338-B13E3598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432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Hata maliyeti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89D216-8B29-47B7-B07A-716B5154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7622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Yanlış bir sayı kararları ve raporlamayı etkiler.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A5227-76C1-422D-9921-E1395EB6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67075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41684A-DEAA-44B9-9C72-B596888F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D7896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D78962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30C718-0DC1-40E8-A591-16D1EFC4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86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Açıklanabilirlik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6AAFA7-3D0C-43C6-9851-82411202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5052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Sonucun hangi veri ve varsayımla oluştuğu görünmelidir.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D8BD7A-B024-4EB3-8247-5443A3AD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10025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30FF0D-A75F-4E79-BE9D-C4899CA0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D7896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D78962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AE39FE-0FF6-42E7-98E4-11292772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291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Veri sınırı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FB7393-58CC-43E5-A48F-3AAA786D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2481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Hasar ve poliçe verisi kurum politikasına uygun kalmalıdır.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117027-9282-4176-B6DF-A396CB41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752975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D490CC-F318-43E5-822B-5565BA8B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D7896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D78962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404345-2FE6-4791-BF36-583609AA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972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Uzman onayı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A85CFC-B129-4658-9F82-0B98176C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9911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Nihai kararın sahibi aktüerdir.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719458-9884-41B7-8495-37B29BEC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Finance Day 2026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3D43F2-AC10-4062-BDB5-ADFB9C64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849844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C59E34-9BCE-4227-AD05-DB94B435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Çalışma prensibi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180855-CEBD-4726-8637-9029DBEB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8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0">
                <a:solidFill>
                  <a:srgbClr val="AAB5C7"/>
                </a:solidFill>
                <a:latin typeface="Avenir Next"/>
                <a:ea typeface="Avenir Next"/>
                <a:cs typeface="Avenir Next"/>
              </a:defRPr>
            </a:pPr>
            <a:r>
              <a:rPr sz="1950" b="0">
                <a:solidFill>
                  <a:srgbClr val="AAB5C7"/>
                </a:solidFill>
                <a:latin typeface="Avenir Next"/>
                <a:ea typeface="Avenir Next"/>
                <a:cs typeface="Avenir Next"/>
              </a:rPr>
              <a:t>Hesabı deterministik motor üretir. AI bağlamı toplar ve açıklamayı hızlandırır. Aktüer onaylar.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49634C-D5C5-4798-8E6D-1E1115A7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2933700" cy="2476500"/>
          </a:xfrm>
          <a:prstGeom xmlns:a="http://schemas.openxmlformats.org/drawingml/2006/main" prst="roundRect">
            <a:avLst>
              <a:gd name="adj" fmla="val 8462"/>
            </a:avLst>
          </a:prstGeom>
          <a:solidFill xmlns:a="http://schemas.openxmlformats.org/drawingml/2006/main">
            <a:srgbClr val="121A2E"/>
          </a:solidFill>
          <a:ln xmlns:a="http://schemas.openxmlformats.org/drawingml/2006/main" w="9525">
            <a:solidFill>
              <a:srgbClr val="2A355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C119D3-7E61-4F84-A263-9C0602CD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293370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63D8F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EDB71-F00B-41B7-90FA-2C2D8E7B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14625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3D8F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63D8F3"/>
                </a:solidFill>
                <a:latin typeface="Avenir Next"/>
                <a:ea typeface="Avenir Next"/>
                <a:cs typeface="Avenir Next"/>
              </a:rPr>
              <a:t>AI KATMANI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9B3084-54BC-4290-BD4E-C728C8A3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2400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Soruyu anlar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Doğru analizi seçer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Taslak açıklama üretir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9C0A91-3332-4BB9-BBCB-21293228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33625"/>
            <a:ext cx="2933700" cy="2476500"/>
          </a:xfrm>
          <a:prstGeom xmlns:a="http://schemas.openxmlformats.org/drawingml/2006/main" prst="roundRect">
            <a:avLst>
              <a:gd name="adj" fmla="val 8462"/>
            </a:avLst>
          </a:prstGeom>
          <a:solidFill xmlns:a="http://schemas.openxmlformats.org/drawingml/2006/main">
            <a:srgbClr val="121A2E"/>
          </a:solidFill>
          <a:ln xmlns:a="http://schemas.openxmlformats.org/drawingml/2006/main" w="9525">
            <a:solidFill>
              <a:srgbClr val="2A35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FBE426-A5DD-4D6D-9BF0-76BE329F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33625"/>
            <a:ext cx="293370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5AA7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0DD4DE-CE75-467A-A605-22EBEC6E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14625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AA7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5AA7FF"/>
                </a:solidFill>
                <a:latin typeface="Avenir Next"/>
                <a:ea typeface="Avenir Next"/>
                <a:cs typeface="Avenir Next"/>
              </a:rPr>
              <a:t>HESAP MOTORU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C44A72-B25F-433B-8B1C-DCBEC624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38500"/>
            <a:ext cx="2400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8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Versiyonlu yöntemler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Aynı girdiye aynı sonuç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Kontrol testleri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5E3287-7DCE-4657-A607-21236236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33625"/>
            <a:ext cx="2933700" cy="2476500"/>
          </a:xfrm>
          <a:prstGeom xmlns:a="http://schemas.openxmlformats.org/drawingml/2006/main" prst="roundRect">
            <a:avLst>
              <a:gd name="adj" fmla="val 8462"/>
            </a:avLst>
          </a:prstGeom>
          <a:solidFill xmlns:a="http://schemas.openxmlformats.org/drawingml/2006/main">
            <a:srgbClr val="121A2E"/>
          </a:solidFill>
          <a:ln xmlns:a="http://schemas.openxmlformats.org/drawingml/2006/main" w="9525">
            <a:solidFill>
              <a:srgbClr val="2A355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E02776-28BD-4DA1-AA4A-B73E84CD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33625"/>
            <a:ext cx="293370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7896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5F0FFF-2979-420F-95A7-53A4D970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14625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D7896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D78962"/>
                </a:solidFill>
                <a:latin typeface="Avenir Next"/>
                <a:ea typeface="Avenir Next"/>
                <a:cs typeface="Avenir Next"/>
              </a:rPr>
              <a:t>AKTÜER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1B79F4-5C97-4CA9-A53C-E131B57C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38500"/>
            <a:ext cx="2400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8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Varsayımı değerlendirir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İstisnayı inceler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Nihai sonucu onaylar</a:t>
            </a:r>
          </a:p>
        </p:txBody>
      </p:sp>
      <p:cxnSp>
        <p:nvCxnSpPr>
          <p:cNvPr id="34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619500" y="3571875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AB5C7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258050" y="3571875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AB5C7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5D5623-8F75-4089-8983-4C339F7E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81625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Kontrol noktası: AI hiçbir aşamada kayıtsız ve doğrulanmamış bir rezerv sonucu üretmez.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695A80-698A-46BD-814D-0B669806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AAB5C7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AAB5C7"/>
                </a:solidFill>
                <a:latin typeface="Avenir Next"/>
                <a:ea typeface="Avenir Next"/>
                <a:cs typeface="Avenir Next"/>
              </a:rPr>
              <a:t>Finance Day 2026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64E20F-7527-4916-B045-D2DD3CDF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AAB5C7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AAB5C7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905397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E26529-13DA-4FEE-A3DA-295081C5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Veri hazırlığı tek bir kapanış bağlamında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59E063-B053-4689-8A1D-32EBA229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88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Dosya yükleme, kolon eşleme ve dönem bağlamı aynı çalışma alanında tutulur.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8588101719463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1714500"/>
            <a:ext cx="6553200" cy="4095750"/>
          </a:xfrm>
          <a:prstGeom xmlns:a="http://schemas.openxmlformats.org/drawingml/2006/main" prst="roundRect">
            <a:avLst>
              <a:gd name="adj" fmla="val 4186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6D4549-C911-4060-882E-BDC80C6D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D7896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D78962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2CEF90-E7FD-4405-AC0E-F325FA4B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478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Veriyi tanı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742683-4DF0-4B29-8954-421DCDF4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479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Dosya yapısını ve alanları kontrol 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3A96F2-18FE-47DC-BADD-4BECC22B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D7896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D78962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D3E25F-FEBC-43E6-BC71-75F921E2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527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Döneme bağla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86C35F-267A-48C0-9361-A29F4FA0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528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Aynı kapanış bağlamını koru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D781A8-3D1C-4A38-A177-584B7154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D7896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D78962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0C8F4E-1568-4F03-B70E-5A6D1609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576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Analize hazırla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D9BCF5-ED73-4562-955F-D5F30050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577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Eksik veya uyumsuz alanları görünür kıl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6D68DE-8D00-472A-9316-7806ED5E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5AA7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5AA7FF"/>
                </a:solidFill>
                <a:latin typeface="Avenir Next"/>
                <a:ea typeface="Avenir Next"/>
                <a:cs typeface="Avenir Next"/>
              </a:rPr>
              <a:t>AI fırsatı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5BFAD9-A61F-41C3-AFB3-361CECB9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2925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Kolon önerisi, kalite kontrol özeti ve anomali açıklaması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633C47-A732-4E86-999B-83ABDBC0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Finance Day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A7DD3D-4453-48BA-B754-189DAA75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872892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71E44F-2C13-4FDB-B599-E4D4199E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Rezerv modeli insan kontrolünde ilerler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9A6985-7943-4510-B8B0-EBD4203B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AAB5C7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AAB5C7"/>
                </a:solidFill>
                <a:latin typeface="Avenir Next"/>
                <a:ea typeface="Avenir Next"/>
                <a:cs typeface="Avenir Next"/>
              </a:rPr>
              <a:t>Model adımları görünür kalır. Seçim ve dışlama kararları aktüerin çalışma kaydına dönüşür.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afd4989dc642c7"/>
          <a:srcRect xmlns:a="http://schemas.openxmlformats.org/drawingml/2006/main" l="0" t="10000" r="0" b="10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790700"/>
            <a:ext cx="8572500" cy="428625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7E3B99-3389-4052-8CD7-A2C98897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00250"/>
            <a:ext cx="1981200" cy="371475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121A2E"/>
          </a:solidFill>
          <a:ln xmlns:a="http://schemas.openxmlformats.org/drawingml/2006/main" w="9525">
            <a:solidFill>
              <a:srgbClr val="2A355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7DC344-155F-4DA5-9C30-4BA619A1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336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63D8F3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63D8F3"/>
                </a:solidFill>
                <a:latin typeface="Avenir Next"/>
                <a:ea typeface="Avenir Next"/>
                <a:cs typeface="Avenir Next"/>
              </a:rPr>
              <a:t>AI’nın rolü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B374F0-64F4-4B9F-88D5-0AFD5818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914650"/>
            <a:ext cx="1524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1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Seçilen faktörü açıklamak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Dönemler arası farkı araştırmak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Kontrol soruları önermek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9D6AA8-0948-43D4-B06A-BE33BEDC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1435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D7896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D78962"/>
                </a:solidFill>
                <a:latin typeface="Avenir Next"/>
                <a:ea typeface="Avenir Next"/>
                <a:cs typeface="Avenir Next"/>
              </a:rPr>
              <a:t>Seçim yetkisi aktüerde kalır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FF302C-2101-4C30-A6E6-7E2FB329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AAB5C7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AAB5C7"/>
                </a:solidFill>
                <a:latin typeface="Avenir Next"/>
                <a:ea typeface="Avenir Next"/>
                <a:cs typeface="Avenir Next"/>
              </a:rPr>
              <a:t>Finance Day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23C01E-B67C-4F3D-B409-BE243CD5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AAB5C7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AAB5C7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540604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0A84AF-42DF-4ABC-930A-AFF5EA83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AI kullanım alanları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480d1c7aad4197"/>
          <a:srcRect xmlns:a="http://schemas.openxmlformats.org/drawingml/2006/main" l="36" t="0" r="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428750"/>
            <a:ext cx="5314950" cy="3324225"/>
          </a:xfrm>
          <a:prstGeom xmlns:a="http://schemas.openxmlformats.org/drawingml/2006/main" prst="roundRect">
            <a:avLst>
              <a:gd name="adj" fmla="val 5158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5AA2A2-F26A-47D2-89AC-BE0F2BB9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62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AA7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38114-96EC-4C03-A173-B207C355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430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Doğal dilde analiz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29833-1CAF-4BE1-9102-126DDCCC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2405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Aktüer sorusunu ilgili veri ve modele bağlama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C6B03B-CC8B-45B8-A294-07831475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762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AA7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D2E51A-4A6B-4B4B-B91B-90EFE77A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Kontrol ve karşılaştırma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568DB3-F7D3-4FD1-9629-0593775A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0512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Dönem, branş ve yöntem farklarını inceleme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538DA6-5A47-478C-9AB6-8CE8CA0C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762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896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B835FA-E713-480F-8CE0-8CC051C8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052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Açıklama taslağı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6E2EA4-B46C-42CA-9633-04D61197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862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Sonucun dayanaklarını rapor diline dönüştürme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AE0236-E12B-47C3-96D1-36A3091B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762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896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01FC71-0F08-4C28-8CE5-CD69B808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862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İş akışı desteği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05052D-1221-4C8C-90CA-3D6CAECF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6727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Eksik adımı ve bekleyen kontrolü hatırlatma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0C023E-67A7-45EF-8CA8-549DBB96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95875"/>
            <a:ext cx="531495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E5DFD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42D75D-A2A5-4A91-92D6-F78B3EF8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673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D7896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D78962"/>
                </a:solidFill>
                <a:latin typeface="Avenir Next"/>
                <a:ea typeface="Avenir Next"/>
                <a:cs typeface="Avenir Next"/>
              </a:rPr>
              <a:t>Temel kural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41F61D-8636-40D5-8D58-E1E19CC5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197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5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AI, doğrulanmış fonksiyonları çağırır ve sonucu kaynak bağlamıyla sunar.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C1D0B2-2DA7-47A1-819A-BDE90682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Finance Day 2026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62DDB2-3AD4-4813-955A-D08AD642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563468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B2CC74-8E42-45EC-A6EC-984F956C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Örnek yönetici sorusu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7EB8F5-5AE8-43CB-810F-E42490D7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D78962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D78962"/>
                </a:solidFill>
                <a:latin typeface="Avenir Next"/>
                <a:ea typeface="Avenir Next"/>
                <a:cs typeface="Avenir Next"/>
              </a:rPr>
              <a:t>“2025Q4 Motor IBNR neden değişti?”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B55F6D-944F-4946-8724-B57D17F2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381250" cy="21907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1A2E"/>
          </a:solidFill>
          <a:ln xmlns:a="http://schemas.openxmlformats.org/drawingml/2006/main" w="9525">
            <a:solidFill>
              <a:srgbClr val="2A355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B8FF9E-5851-4E1D-AFBC-0032B030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63D8F3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63D8F3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525637-3A4B-4FAA-8644-7AC7798A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Bağlam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1568D5-91D7-421E-AD01-67D7728C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190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AAB5C7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AAB5C7"/>
                </a:solidFill>
                <a:latin typeface="Avenir Next"/>
                <a:ea typeface="Avenir Next"/>
                <a:cs typeface="Avenir Next"/>
              </a:rPr>
              <a:t>Dönem ve branşı belirler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74E79-D0B8-41FC-9A16-C251CB9A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81250"/>
            <a:ext cx="2381250" cy="21907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1A2E"/>
          </a:solidFill>
          <a:ln xmlns:a="http://schemas.openxmlformats.org/drawingml/2006/main" w="9525">
            <a:solidFill>
              <a:srgbClr val="2A35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537DE8-AB29-42F9-95DF-DDEE3464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717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63D8F3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63D8F3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A0FDFD-2A17-4C16-BBFC-60BCAB75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242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Kontrol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839C51-9CA0-4B18-A42C-A8300173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38550"/>
            <a:ext cx="190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AAB5C7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AAB5C7"/>
                </a:solidFill>
                <a:latin typeface="Avenir Next"/>
                <a:ea typeface="Avenir Next"/>
                <a:cs typeface="Avenir Next"/>
              </a:rPr>
              <a:t>Veri, LDF ve varsayımı karşılaştırır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989238-8F54-439C-9B78-879C8A2D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2381250" cy="21907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1A2E"/>
          </a:solidFill>
          <a:ln xmlns:a="http://schemas.openxmlformats.org/drawingml/2006/main" w="9525">
            <a:solidFill>
              <a:srgbClr val="2A355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2FBB90-E5DD-40DD-B55D-1E1BC4E4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717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63D8F3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63D8F3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45967A-5B39-46D6-B447-61F5C191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242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Hesap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2EB84F-72A2-45BA-904F-1BDE941F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38550"/>
            <a:ext cx="190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AAB5C7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AAB5C7"/>
                </a:solidFill>
                <a:latin typeface="Avenir Next"/>
                <a:ea typeface="Avenir Next"/>
                <a:cs typeface="Avenir Next"/>
              </a:rPr>
              <a:t>Motor doğrulanmış sonuçları döndürür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29A268-F10B-45AD-B282-51FC74AD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81250"/>
            <a:ext cx="2381250" cy="21907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1A2E"/>
          </a:solidFill>
          <a:ln xmlns:a="http://schemas.openxmlformats.org/drawingml/2006/main" w="9525">
            <a:solidFill>
              <a:srgbClr val="2A355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B88896-DB9F-4C04-95D6-266A41B7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717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D78962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D78962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CEE415-798E-47B5-B18E-523A7ADE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242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Açıklama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7CB9C7-B008-4C3A-B1E1-57754866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38550"/>
            <a:ext cx="190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AAB5C7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AAB5C7"/>
                </a:solidFill>
                <a:latin typeface="Avenir Next"/>
                <a:ea typeface="Avenir Next"/>
                <a:cs typeface="Avenir Next"/>
              </a:rPr>
              <a:t>Etki kaynaklarını taslak metne çevirir</a:t>
            </a:r>
          </a:p>
        </p:txBody>
      </p:sp>
      <p:cxnSp>
        <p:nvCxnSpPr>
          <p:cNvPr id="43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67050" y="347662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AB5C7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867400" y="347662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AB5C7"/>
            </a:solidFill>
            <a:prstDash val="soli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667750" y="347662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AB5C7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9690C2-8C07-497A-B5E4-77F4608B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7685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Çıktı: yöneticiye kısa yanıt, aktüere inceleme izi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AA0FCD-91DB-4FDC-90E5-2EECDC64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AAB5C7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AAB5C7"/>
                </a:solidFill>
                <a:latin typeface="Avenir Next"/>
                <a:ea typeface="Avenir Next"/>
                <a:cs typeface="Avenir Next"/>
              </a:rPr>
              <a:t>Finance Day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009581-046B-47D9-9D2E-DD5ADCF8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AAB5C7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AAB5C7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108298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23C755-5D25-4C17-9A02-ACDF41DE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Kurumsal kontrol modeli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45F088-260D-4D4D-9998-060AB7BB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Temel ürün çalışıyor. Yönetim katmanını kontrollü pilot sırasında tamamlamayı planlıyoruz.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3D652D-AF96-457D-8BB4-0F7C659B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5AA7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5AA7FF"/>
                </a:solidFill>
                <a:latin typeface="Avenir Next"/>
                <a:ea typeface="Avenir Next"/>
                <a:cs typeface="Avenir Next"/>
              </a:rPr>
              <a:t>MEVCUT TEMEL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6D1C09-9E46-4589-A946-D0E22C5E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D7896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D78962"/>
                </a:solidFill>
                <a:latin typeface="Avenir Next"/>
                <a:ea typeface="Avenir Next"/>
                <a:cs typeface="Avenir Next"/>
              </a:rPr>
              <a:t>HEDEF KONTROLLER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78F227-D199-401E-9640-BAE74CB4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5AA7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5AA7F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B1D47C-9FA3-4C85-96F9-BA6DA971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479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Yerel masaüstü uygulaması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BB6E7B-6AFA-469C-84AB-341516D2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5AA7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5AA7F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4E20CE-8551-4E1A-9157-CAF544E5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718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Şirket ağı içindeki Oracle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90B628-3DCE-4B75-BC1A-622FC95F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5AA7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5AA7F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635398-B4A8-466D-92BC-C9AA426C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957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Deterministik hesap motoru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7748C6-1C5C-47E6-8ED7-DA284B2C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5AA7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5AA7F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7F0F7E-469C-4F9A-BF2B-C3AC80C3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196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Kullanıcı ve işlem kaydı altyapısı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E561AA-DB4C-4A99-ACD7-CCF90C9B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955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D7896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D78962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474845-75BC-46C8-95F2-7F1A9E1D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4792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Parolalar için kurumsal kasa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989951-E10F-4B2F-8B36-4E6B84AF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D7896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D78962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22B0C5-D9AD-4820-A9AA-FFAE40CB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7182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Modül ve veri bazlı yetki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D9567D-6EC7-4931-ACC4-88570D07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433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D7896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D78962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1E0076-E3F4-4280-9318-B3883A12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9572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Değiştirilemez kapanış kaydı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6111AC-9EB0-4998-8196-F0BB7C8F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67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D7896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D78962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ADE486-EB9F-46E8-ACC8-2A6CF551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1962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Kurum içi ve bulut AI politikası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D10940-B2A0-4F09-9594-9CA68692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71700"/>
            <a:ext cx="95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CC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3941FB-7D81-4434-9EFB-57466497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D7896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D78962"/>
                </a:solidFill>
                <a:latin typeface="Avenir Next"/>
                <a:ea typeface="Avenir Next"/>
                <a:cs typeface="Avenir Next"/>
              </a:rPr>
              <a:t>İlke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2F27AC-EA34-4B75-9FA6-2A73C615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0070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AI erişimi kurum politikası, kayıt ve insan onayı ile sınırlandırılır.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B90EAE-E6F7-4902-ACEB-1AC57F54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Finance Day 2026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71BAF5-33EB-4F79-93AC-DC5EF1E2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963673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FFA1D2-CEA3-4FB6-BF33-E3245E10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Pilot başarısını ölçme biçimi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777317-0F5C-491B-894C-B95129DF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AAB5C7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>
                <a:solidFill>
                  <a:srgbClr val="AAB5C7"/>
                </a:solidFill>
                <a:latin typeface="Avenir Next"/>
                <a:ea typeface="Avenir Next"/>
                <a:cs typeface="Avenir Next"/>
              </a:rPr>
              <a:t>Etki iddiasını kullanım verisiyle doğrulayacağız. Başlangıç değerini pilot öncesinde ölçüp aynı kapanış akışıyla karşılaştıracağız.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4203A3-DDB3-4803-A99D-1ADAB617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63D8F3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63D8F3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3DE97D-001D-4F78-BD4A-878647D1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479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Kapanış süresi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3B4CA3-1A2E-4E39-BF47-1C10D59B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AAB5C7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AB5C7"/>
                </a:solidFill>
                <a:latin typeface="Avenir Next"/>
                <a:ea typeface="Avenir Next"/>
                <a:cs typeface="Avenir Next"/>
              </a:rPr>
              <a:t>Veri alımından onaylı sonuca kadar geçen süre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8AC145-0425-4CB5-B828-F96F495F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90825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55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E8979B-2EDC-4356-85C2-32C579D3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63D8F3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63D8F3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D77B04-AE6E-4191-B2C0-88F1DAB2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289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Analiz süresi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88E77E-305E-4A7F-814A-8DD01A50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480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AAB5C7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AB5C7"/>
                </a:solidFill>
                <a:latin typeface="Avenir Next"/>
                <a:ea typeface="Avenir Next"/>
                <a:cs typeface="Avenir Next"/>
              </a:rPr>
              <a:t>Fark ve anomali araştırmasına ayrılan uzman zamanı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02D2A9-71D4-4F72-AACA-CCB11934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71875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55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8D4826-4EFC-4467-9AEB-1B5C4905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63D8F3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63D8F3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856870-1DC3-4A45-A668-5F3CF036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100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Yeniden çalışma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CF9258-F08D-43CA-B6F4-383736D4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290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AAB5C7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AB5C7"/>
                </a:solidFill>
                <a:latin typeface="Avenir Next"/>
                <a:ea typeface="Avenir Next"/>
                <a:cs typeface="Avenir Next"/>
              </a:rPr>
              <a:t>Hata veya eksik bağlam nedeniyle tekrarlanan adımlar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C052EC-5E31-49BA-BDA9-E7F7E88C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52925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55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67C50A-A0CF-4086-8125-27DE57B1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D78962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D78962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7BC36C-751E-4E66-B7F2-206C3C85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910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Denetim kapsamı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E81350-5F61-493F-9A8C-BA173DA1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101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AAB5C7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AB5C7"/>
                </a:solidFill>
                <a:latin typeface="Avenir Next"/>
                <a:ea typeface="Avenir Next"/>
                <a:cs typeface="Avenir Next"/>
              </a:rPr>
              <a:t>Kaynağı ve onayı kayıtlı kritik işlemlerin oranı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FFD8CD-EE58-4FC5-9871-82109C8D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D7896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D78962"/>
                </a:solidFill>
                <a:latin typeface="Avenir Next"/>
                <a:ea typeface="Avenir Next"/>
                <a:cs typeface="Avenir Next"/>
              </a:rPr>
              <a:t>Hedef yüzdeler pilot başlangıcında gerçek baz değerlerle belirlenecek.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F9F7C9-CC10-4459-B324-F83A70B8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AAB5C7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AAB5C7"/>
                </a:solidFill>
                <a:latin typeface="Avenir Next"/>
                <a:ea typeface="Avenir Next"/>
                <a:cs typeface="Avenir Next"/>
              </a:rPr>
              <a:t>Finance Day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45D5F3-F144-42D7-953F-C61487D0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AAB5C7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AAB5C7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395593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233E06-92D3-4E49-BCB5-FC1EAE87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90 günlük kontrollü 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7A0907-4EF6-444D-B8BE-73D2A658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Tek branş ve tek kapanış dönemi ile başlayıp kontrol kapsamını aşamalı genişletme önerisi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324A9C-E13E-4C28-8932-613A485A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933700" cy="29527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E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01939D-7DFD-43DB-B971-CC20CED9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9337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AA7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EC0FDE-B140-4E04-A85A-F8F1D4AC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955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5AA7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5AA7FF"/>
                </a:solidFill>
                <a:latin typeface="Avenir Next"/>
                <a:ea typeface="Avenir Next"/>
                <a:cs typeface="Avenir Next"/>
              </a:rPr>
              <a:t>GÜN 0–30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AAE0EB-ED0F-41D8-85FB-76348E76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241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Hazırlık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A32F1E-94D5-4F84-9756-F9B81ACD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238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425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Baz metrikler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1425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Veri kapsamı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1425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Kullanıcı ve yetki matrisi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1425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AI kullanım politikası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350D41-563E-49B6-B523-D11D56E5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33600"/>
            <a:ext cx="2933700" cy="29527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E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3B9E9C-8AFD-4677-BD42-A6BB9FA1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33600"/>
            <a:ext cx="29337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3D8F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1E1E3F-D6FB-416D-9ACC-C67CE7FC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955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3D8F3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63D8F3"/>
                </a:solidFill>
                <a:latin typeface="Avenir Next"/>
                <a:ea typeface="Avenir Next"/>
                <a:cs typeface="Avenir Next"/>
              </a:rPr>
              <a:t>GÜN 31–60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72F067-AAAF-4B90-938F-2C475FF9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41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Paralel çalışma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37561E-FDAC-4C88-A460-2855D9DE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24250"/>
            <a:ext cx="238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3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425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Mevcut süreçle yan yana çalışma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1425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Sonuç mutabakatı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1425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Kullanıcı geri bildirimi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1425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Kontrol kayıtları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760E93-16A0-4ACF-BEFF-84F1C947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33600"/>
            <a:ext cx="2933700" cy="29527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E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88B0EC-FA33-4E4C-95CD-E79C7114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33600"/>
            <a:ext cx="29337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896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B95F0E-C5D1-4C44-B829-F659E787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955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D7896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D78962"/>
                </a:solidFill>
                <a:latin typeface="Avenir Next"/>
                <a:ea typeface="Avenir Next"/>
                <a:cs typeface="Avenir Next"/>
              </a:rPr>
              <a:t>GÜN 61–90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78C909-2849-414E-8B2D-262048B6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241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Değerlendirme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A1C4CE-D83C-4352-9DC7-53BF1E25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24250"/>
            <a:ext cx="238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425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Başarı metrikleri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1425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Risk ve kontrol bulguları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1425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Ölçekleme kararı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1425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Sonraki branş planı</a:t>
            </a:r>
          </a:p>
        </p:txBody>
      </p:sp>
      <p:cxnSp>
        <p:nvCxnSpPr>
          <p:cNvPr id="40" name=""/>
          <p:cNvCxnSpPr>
            <a:stCxn xmlns:a="http://schemas.openxmlformats.org/drawingml/2006/main" id="3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619500" y="3609975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A6578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8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258050" y="3609975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A6578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4C6D14-FA05-481B-B760-B3285A9D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581650"/>
            <a:ext cx="899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Pilot sonunda ölçekleme kararı ölçülen fayda ve kontrol sonuçlarına dayanır.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9AEB62-E43B-49DD-95B1-4DCA8A38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Finance Day 2026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50D53-A8AF-4D4D-8307-8D348F46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643207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6193F8-5CAC-437B-9D9F-718CAFAC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3D8F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63D8F3"/>
                </a:solidFill>
                <a:latin typeface="Avenir Next"/>
                <a:ea typeface="Avenir Next"/>
                <a:cs typeface="Avenir Next"/>
              </a:rPr>
              <a:t>ÖNERİ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9F7073-BD34-4CF4-8586-6C645087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57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750" b="1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3750" b="1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Bir branşta 90 günlük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750" b="1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3750" b="1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kontrollü 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02F4FF-BF6D-4071-A15A-6BE4091D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32004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21A2E"/>
          </a:solidFill>
          <a:ln xmlns:a="http://schemas.openxmlformats.org/drawingml/2006/main" w="9525">
            <a:solidFill>
              <a:srgbClr val="2A355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0E06A-6A1F-42F9-BECE-18F74D5A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3D8F3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63D8F3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A50D0E-063A-4353-8632-5A753EFA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Yönetici sponsoru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B8EEB-BC26-4795-A185-501CFE8F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AAB5C7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AAB5C7"/>
                </a:solidFill>
                <a:latin typeface="Avenir Next"/>
                <a:ea typeface="Avenir Next"/>
                <a:cs typeface="Avenir Next"/>
              </a:rPr>
              <a:t>Kapsam ve karar noktalarının sahipliği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E1D16B-31A1-49EB-A9E8-119360D7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90900"/>
            <a:ext cx="32004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21A2E"/>
          </a:solidFill>
          <a:ln xmlns:a="http://schemas.openxmlformats.org/drawingml/2006/main" w="9525">
            <a:solidFill>
              <a:srgbClr val="2A35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C7ADC8-AC5E-41F0-A423-C949C894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195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3D8F3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63D8F3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C6601E-F222-4F9E-91F3-985A3D04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195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Aktüerya ile IT temsilcisi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1FAAC8-FAF9-4C77-9D27-2012573F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38650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AAB5C7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AAB5C7"/>
                </a:solidFill>
                <a:latin typeface="Avenir Next"/>
                <a:ea typeface="Avenir Next"/>
                <a:cs typeface="Avenir Next"/>
              </a:rPr>
              <a:t>Veri, güvenlik ve çalışma düzeninin kurulması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CC307B-F443-4FCC-BCDF-6BD8C716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90900"/>
            <a:ext cx="32004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21A2E"/>
          </a:solidFill>
          <a:ln xmlns:a="http://schemas.openxmlformats.org/drawingml/2006/main" w="9525">
            <a:solidFill>
              <a:srgbClr val="2A355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D9B4B9-B865-4717-82DE-32F6613C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D7896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D78962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A8770A-4103-4A2A-8284-1D4F3B70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195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Ortak başarı ölçütleri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B28E10-E595-4FA0-A7E8-AAC9CDE7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38650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AAB5C7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AAB5C7"/>
                </a:solidFill>
                <a:latin typeface="Avenir Next"/>
                <a:ea typeface="Avenir Next"/>
                <a:cs typeface="Avenir Next"/>
              </a:rPr>
              <a:t>Pilot öncesi baz değer ve kapanış sonrası karşılaştırma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F7AF3D-4F32-4644-9FC1-71E9D466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D78962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D78962"/>
                </a:solidFill>
                <a:latin typeface="Avenir Next"/>
                <a:ea typeface="Avenir Next"/>
                <a:cs typeface="Avenir Next"/>
              </a:rPr>
              <a:t>Actuarius Enterprise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9AF5C8-115A-440B-99A6-F41CE2BF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867400"/>
            <a:ext cx="3886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0">
                <a:solidFill>
                  <a:srgbClr val="AAB5C7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AB5C7"/>
                </a:solidFill>
                <a:latin typeface="Avenir Next"/>
                <a:ea typeface="Avenir Next"/>
                <a:cs typeface="Avenir Next"/>
              </a:rPr>
              <a:t>Sorular ve değerlendirmeler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28F93B-EFD1-483F-80BE-78E71872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AAB5C7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AAB5C7"/>
                </a:solidFill>
                <a:latin typeface="Avenir Next"/>
                <a:ea typeface="Avenir Next"/>
                <a:cs typeface="Avenir Next"/>
              </a:rPr>
              <a:t>Finance Day 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367A45-FF63-424C-A918-EF15BBA1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AAB5C7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AAB5C7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516601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2026-09-08T16:03:34.2340000Z</dcterms:created>
  <dcterms:modified xsi:type="dcterms:W3CDTF">2026-09-08T16:03:34.2340000Z</dcterms:modified>
</coreProperties>
</file>