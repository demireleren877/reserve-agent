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942b9d87cb41bc" /><Relationship Type="http://schemas.openxmlformats.org/officeDocument/2006/relationships/extended-properties" Target="/docProps/app.xml" Id="R456df939faae42ac" /><Relationship Type="http://schemas.openxmlformats.org/officeDocument/2006/relationships/officeDocument" Target="/ppt/presentation.xml" Id="Rfdf648ab4c5e4a0c" /></Relationships>
</file>

<file path=ppt/presentation.xml><?xml version="1.0" encoding="utf-8"?>
<p:presentation xmlns:p="http://schemas.openxmlformats.org/presentationml/2006/main">
  <p:sldMasterIdLst>
    <p:sldMasterId xmlns:r="http://schemas.openxmlformats.org/officeDocument/2006/relationships" id="2147483648" r:id="R291946fa06b549de"/>
  </p:sldMasterIdLst>
  <p:notesMasterIdLst>
    <p:notesMasterId xmlns:r="http://schemas.openxmlformats.org/officeDocument/2006/relationships" r:id="Ra2c5c441e5a44917"/>
  </p:notesMasterIdLst>
  <p:sldIdLst>
    <p:sldId xmlns:r="http://schemas.openxmlformats.org/officeDocument/2006/relationships" id="256" r:id="R0a57e46c0ce6443c"/>
    <p:sldId xmlns:r="http://schemas.openxmlformats.org/officeDocument/2006/relationships" id="257" r:id="Re6dce6db0f134222"/>
    <p:sldId xmlns:r="http://schemas.openxmlformats.org/officeDocument/2006/relationships" id="258" r:id="R96db8c1466fd4dc1"/>
    <p:sldId xmlns:r="http://schemas.openxmlformats.org/officeDocument/2006/relationships" id="259" r:id="R771f88577a774241"/>
    <p:sldId xmlns:r="http://schemas.openxmlformats.org/officeDocument/2006/relationships" id="260" r:id="R3eef8e8509e445ca"/>
    <p:sldId xmlns:r="http://schemas.openxmlformats.org/officeDocument/2006/relationships" id="261" r:id="R4f92d1bae81e4fda"/>
    <p:sldId xmlns:r="http://schemas.openxmlformats.org/officeDocument/2006/relationships" id="262" r:id="Reed7b25ced994b32"/>
    <p:sldId xmlns:r="http://schemas.openxmlformats.org/officeDocument/2006/relationships" id="263" r:id="R971942d4fdbe417b"/>
    <p:sldId xmlns:r="http://schemas.openxmlformats.org/officeDocument/2006/relationships" id="264" r:id="R930e38a03b80426f"/>
    <p:sldId xmlns:r="http://schemas.openxmlformats.org/officeDocument/2006/relationships" id="265" r:id="R2bf6a633487641f7"/>
    <p:sldId xmlns:r="http://schemas.openxmlformats.org/officeDocument/2006/relationships" id="266" r:id="R7257fbb606fd4733"/>
    <p:sldId xmlns:r="http://schemas.openxmlformats.org/officeDocument/2006/relationships" id="267" r:id="R47f25655fd184ef9"/>
    <p:sldId xmlns:r="http://schemas.openxmlformats.org/officeDocument/2006/relationships" id="268" r:id="Ra3f8077af61f4be2"/>
    <p:sldId xmlns:r="http://schemas.openxmlformats.org/officeDocument/2006/relationships" id="269" r:id="Rad00b272ec474816"/>
    <p:sldId xmlns:r="http://schemas.openxmlformats.org/officeDocument/2006/relationships" id="270" r:id="R7a3b91f818394912"/>
    <p:sldId xmlns:r="http://schemas.openxmlformats.org/officeDocument/2006/relationships" id="271" r:id="R3e6d3d1add934ba2"/>
    <p:sldId xmlns:r="http://schemas.openxmlformats.org/officeDocument/2006/relationships" id="272" r:id="Rae094eb6eece43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1abf20ebd14b74" /><Relationship Type="http://schemas.openxmlformats.org/officeDocument/2006/relationships/slideMaster" Target="/ppt/slideMasters/slideMaster1.xml" Id="R291946fa06b549de" /><Relationship Type="http://schemas.openxmlformats.org/officeDocument/2006/relationships/notesMaster" Target="/ppt/notesMasters/notesMaster1.xml" Id="Ra2c5c441e5a44917" /><Relationship Type="http://schemas.openxmlformats.org/officeDocument/2006/relationships/presProps" Target="/ppt/presProps.xml" Id="R3212b867ea39476a" /><Relationship Type="http://schemas.openxmlformats.org/officeDocument/2006/relationships/tableStyles" Target="/ppt/tableStyles.xml" Id="R29596cbed7b84e71" /><Relationship Type="http://schemas.openxmlformats.org/officeDocument/2006/relationships/slide" Target="/ppt/slides/slide1.xml" Id="R0a57e46c0ce6443c" /><Relationship Type="http://schemas.openxmlformats.org/officeDocument/2006/relationships/slide" Target="/ppt/slides/slide2.xml" Id="Re6dce6db0f134222" /><Relationship Type="http://schemas.openxmlformats.org/officeDocument/2006/relationships/slide" Target="/ppt/slides/slide3.xml" Id="R96db8c1466fd4dc1" /><Relationship Type="http://schemas.openxmlformats.org/officeDocument/2006/relationships/slide" Target="/ppt/slides/slide4.xml" Id="R771f88577a774241" /><Relationship Type="http://schemas.openxmlformats.org/officeDocument/2006/relationships/slide" Target="/ppt/slides/slide5.xml" Id="R3eef8e8509e445ca" /><Relationship Type="http://schemas.openxmlformats.org/officeDocument/2006/relationships/slide" Target="/ppt/slides/slide6.xml" Id="R4f92d1bae81e4fda" /><Relationship Type="http://schemas.openxmlformats.org/officeDocument/2006/relationships/slide" Target="/ppt/slides/slide7.xml" Id="Reed7b25ced994b32" /><Relationship Type="http://schemas.openxmlformats.org/officeDocument/2006/relationships/slide" Target="/ppt/slides/slide8.xml" Id="R971942d4fdbe417b" /><Relationship Type="http://schemas.openxmlformats.org/officeDocument/2006/relationships/slide" Target="/ppt/slides/slide9.xml" Id="R930e38a03b80426f" /><Relationship Type="http://schemas.openxmlformats.org/officeDocument/2006/relationships/slide" Target="/ppt/slides/slide10.xml" Id="R2bf6a633487641f7" /><Relationship Type="http://schemas.openxmlformats.org/officeDocument/2006/relationships/slide" Target="/ppt/slides/slide11.xml" Id="R7257fbb606fd4733" /><Relationship Type="http://schemas.openxmlformats.org/officeDocument/2006/relationships/slide" Target="/ppt/slides/slide12.xml" Id="R47f25655fd184ef9" /><Relationship Type="http://schemas.openxmlformats.org/officeDocument/2006/relationships/slide" Target="/ppt/slides/slide13.xml" Id="Ra3f8077af61f4be2" /><Relationship Type="http://schemas.openxmlformats.org/officeDocument/2006/relationships/slide" Target="/ppt/slides/slide14.xml" Id="Rad00b272ec474816" /><Relationship Type="http://schemas.openxmlformats.org/officeDocument/2006/relationships/slide" Target="/ppt/slides/slide15.xml" Id="R7a3b91f818394912" /><Relationship Type="http://schemas.openxmlformats.org/officeDocument/2006/relationships/slide" Target="/ppt/slides/slide16.xml" Id="R3e6d3d1add934ba2" /><Relationship Type="http://schemas.openxmlformats.org/officeDocument/2006/relationships/slide" Target="/ppt/slides/slide17.xml" Id="Rae094eb6eece43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04018e9e8945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86cb3fa41e491f" /><Relationship Type="http://schemas.openxmlformats.org/officeDocument/2006/relationships/notesMaster" Target="/ppt/notesMasters/notesMaster1.xml" Id="R2b03ab8b4cf74e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25d32ee22c4c71" /><Relationship Type="http://schemas.openxmlformats.org/officeDocument/2006/relationships/notesMaster" Target="/ppt/notesMasters/notesMaster1.xml" Id="R3f715979951641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3cd208fef04084" /><Relationship Type="http://schemas.openxmlformats.org/officeDocument/2006/relationships/notesMaster" Target="/ppt/notesMasters/notesMaster1.xml" Id="Rd5bf97caa5bf4a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4085bc342d4838" /><Relationship Type="http://schemas.openxmlformats.org/officeDocument/2006/relationships/notesMaster" Target="/ppt/notesMasters/notesMaster1.xml" Id="R1d15057f06dd46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4db6a6c2164b80" /><Relationship Type="http://schemas.openxmlformats.org/officeDocument/2006/relationships/notesMaster" Target="/ppt/notesMasters/notesMaster1.xml" Id="Rdfc0cc4dc1344a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3253355fbd4e86" /><Relationship Type="http://schemas.openxmlformats.org/officeDocument/2006/relationships/notesMaster" Target="/ppt/notesMasters/notesMaster1.xml" Id="R76e4b125ee324f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127cc24f254334" /><Relationship Type="http://schemas.openxmlformats.org/officeDocument/2006/relationships/notesMaster" Target="/ppt/notesMasters/notesMaster1.xml" Id="R03dbea3784bf43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4d037c01084525" /><Relationship Type="http://schemas.openxmlformats.org/officeDocument/2006/relationships/notesMaster" Target="/ppt/notesMasters/notesMaster1.xml" Id="Rd8ed5150e8bc4a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c29e25dc8f4b13" /><Relationship Type="http://schemas.openxmlformats.org/officeDocument/2006/relationships/notesMaster" Target="/ppt/notesMasters/notesMaster1.xml" Id="R0bc0e2039ebb4d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2596d68f5144aa" /><Relationship Type="http://schemas.openxmlformats.org/officeDocument/2006/relationships/notesMaster" Target="/ppt/notesMasters/notesMaster1.xml" Id="Rabd30fcd091447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e21de68f0741bf" /><Relationship Type="http://schemas.openxmlformats.org/officeDocument/2006/relationships/notesMaster" Target="/ppt/notesMasters/notesMaster1.xml" Id="R3e8127e6e73a49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356670513ca447a" /><Relationship Type="http://schemas.openxmlformats.org/officeDocument/2006/relationships/notesMaster" Target="/ppt/notesMasters/notesMaster1.xml" Id="R30e1b23b83fb49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9b36bc7885a48e5" /><Relationship Type="http://schemas.openxmlformats.org/officeDocument/2006/relationships/notesMaster" Target="/ppt/notesMasters/notesMaster1.xml" Id="R711a5c9cfa834c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44f32aeb194295" /><Relationship Type="http://schemas.openxmlformats.org/officeDocument/2006/relationships/notesMaster" Target="/ppt/notesMasters/notesMaster1.xml" Id="R30d20a8c046a49a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61925c485604316" /><Relationship Type="http://schemas.openxmlformats.org/officeDocument/2006/relationships/notesMaster" Target="/ppt/notesMasters/notesMaster1.xml" Id="Rc4f93e3014b541e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979bdbb947c4d06" /><Relationship Type="http://schemas.openxmlformats.org/officeDocument/2006/relationships/notesMaster" Target="/ppt/notesMasters/notesMaster1.xml" Id="R71fe05584f5543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db79f663ff14c3b" /><Relationship Type="http://schemas.openxmlformats.org/officeDocument/2006/relationships/notesMaster" Target="/ppt/notesMasters/notesMaster1.xml" Id="Re6bad8a2b3364f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45 saniye.</a:t>
            </a:r>
          </a:p>
          <a:p xmlns:a="http://schemas.openxmlformats.org/drawingml/2006/main">
            <a:r>
              <a:t>Bir dönem kapanışını düşünelim. Önce veriyi topluyoruz, ardından kontrolleri çalıştırıyor, mizanla mutabakat kuruyor, analizleri hazırlıyor ve modellere geçiyoruz. Her adım değerli, ancak adımlar arasındaki aktarım da ciddi dikkat istiyor. Actuarius fikri bu akışı tek bir çalışma ortamında birleştirme ihtiyacından doğuyor. Bugün çalışan temeli ve agent ile yönetilebilir uçtan uca süreç vizyonumuzu paylaşacağım.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65 saniye.</a:t>
            </a:r>
          </a:p>
          <a:p xmlns:a="http://schemas.openxmlformats.org/drawingml/2006/main">
            <a:r>
              <a:t>Projenin çıkış noktası tek bir hesaplama ihtiyacı değildi. Analize geçmeden önce veriyi hazırlama, kontrol sonuçlarını toplama ve doğru sürümü bulma ihtiyacı vardı. Bu işleri farklı yerlerde yürüttüğümüzde aradaki bağı ekip hafızası koruyor. Hedefimiz bu bağı sistemin koruması. Buradaki mevcut süreç çizimi operasyonel bir hipotezdir, ölçülmüş bir şirket zaman etüdü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60 saniye.</a:t>
            </a:r>
          </a:p>
          <a:p xmlns:a="http://schemas.openxmlformats.org/drawingml/2006/main">
            <a:r>
              <a:t>Bu maliyeti yalnızca dakika olarak düşünmemeliyiz. Aynı kontrolün yeniden yapılması, farklı analizlerde farklı filtre kullanılması ve bir model sonucunun kaynağını tekrar araştırmak zorunda kalmak da maliyet. Zaman, tutarlılık ve erişim birbirine bağlı. Tek ortam yaklaşımı bu üç ihtiyacı aynı süreç üzerinde karşılamayı hedefliyor.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80 saniye.</a:t>
            </a:r>
          </a:p>
          <a:p xmlns:a="http://schemas.openxmlformats.org/drawingml/2006/main">
            <a:r>
              <a:t>Önerdiğimiz kapsam verinin alınmasıyla başlıyor. Veri kalitesi kontrolleri, mizan mutabakatı ve gerekli analiz raporları modelleme öncesindeki adımları oluşturuyor. Modelleme ve sonuç açıklaması aynı dönem bağlamında devam ediyor. Agent bu sürecin erişim ve yönlendirme katmanı. Bu çizim hedef kapsamdır. Mevcut üründe veri, modelleme, nakit akışı ve iskonto temeli var. Otomatik mizan mutabakatı ve bütün adımları yöneten orkestrasyon geliştirme kapsamıdır.</a:t>
            </a:r>
          </a:p>
          <a:p xmlns:a="http://schemas.openxmlformats.org/drawingml/2006/main">
            <a:r>
              <a:t>Kaynak: enterprise-v2/README.md, enterprise-v2/KULLANIM_KILAVUZU.md, enterprise-v2/backend/app/agent/tools.py.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75 saniye.</a:t>
            </a:r>
          </a:p>
          <a:p xmlns:a="http://schemas.openxmlformats.org/drawingml/2006/main">
            <a:r>
              <a:t>Bir modeli yalnızca sonucuyla saklamak yeterli değil. Hangi veri sürümünü kullandı, hangi kontrollerden geçti, hangi varsayım setiyle üretildi ve hangi rapora girdi? Hedefimiz bu bağı modelden kaynağa kadar korumak. Böylece bir veri düzeltmesinin etkilediği analiz ve modelleri de görebiliriz. Tam veri soy ağacı hedef tasarımdır. Mevcut dönem ve proje yapısı bunun başlangıç noktasıdır.</a:t>
            </a:r>
          </a:p>
          <a:p xmlns:a="http://schemas.openxmlformats.org/drawingml/2006/main">
            <a:r>
              <a:t>Kaynak: enterprise-v2/frontend/src/lib/project-store.tsx.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65 saniye.</a:t>
            </a:r>
          </a:p>
          <a:p xmlns:a="http://schemas.openxmlformats.org/drawingml/2006/main">
            <a:r>
              <a:t>Eksik tarih, mükerrer kayıt, beklenmeyen tutar veya dönem uyumsuzluğu modelin içinde keşfedilmemeli. Hedef süreçte kuralları veri girişinde çalıştırıyoruz. Kurallar ölçülebilir ve tekrar üretilebilir olmalı. Agent kontrol sonucunu özetleyebilir ve uzmanı sorunlu kayıtlara yönlendirebilir. Kritik hatada akışı durdurma ve istisna sahibine yönlendirme hedef kontrol davranışlarıdır.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70 saniye.</a:t>
            </a:r>
          </a:p>
          <a:p xmlns:a="http://schemas.openxmlformats.org/drawingml/2006/main">
            <a:r>
              <a:t>Mizan kontrolünü ayrı bir dosyada yapılan son kontrol olarak bırakmak istemiyoruz. Aktüeryal veri toplamlarını ilgili muhasebe hesaplarıyla aynı dönem, para birimi ve kapsamda karşılaştırmayı planlıyoruz. Hesap eşlemesi ve toleranslar finans ile birlikte tanımlanmalı. Fark olduğunda agent farkı gizlemez, ilgili kalemleri inceleme listesine taşır. Mutabakat sağlanmadan veya yetkili istisna onayı olmadan sonraki aşamaya geçilmemesi hedeflenir. Bu modül mevcut üründe tamamlanmış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65 saniye.</a:t>
            </a:r>
          </a:p>
          <a:p xmlns:a="http://schemas.openxmlformats.org/drawingml/2006/main">
            <a:r>
              <a:t>Gerekli raporları her seferinde yeniden tarif etmek yerine dönem ve branşa bağlı analiz setleri tanımlamayı öneriyoruz. Hasar gelişimi, büyük hasar incelemesi, dönemsel değişim ve gerçekleşen–beklenen karşılaştırmaları model seçimlerine bağlanır. Bu yaklaşım varsayımların dayanağını görünür kılar. Mevcut ürün bu analizlerin bir kısmını içeriyor. Otomatik sıralama, bağımlılık yönetimi ve kontrol kapıları geliştirme kapsamıdır.</a:t>
            </a:r>
          </a:p>
          <a:p xmlns:a="http://schemas.openxmlformats.org/drawingml/2006/main">
            <a:r>
              <a:t>Kaynak: enterprise-v2/KULLANIM_KILAVUZU.md ve enterprise-v2/frontend/src/app/reserve/page.tsx.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70 saniye.</a:t>
            </a:r>
          </a:p>
          <a:p xmlns:a="http://schemas.openxmlformats.org/drawingml/2006/main">
            <a:r>
              <a:t>Agent ile kurulacak ilişkiyi bir komut örneğiyle anlatalım. Kullanıcı dönem ve branşı söyleyip bir çalışma başlatmak istiyor. Agent kapsamı netleştirir, gerekli fonksiyonları çağırır ve kontrol sonuçlarını sunar. Kullanıcı her alt ekranı tek tek aramak yerine aynı çalışma bağlamında ilerler. Buradaki cümle hedef etkileşim örneğidir, bugün bu uçtan uca komutun eksiksiz çalıştığı iddiası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90 saniye.</a:t>
            </a:r>
          </a:p>
          <a:p xmlns:a="http://schemas.openxmlformats.org/drawingml/2006/main">
            <a:r>
              <a:t>Şimdi komutun arkasında nasıl bir süreç görmek istediğimizi anlatalım. İlk olarak agent veri alımını başlatır ve kalite sonuçlarını toplar. İkinci aşamada mizan farkı bulduğunu varsayalım. Akış durur ve aktüer ile finans sorumlusuna inceleme sunar. Düzeltme ya da yetkili istisna onayından sonra raporlar çalışır ve model taslağı hazırlanır. Son adımda aktüer varsayımı ve sonucu değerlendirir. Buradaki gösterim canlı demo değildir, önerilen süreç senaryosudur.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60 saniye.</a:t>
            </a:r>
          </a:p>
          <a:p xmlns:a="http://schemas.openxmlformats.org/drawingml/2006/main">
            <a:r>
              <a:t>Agent’ın ikinci değeri süreci başlatmanın ötesinde modele erişim. Yönetici ya da aktüer belirli bir soruyu sorduğunda dönem, branş, model ve veri bağlamını birlikte kullanmasını istiyoruz. Veri–model ilişkisi güçlü olduğunda açıklama da güçlenir. AI açıklaması kaynak sonuçlarla kontrol edilmeli, belirsizlik varsa açıkça belirtilmeli.</a:t>
            </a:r>
          </a:p>
          <a:p xmlns:a="http://schemas.openxmlformats.org/drawingml/2006/main">
            <a:r>
              <a:t>Kaynak: enterprise-v2/backend/app/agent/tools.py.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65 saniye.</a:t>
            </a:r>
          </a:p>
          <a:p xmlns:a="http://schemas.openxmlformats.org/drawingml/2006/main">
            <a:r>
              <a:t>İlk kazanım tekrarlı işlerin azalması. İkinci kazanım aynı veri ve kontrol tanımlarının kullanılmasıyla daha tutarlı analiz. Üçüncü kazanım model sonucuna erişimin ve araştırmanın kolaylaşması. Bunları gerçekleşmiş sonuçlar olarak sunmuyoruz. Pilotla ölçeceğimiz fayda hipotezleri olarak tanımlıyoruz. Aktüerin zamanı arttığında daha fazla senaryoya, varsayım incelemesine ve karar desteğine ayrılabilir.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60 saniye.</a:t>
            </a:r>
          </a:p>
          <a:p xmlns:a="http://schemas.openxmlformats.org/drawingml/2006/main">
            <a:r>
              <a:t>Zaman kazanımı iddiasını aynı kapsamda karşılaştırmalıyız. Bir kapanışta veri hazırlığından değerlendirmeye kadar geçen süreyi ve uzman dokunuşunu ölçebiliriz. Yeniden çalışma sayısı tutarlılık için, kaynak ve kontrol bağlantısı tamamlanmış modellerin oranı izlenebilirlik için yardımcı göstergelerdir. Henüz başlangıç verisi olmadığı için yüzde kazanç vermiyoruz. Hedefleri baz ölçümden sonra belirleyebiliriz.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65 saniye.</a:t>
            </a:r>
          </a:p>
          <a:p xmlns:a="http://schemas.openxmlformats.org/drawingml/2006/main">
            <a:r>
              <a:t>Uçtan uca otomasyon kurarken karar yetkisini açık tutuyoruz. Kontrol kuralları ve hesap fonksiyonları tekrar üretilebilir olmalı. Agent bu fonksiyonları çağırır, çıktıları birleştirir ve istisnaları sunar. Aktüer varsayım ve nihai değerlendirmeden sorumlu kalır. Kurum içi veya dışı AI kullanımı veri politikası ve yetki kapsamıyla belirlenir. Bu slayt hedef işletim modelidir. Tam yetki matrisi, değiştirilemez kayıt ve kurumsal secret yönetimi uygulama öncesi tamamlanacak kontrol ihtiyaçlarıdır.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80 saniye.</a:t>
            </a:r>
          </a:p>
          <a:p xmlns:a="http://schemas.openxmlformats.org/drawingml/2006/main">
            <a:r>
              <a:t>Bugün elimizde veri yönetimi, rezerv modelleri, nakit akışı ve iskonto modülleri ile agent araç entegrasyonu içeren çalışan bir ürün temeli var. Şirket içinde tarif ettiğimiz uçtan uca sürece ulaşmak için standart veri kalite paketleri, mizan mutabakatı, rapor bağımlılıkları ve süreç orkestrasyonunu eklemeyi öneriyoruz. Kurumsal kontrol katmanı da bu kapsamla birlikte tamamlanmalı. Mevcut özelliği ve hedefi ayırmak, çalışmanın güvenilirliğini artırır.</a:t>
            </a:r>
          </a:p>
          <a:p xmlns:a="http://schemas.openxmlformats.org/drawingml/2006/main">
            <a:r>
              <a:t>Kaynaklar: enterprise-v2/README.md, enterprise-v2/KULLANIM_KILAVUZU.md, enterprise-v2/backend/app/agent/tools.py. İnceleme tarihi: 8 Eylül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60 saniye.</a:t>
            </a:r>
          </a:p>
          <a:p xmlns:a="http://schemas.openxmlformats.org/drawingml/2006/main">
            <a:r>
              <a:t>Aktüeryada bu yaklaşımı geliştirmek, finansın diğer alanları için de aktarılabilir bir çalışma biçimi oluşturabilir. Ortak yapı veri, kontrol, analiz ve karar. İleride mutabakat, yönetim raporlaması veya bütçe senaryolarında benzer prensipler değerlendirilebilir. Bunları mevcut ürün kapsamı veya onaylanmış yol haritası olarak değil, aktüerya çalışmasından öğrenme fırsatları olarak düşünmeliyiz.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45 saniye.</a:t>
            </a:r>
          </a:p>
          <a:p xmlns:a="http://schemas.openxmlformats.org/drawingml/2006/main">
            <a:r>
              <a:t>Başlangıç sorumuza dönelim. Aktüerin zamanını veri ve dosyalar arasındaki bağı korumaya mı, sonuçları değerlendirmeye mi ayırmasını istiyoruz? Actuarius ile veri, kontrol ve modelleri tek çalışma ortamında bağlamayı hedefliyoruz. Agent bu akışa erişimi kolaylaştırıyor. Önümüzdeki adım, şirket sürecini tek branş üzerinde birlikte tanımlamak ve faydayı gerçek kapanış verisiyle ölçmek. Sorularınızı ve hangi akışta başlamamız gerektiğine dair görüşlerinizi almak isterim.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2943f8c1d247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e18d763c76410c" /><Relationship Type="http://schemas.openxmlformats.org/officeDocument/2006/relationships/slideLayout" Target="/ppt/slideLayouts/slideLayout1.xml" Id="Rcb8c520f2fa948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8c520f2fa948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0b2fc8386b4e9a" /><Relationship Type="http://schemas.openxmlformats.org/officeDocument/2006/relationships/notesSlide" Target="/ppt/notesSlides/notesSlide1.xml" Id="R213fe8b86f8a4e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22f9dda06647f1" /><Relationship Type="http://schemas.openxmlformats.org/officeDocument/2006/relationships/notesSlide" Target="/ppt/notesSlides/notesSlide2.xml" Id="R1bf1c848c6c642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1e22971a2746aa" /><Relationship Type="http://schemas.openxmlformats.org/officeDocument/2006/relationships/notesSlide" Target="/ppt/notesSlides/notesSlide3.xml" Id="R187b387da74a4e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66be58f93f4aae" /><Relationship Type="http://schemas.openxmlformats.org/officeDocument/2006/relationships/notesSlide" Target="/ppt/notesSlides/notesSlide4.xml" Id="R78753e62d5ae4f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86071f40c642c1" /><Relationship Type="http://schemas.openxmlformats.org/officeDocument/2006/relationships/notesSlide" Target="/ppt/notesSlides/notesSlide5.xml" Id="R2d76e3ea246247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353e368f6c4734" /><Relationship Type="http://schemas.openxmlformats.org/officeDocument/2006/relationships/notesSlide" Target="/ppt/notesSlides/notesSlide6.xml" Id="R401e07f21e064f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f528ccfcbc4d1e" /><Relationship Type="http://schemas.openxmlformats.org/officeDocument/2006/relationships/notesSlide" Target="/ppt/notesSlides/notesSlide7.xml" Id="R1e8e42f3020842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a3a415d2769410e" /><Relationship Type="http://schemas.openxmlformats.org/officeDocument/2006/relationships/notesSlide" Target="/ppt/notesSlides/notesSlide8.xml" Id="R1a1039ad6dca48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13ed0b642244121" /><Relationship Type="http://schemas.openxmlformats.org/officeDocument/2006/relationships/notesSlide" Target="/ppt/notesSlides/notesSlide9.xml" Id="Ra5198964b8e745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09c338f3ea46b2" /><Relationship Type="http://schemas.openxmlformats.org/officeDocument/2006/relationships/notesSlide" Target="/ppt/notesSlides/notesSlide10.xml" Id="Rcb57aaad3cb04b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4d776caa70d42aa" /><Relationship Type="http://schemas.openxmlformats.org/officeDocument/2006/relationships/notesSlide" Target="/ppt/notesSlides/notesSlide11.xml" Id="Rf164a113c48145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3fda0cb541548b9" /><Relationship Type="http://schemas.openxmlformats.org/officeDocument/2006/relationships/notesSlide" Target="/ppt/notesSlides/notesSlide12.xml" Id="Rf66fcf47bb9c487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b0285f58f864202" /><Relationship Type="http://schemas.openxmlformats.org/officeDocument/2006/relationships/notesSlide" Target="/ppt/notesSlides/notesSlide13.xml" Id="R5abbe598561249e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7e151c9bd2c4719" /><Relationship Type="http://schemas.openxmlformats.org/officeDocument/2006/relationships/notesSlide" Target="/ppt/notesSlides/notesSlide14.xml" Id="Rb0cf2268660e4c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c880a054cdf4b9d" /><Relationship Type="http://schemas.openxmlformats.org/officeDocument/2006/relationships/notesSlide" Target="/ppt/notesSlides/notesSlide15.xml" Id="R95fd0ea7f3d64c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591eedbb8024a44" /><Relationship Type="http://schemas.openxmlformats.org/officeDocument/2006/relationships/notesSlide" Target="/ppt/notesSlides/notesSlide16.xml" Id="R84b8711c37d247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aae900a35bc455a" /><Relationship Type="http://schemas.openxmlformats.org/officeDocument/2006/relationships/notesSlide" Target="/ppt/notesSlides/notesSlide17.xml" Id="R40117f8232a240bf" /></Relationships>
</file>

<file path=ppt/slides/slide1.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96D014-3502-4CA8-B97C-977C713D7EF5}"/>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2" name="">
            <a:extLst xmlns:a="http://schemas.openxmlformats.org/drawingml/2006/main">
              <a:ext uri="{FF2B5EF4-FFF2-40B4-BE49-F238E27FC236}">
                <a16:creationId xmlns:a16="http://schemas.microsoft.com/office/drawing/2014/main" id="{7DAD5732-212B-458A-9ECE-B0B7598D4F16}"/>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8EFFBAA-AC0C-43AE-8DA4-74509AC8DA4E}"/>
              </a:ext>
            </a:extLst>
          </p:cNvPr>
          <p:cNvSpPr>
            <a:spLocks xmlns:a="http://schemas.openxmlformats.org/drawingml/2006/main" noGrp="1"/>
          </p:cNvSpPr>
          <p:nvPr/>
        </p:nvSpPr>
        <p:spPr>
          <a:xfrm xmlns:a="http://schemas.openxmlformats.org/drawingml/2006/main">
            <a:off x="685800" y="781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286C63"/>
                </a:solidFill>
                <a:latin typeface="Arial"/>
                <a:ea typeface="Arial"/>
                <a:cs typeface="Arial"/>
              </a:defRPr>
            </a:pPr>
            <a:r>
              <a:rPr sz="1650" b="1">
                <a:solidFill>
                  <a:srgbClr val="286C63"/>
                </a:solidFill>
                <a:latin typeface="Arial"/>
                <a:ea typeface="Arial"/>
                <a:cs typeface="Arial"/>
              </a:rPr>
              <a:t>Aktüeryal iş akışında yapay zekâ</a:t>
            </a:r>
          </a:p>
        </p:txBody>
      </p:sp>
      <p:sp>
        <p:nvSpPr>
          <p:cNvPr id="4" name="">
            <a:extLst xmlns:a="http://schemas.openxmlformats.org/drawingml/2006/main">
              <a:ext uri="{FF2B5EF4-FFF2-40B4-BE49-F238E27FC236}">
                <a16:creationId xmlns:a16="http://schemas.microsoft.com/office/drawing/2014/main" id="{DD9363DE-9F0C-47EA-9EC7-0EDCB4E39793}"/>
              </a:ext>
            </a:extLst>
          </p:cNvPr>
          <p:cNvSpPr>
            <a:spLocks xmlns:a="http://schemas.openxmlformats.org/drawingml/2006/main" noGrp="1"/>
          </p:cNvSpPr>
          <p:nvPr/>
        </p:nvSpPr>
        <p:spPr>
          <a:xfrm xmlns:a="http://schemas.openxmlformats.org/drawingml/2006/main">
            <a:off x="685800" y="19431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F3434"/>
                </a:solidFill>
                <a:latin typeface="Arial"/>
                <a:ea typeface="Arial"/>
                <a:cs typeface="Arial"/>
              </a:defRPr>
            </a:pPr>
            <a:r>
              <a:rPr sz="5100" b="1">
                <a:solidFill>
                  <a:srgbClr val="1F3434"/>
                </a:solidFill>
                <a:latin typeface="Arial"/>
                <a:ea typeface="Arial"/>
                <a:cs typeface="Arial"/>
              </a:rPr>
              <a:t>Veriden karara,</a:t>
            </a:r>
          </a:p>
          <a:p xmlns:a="http://schemas.openxmlformats.org/drawingml/2006/main">
            <a:pPr>
              <a:defRPr sz="5100" b="1">
                <a:solidFill>
                  <a:srgbClr val="1F3434"/>
                </a:solidFill>
                <a:latin typeface="Arial"/>
                <a:ea typeface="Arial"/>
                <a:cs typeface="Arial"/>
              </a:defRPr>
            </a:pPr>
            <a:r>
              <a:rPr sz="5100" b="1">
                <a:solidFill>
                  <a:srgbClr val="1F3434"/>
                </a:solidFill>
                <a:latin typeface="Arial"/>
                <a:ea typeface="Arial"/>
                <a:cs typeface="Arial"/>
              </a:rPr>
              <a:t>tek çalışma ortamı</a:t>
            </a:r>
          </a:p>
        </p:txBody>
      </p:sp>
      <p:sp>
        <p:nvSpPr>
          <p:cNvPr id="5" name="">
            <a:extLst xmlns:a="http://schemas.openxmlformats.org/drawingml/2006/main">
              <a:ext uri="{FF2B5EF4-FFF2-40B4-BE49-F238E27FC236}">
                <a16:creationId xmlns:a16="http://schemas.microsoft.com/office/drawing/2014/main" id="{7396F67F-78DB-4C31-A206-73BAC3E0E3DE}"/>
              </a:ext>
            </a:extLst>
          </p:cNvPr>
          <p:cNvSpPr>
            <a:spLocks xmlns:a="http://schemas.openxmlformats.org/drawingml/2006/main" noGrp="1"/>
          </p:cNvSpPr>
          <p:nvPr/>
        </p:nvSpPr>
        <p:spPr>
          <a:xfrm xmlns:a="http://schemas.openxmlformats.org/drawingml/2006/main">
            <a:off x="723900" y="416242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526766"/>
                </a:solidFill>
                <a:latin typeface="Arial"/>
                <a:ea typeface="Arial"/>
                <a:cs typeface="Arial"/>
              </a:defRPr>
            </a:pPr>
            <a:r>
              <a:rPr sz="2400" b="0">
                <a:solidFill>
                  <a:srgbClr val="526766"/>
                </a:solidFill>
                <a:latin typeface="Arial"/>
                <a:ea typeface="Arial"/>
                <a:cs typeface="Arial"/>
              </a:rPr>
              <a:t>Veri, kontroller, analiz ve modelleri</a:t>
            </a:r>
          </a:p>
          <a:p xmlns:a="http://schemas.openxmlformats.org/drawingml/2006/main">
            <a:pPr>
              <a:defRPr sz="2400" b="0">
                <a:solidFill>
                  <a:srgbClr val="526766"/>
                </a:solidFill>
                <a:latin typeface="Arial"/>
                <a:ea typeface="Arial"/>
                <a:cs typeface="Arial"/>
              </a:defRPr>
            </a:pPr>
            <a:r>
              <a:rPr sz="2400" b="0">
                <a:solidFill>
                  <a:srgbClr val="526766"/>
                </a:solidFill>
                <a:latin typeface="Arial"/>
                <a:ea typeface="Arial"/>
                <a:cs typeface="Arial"/>
              </a:rPr>
              <a:t>agent ile yönetilen bir sürece bağlamak</a:t>
            </a:r>
          </a:p>
        </p:txBody>
      </p:sp>
      <p:sp>
        <p:nvSpPr>
          <p:cNvPr id="6" name="">
            <a:extLst xmlns:a="http://schemas.openxmlformats.org/drawingml/2006/main">
              <a:ext uri="{FF2B5EF4-FFF2-40B4-BE49-F238E27FC236}">
                <a16:creationId xmlns:a16="http://schemas.microsoft.com/office/drawing/2014/main" id="{23A35914-5CC9-4455-87EB-AAA605007958}"/>
              </a:ext>
            </a:extLst>
          </p:cNvPr>
          <p:cNvSpPr>
            <a:spLocks xmlns:a="http://schemas.openxmlformats.org/drawingml/2006/main" noGrp="1"/>
          </p:cNvSpPr>
          <p:nvPr/>
        </p:nvSpPr>
        <p:spPr>
          <a:xfrm xmlns:a="http://schemas.openxmlformats.org/drawingml/2006/main">
            <a:off x="723900" y="551497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286C63"/>
                </a:solidFill>
                <a:latin typeface="Arial"/>
                <a:ea typeface="Arial"/>
                <a:cs typeface="Arial"/>
              </a:defRPr>
            </a:pPr>
            <a:r>
              <a:rPr sz="1950" b="1">
                <a:solidFill>
                  <a:srgbClr val="286C63"/>
                </a:solidFill>
                <a:latin typeface="Arial"/>
                <a:ea typeface="Arial"/>
                <a:cs typeface="Arial"/>
              </a:rPr>
              <a:t>Actuarius Enterprise</a:t>
            </a:r>
          </a:p>
        </p:txBody>
      </p:sp>
    </p:spTree>
    <p:extLst>
      <p:ext uri="{BB962C8B-B14F-4D97-AF65-F5344CB8AC3E}">
        <p14:creationId xmlns:p14="http://schemas.microsoft.com/office/powerpoint/2010/main" val="1933170409"/>
      </p:ext>
    </p:extLst>
  </p:cSld>
</p:sld>
</file>

<file path=ppt/slides/slide2.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25E3E5D-A840-4CB0-98AC-F2D7868566C8}"/>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Projenin çıkış noktası</a:t>
            </a:r>
          </a:p>
        </p:txBody>
      </p:sp>
      <p:sp>
        <p:nvSpPr>
          <p:cNvPr id="2" name="">
            <a:extLst xmlns:a="http://schemas.openxmlformats.org/drawingml/2006/main">
              <a:ext uri="{FF2B5EF4-FFF2-40B4-BE49-F238E27FC236}">
                <a16:creationId xmlns:a16="http://schemas.microsoft.com/office/drawing/2014/main" id="{1774E7BC-0616-4974-B96B-23F6E85BD616}"/>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8F3AF87E-8588-455B-B2DD-6DB1BCED2537}"/>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98B1413-6081-46DA-B285-996506694593}"/>
              </a:ext>
            </a:extLst>
          </p:cNvPr>
          <p:cNvSpPr>
            <a:spLocks xmlns:a="http://schemas.openxmlformats.org/drawingml/2006/main" noGrp="1"/>
          </p:cNvSpPr>
          <p:nvPr/>
        </p:nvSpPr>
        <p:spPr>
          <a:xfrm xmlns:a="http://schemas.openxmlformats.org/drawingml/2006/main">
            <a:off x="685800" y="182880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1">
                <a:solidFill>
                  <a:srgbClr val="286C63"/>
                </a:solidFill>
                <a:latin typeface="Arial"/>
                <a:ea typeface="Arial"/>
                <a:cs typeface="Arial"/>
              </a:defRPr>
            </a:pPr>
            <a:r>
              <a:rPr sz="3750" b="1">
                <a:solidFill>
                  <a:srgbClr val="286C63"/>
                </a:solidFill>
                <a:latin typeface="Arial"/>
                <a:ea typeface="Arial"/>
                <a:cs typeface="Arial"/>
              </a:rPr>
              <a:t>Analizin öncesinde ve arasında</a:t>
            </a:r>
          </a:p>
          <a:p xmlns:a="http://schemas.openxmlformats.org/drawingml/2006/main">
            <a:pPr>
              <a:defRPr sz="3750" b="1">
                <a:solidFill>
                  <a:srgbClr val="286C63"/>
                </a:solidFill>
                <a:latin typeface="Arial"/>
                <a:ea typeface="Arial"/>
                <a:cs typeface="Arial"/>
              </a:defRPr>
            </a:pPr>
            <a:r>
              <a:rPr sz="3750" b="1">
                <a:solidFill>
                  <a:srgbClr val="286C63"/>
                </a:solidFill>
                <a:latin typeface="Arial"/>
                <a:ea typeface="Arial"/>
                <a:cs typeface="Arial"/>
              </a:rPr>
              <a:t>ne kadar iş yapıyoruz?</a:t>
            </a:r>
          </a:p>
        </p:txBody>
      </p:sp>
      <p:sp>
        <p:nvSpPr>
          <p:cNvPr id="5" name="">
            <a:extLst xmlns:a="http://schemas.openxmlformats.org/drawingml/2006/main">
              <a:ext uri="{FF2B5EF4-FFF2-40B4-BE49-F238E27FC236}">
                <a16:creationId xmlns:a16="http://schemas.microsoft.com/office/drawing/2014/main" id="{9AB199B1-423B-4DEC-9596-CB93E8FE082A}"/>
              </a:ext>
            </a:extLst>
          </p:cNvPr>
          <p:cNvSpPr>
            <a:spLocks xmlns:a="http://schemas.openxmlformats.org/drawingml/2006/main" noGrp="1"/>
          </p:cNvSpPr>
          <p:nvPr/>
        </p:nvSpPr>
        <p:spPr>
          <a:xfrm xmlns:a="http://schemas.openxmlformats.org/drawingml/2006/main">
            <a:off x="685800" y="3457575"/>
            <a:ext cx="1996440" cy="141922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4418801-6114-4F5A-9EDC-E98D27E7C824}"/>
              </a:ext>
            </a:extLst>
          </p:cNvPr>
          <p:cNvSpPr>
            <a:spLocks xmlns:a="http://schemas.openxmlformats.org/drawingml/2006/main" noGrp="1"/>
          </p:cNvSpPr>
          <p:nvPr/>
        </p:nvSpPr>
        <p:spPr>
          <a:xfrm xmlns:a="http://schemas.openxmlformats.org/drawingml/2006/main">
            <a:off x="838200" y="3600450"/>
            <a:ext cx="169164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F1FD682-D906-4832-81E6-F781F9D14F76}"/>
              </a:ext>
            </a:extLst>
          </p:cNvPr>
          <p:cNvSpPr>
            <a:spLocks xmlns:a="http://schemas.openxmlformats.org/drawingml/2006/main" noGrp="1"/>
          </p:cNvSpPr>
          <p:nvPr/>
        </p:nvSpPr>
        <p:spPr>
          <a:xfrm xmlns:a="http://schemas.openxmlformats.org/drawingml/2006/main">
            <a:off x="838200" y="3962400"/>
            <a:ext cx="169164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Veriyi</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topla</a:t>
            </a:r>
          </a:p>
        </p:txBody>
      </p:sp>
      <p:sp>
        <p:nvSpPr>
          <p:cNvPr id="8" name="">
            <a:extLst xmlns:a="http://schemas.openxmlformats.org/drawingml/2006/main">
              <a:ext uri="{FF2B5EF4-FFF2-40B4-BE49-F238E27FC236}">
                <a16:creationId xmlns:a16="http://schemas.microsoft.com/office/drawing/2014/main" id="{9879E87D-DB83-4B23-859D-E5F8949112D7}"/>
              </a:ext>
            </a:extLst>
          </p:cNvPr>
          <p:cNvSpPr>
            <a:spLocks xmlns:a="http://schemas.openxmlformats.org/drawingml/2006/main" noGrp="1"/>
          </p:cNvSpPr>
          <p:nvPr/>
        </p:nvSpPr>
        <p:spPr>
          <a:xfrm xmlns:a="http://schemas.openxmlformats.org/drawingml/2006/main">
            <a:off x="2891790" y="3457575"/>
            <a:ext cx="1996440" cy="1419225"/>
          </a:xfrm>
          <a:prstGeom xmlns:a="http://schemas.openxmlformats.org/drawingml/2006/main" prst="rect">
            <a:avLst/>
          </a:prstGeom>
          <a:solidFill xmlns:a="http://schemas.openxmlformats.org/drawingml/2006/main">
            <a:srgbClr val="EDF2E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716CE1C-81D0-4D62-B247-DF4BB57E7949}"/>
              </a:ext>
            </a:extLst>
          </p:cNvPr>
          <p:cNvSpPr>
            <a:spLocks xmlns:a="http://schemas.openxmlformats.org/drawingml/2006/main" noGrp="1"/>
          </p:cNvSpPr>
          <p:nvPr/>
        </p:nvSpPr>
        <p:spPr>
          <a:xfrm xmlns:a="http://schemas.openxmlformats.org/drawingml/2006/main">
            <a:off x="3044190" y="3600450"/>
            <a:ext cx="169164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C31501F-6C4B-4EFA-A1BC-3B73A152864C}"/>
              </a:ext>
            </a:extLst>
          </p:cNvPr>
          <p:cNvSpPr>
            <a:spLocks xmlns:a="http://schemas.openxmlformats.org/drawingml/2006/main" noGrp="1"/>
          </p:cNvSpPr>
          <p:nvPr/>
        </p:nvSpPr>
        <p:spPr>
          <a:xfrm xmlns:a="http://schemas.openxmlformats.org/drawingml/2006/main">
            <a:off x="3044190" y="3962400"/>
            <a:ext cx="169164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Kontrolü</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tekrarla</a:t>
            </a:r>
          </a:p>
        </p:txBody>
      </p:sp>
      <p:sp>
        <p:nvSpPr>
          <p:cNvPr id="11" name="">
            <a:extLst xmlns:a="http://schemas.openxmlformats.org/drawingml/2006/main">
              <a:ext uri="{FF2B5EF4-FFF2-40B4-BE49-F238E27FC236}">
                <a16:creationId xmlns:a16="http://schemas.microsoft.com/office/drawing/2014/main" id="{1A114E87-4172-4237-A404-51C3E730A47B}"/>
              </a:ext>
            </a:extLst>
          </p:cNvPr>
          <p:cNvSpPr>
            <a:spLocks xmlns:a="http://schemas.openxmlformats.org/drawingml/2006/main" noGrp="1"/>
          </p:cNvSpPr>
          <p:nvPr/>
        </p:nvSpPr>
        <p:spPr>
          <a:xfrm xmlns:a="http://schemas.openxmlformats.org/drawingml/2006/main">
            <a:off x="5097780" y="3457575"/>
            <a:ext cx="1996440" cy="141922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8202C38-5AB0-4101-9FC8-B4A978FE38FA}"/>
              </a:ext>
            </a:extLst>
          </p:cNvPr>
          <p:cNvSpPr>
            <a:spLocks xmlns:a="http://schemas.openxmlformats.org/drawingml/2006/main" noGrp="1"/>
          </p:cNvSpPr>
          <p:nvPr/>
        </p:nvSpPr>
        <p:spPr>
          <a:xfrm xmlns:a="http://schemas.openxmlformats.org/drawingml/2006/main">
            <a:off x="5250180" y="3600450"/>
            <a:ext cx="169164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4664AF24-0D4F-47BE-A25A-BA8C446CE71C}"/>
              </a:ext>
            </a:extLst>
          </p:cNvPr>
          <p:cNvSpPr>
            <a:spLocks xmlns:a="http://schemas.openxmlformats.org/drawingml/2006/main" noGrp="1"/>
          </p:cNvSpPr>
          <p:nvPr/>
        </p:nvSpPr>
        <p:spPr>
          <a:xfrm xmlns:a="http://schemas.openxmlformats.org/drawingml/2006/main">
            <a:off x="5250180" y="3962400"/>
            <a:ext cx="169164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Raporu</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çalıştır</a:t>
            </a:r>
          </a:p>
        </p:txBody>
      </p:sp>
      <p:sp>
        <p:nvSpPr>
          <p:cNvPr id="14" name="">
            <a:extLst xmlns:a="http://schemas.openxmlformats.org/drawingml/2006/main">
              <a:ext uri="{FF2B5EF4-FFF2-40B4-BE49-F238E27FC236}">
                <a16:creationId xmlns:a16="http://schemas.microsoft.com/office/drawing/2014/main" id="{9E8E443F-A147-450E-BCB8-DEFA5FE690E7}"/>
              </a:ext>
            </a:extLst>
          </p:cNvPr>
          <p:cNvSpPr>
            <a:spLocks xmlns:a="http://schemas.openxmlformats.org/drawingml/2006/main" noGrp="1"/>
          </p:cNvSpPr>
          <p:nvPr/>
        </p:nvSpPr>
        <p:spPr>
          <a:xfrm xmlns:a="http://schemas.openxmlformats.org/drawingml/2006/main">
            <a:off x="7303770" y="3457575"/>
            <a:ext cx="1996440" cy="1419225"/>
          </a:xfrm>
          <a:prstGeom xmlns:a="http://schemas.openxmlformats.org/drawingml/2006/main" prst="rect">
            <a:avLst/>
          </a:prstGeom>
          <a:solidFill xmlns:a="http://schemas.openxmlformats.org/drawingml/2006/main">
            <a:srgbClr val="EDF2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B30D281-4A5E-481B-AC10-73D453EC79D1}"/>
              </a:ext>
            </a:extLst>
          </p:cNvPr>
          <p:cNvSpPr>
            <a:spLocks xmlns:a="http://schemas.openxmlformats.org/drawingml/2006/main" noGrp="1"/>
          </p:cNvSpPr>
          <p:nvPr/>
        </p:nvSpPr>
        <p:spPr>
          <a:xfrm xmlns:a="http://schemas.openxmlformats.org/drawingml/2006/main">
            <a:off x="7456170" y="3600450"/>
            <a:ext cx="169164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3638C718-BFC4-4503-B54E-539FC23AE80A}"/>
              </a:ext>
            </a:extLst>
          </p:cNvPr>
          <p:cNvSpPr>
            <a:spLocks xmlns:a="http://schemas.openxmlformats.org/drawingml/2006/main" noGrp="1"/>
          </p:cNvSpPr>
          <p:nvPr/>
        </p:nvSpPr>
        <p:spPr>
          <a:xfrm xmlns:a="http://schemas.openxmlformats.org/drawingml/2006/main">
            <a:off x="7456170" y="3962400"/>
            <a:ext cx="169164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Modele</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aktar</a:t>
            </a:r>
          </a:p>
        </p:txBody>
      </p:sp>
      <p:sp>
        <p:nvSpPr>
          <p:cNvPr id="17" name="">
            <a:extLst xmlns:a="http://schemas.openxmlformats.org/drawingml/2006/main">
              <a:ext uri="{FF2B5EF4-FFF2-40B4-BE49-F238E27FC236}">
                <a16:creationId xmlns:a16="http://schemas.microsoft.com/office/drawing/2014/main" id="{C42F4BDE-C438-4FE5-86B8-33054773F918}"/>
              </a:ext>
            </a:extLst>
          </p:cNvPr>
          <p:cNvSpPr>
            <a:spLocks xmlns:a="http://schemas.openxmlformats.org/drawingml/2006/main" noGrp="1"/>
          </p:cNvSpPr>
          <p:nvPr/>
        </p:nvSpPr>
        <p:spPr>
          <a:xfrm xmlns:a="http://schemas.openxmlformats.org/drawingml/2006/main">
            <a:off x="9509760" y="3457575"/>
            <a:ext cx="1996440" cy="141922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C7FDF99-7081-48A6-8793-53C8D067BBAC}"/>
              </a:ext>
            </a:extLst>
          </p:cNvPr>
          <p:cNvSpPr>
            <a:spLocks xmlns:a="http://schemas.openxmlformats.org/drawingml/2006/main" noGrp="1"/>
          </p:cNvSpPr>
          <p:nvPr/>
        </p:nvSpPr>
        <p:spPr>
          <a:xfrm xmlns:a="http://schemas.openxmlformats.org/drawingml/2006/main">
            <a:off x="9662160" y="3600450"/>
            <a:ext cx="169164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05</a:t>
            </a:r>
          </a:p>
        </p:txBody>
      </p:sp>
      <p:sp>
        <p:nvSpPr>
          <p:cNvPr id="19" name="">
            <a:extLst xmlns:a="http://schemas.openxmlformats.org/drawingml/2006/main">
              <a:ext uri="{FF2B5EF4-FFF2-40B4-BE49-F238E27FC236}">
                <a16:creationId xmlns:a16="http://schemas.microsoft.com/office/drawing/2014/main" id="{239B4C8B-F689-493B-8DF2-F9C00FB06611}"/>
              </a:ext>
            </a:extLst>
          </p:cNvPr>
          <p:cNvSpPr>
            <a:spLocks xmlns:a="http://schemas.openxmlformats.org/drawingml/2006/main" noGrp="1"/>
          </p:cNvSpPr>
          <p:nvPr/>
        </p:nvSpPr>
        <p:spPr>
          <a:xfrm xmlns:a="http://schemas.openxmlformats.org/drawingml/2006/main">
            <a:off x="9662160" y="3962400"/>
            <a:ext cx="169164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Farkı</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açıkla</a:t>
            </a:r>
          </a:p>
        </p:txBody>
      </p:sp>
      <p:cxnSp>
        <p:nvCxnSpPr>
          <p:cNvPr id="44" name=""/>
          <p:cNvCxnSpPr>
            <a:stCxn xmlns:a="http://schemas.openxmlformats.org/drawingml/2006/main" id="5" idx="3"/>
            <a:endCxn xmlns:a="http://schemas.openxmlformats.org/drawingml/2006/main" id="8" idx="1"/>
          </p:cNvCxnSpPr>
          <p:nvPr/>
        </p:nvCxnSpPr>
        <p:spPr>
          <a:xfrm xmlns:a="http://schemas.openxmlformats.org/drawingml/2006/main">
            <a:off x="2682240" y="4167188"/>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cxnSp>
        <p:nvCxnSpPr>
          <p:cNvPr id="45" name=""/>
          <p:cNvCxnSpPr>
            <a:stCxn xmlns:a="http://schemas.openxmlformats.org/drawingml/2006/main" id="8" idx="3"/>
            <a:endCxn xmlns:a="http://schemas.openxmlformats.org/drawingml/2006/main" id="11" idx="1"/>
          </p:cNvCxnSpPr>
          <p:nvPr/>
        </p:nvCxnSpPr>
        <p:spPr>
          <a:xfrm xmlns:a="http://schemas.openxmlformats.org/drawingml/2006/main">
            <a:off x="4888230" y="4167188"/>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cxnSp>
        <p:nvCxnSpPr>
          <p:cNvPr id="46" name=""/>
          <p:cNvCxnSpPr>
            <a:stCxn xmlns:a="http://schemas.openxmlformats.org/drawingml/2006/main" id="11" idx="3"/>
            <a:endCxn xmlns:a="http://schemas.openxmlformats.org/drawingml/2006/main" id="14" idx="1"/>
          </p:cNvCxnSpPr>
          <p:nvPr/>
        </p:nvCxnSpPr>
        <p:spPr>
          <a:xfrm xmlns:a="http://schemas.openxmlformats.org/drawingml/2006/main">
            <a:off x="7094220" y="4167188"/>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cxnSp>
        <p:nvCxnSpPr>
          <p:cNvPr id="47" name=""/>
          <p:cNvCxnSpPr>
            <a:stCxn xmlns:a="http://schemas.openxmlformats.org/drawingml/2006/main" id="14" idx="3"/>
            <a:endCxn xmlns:a="http://schemas.openxmlformats.org/drawingml/2006/main" id="17" idx="1"/>
          </p:cNvCxnSpPr>
          <p:nvPr/>
        </p:nvCxnSpPr>
        <p:spPr>
          <a:xfrm xmlns:a="http://schemas.openxmlformats.org/drawingml/2006/main">
            <a:off x="9300210" y="4167188"/>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sp>
        <p:nvSpPr>
          <p:cNvPr id="24" name="">
            <a:extLst xmlns:a="http://schemas.openxmlformats.org/drawingml/2006/main">
              <a:ext uri="{FF2B5EF4-FFF2-40B4-BE49-F238E27FC236}">
                <a16:creationId xmlns:a16="http://schemas.microsoft.com/office/drawing/2014/main" id="{8E269B61-143C-40A0-BBD2-3B437FD0E482}"/>
              </a:ext>
            </a:extLst>
          </p:cNvPr>
          <p:cNvSpPr>
            <a:spLocks xmlns:a="http://schemas.openxmlformats.org/drawingml/2006/main" noGrp="1"/>
          </p:cNvSpPr>
          <p:nvPr/>
        </p:nvSpPr>
        <p:spPr>
          <a:xfrm xmlns:a="http://schemas.openxmlformats.org/drawingml/2006/main">
            <a:off x="685800" y="53054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26766"/>
                </a:solidFill>
                <a:latin typeface="Arial"/>
                <a:ea typeface="Arial"/>
                <a:cs typeface="Arial"/>
              </a:defRPr>
            </a:pPr>
            <a:r>
              <a:rPr sz="2100" b="0">
                <a:solidFill>
                  <a:srgbClr val="526766"/>
                </a:solidFill>
                <a:latin typeface="Arial"/>
                <a:ea typeface="Arial"/>
                <a:cs typeface="Arial"/>
              </a:rPr>
              <a:t>Her aktarım, bağlamı ve doğru sürümü koruma ihtiyacı doğuruyor.</a:t>
            </a:r>
          </a:p>
        </p:txBody>
      </p:sp>
    </p:spTree>
    <p:extLst>
      <p:ext uri="{BB962C8B-B14F-4D97-AF65-F5344CB8AC3E}">
        <p14:creationId xmlns:p14="http://schemas.microsoft.com/office/powerpoint/2010/main" val="949523223"/>
      </p:ext>
    </p:extLst>
  </p:cSld>
</p:sld>
</file>

<file path=ppt/slides/slide3.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A71F9B9-2805-4481-B2FF-092BF44CB057}"/>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Dağınık süreçlerin görünmeyen maliyeti</a:t>
            </a:r>
          </a:p>
        </p:txBody>
      </p:sp>
      <p:sp>
        <p:nvSpPr>
          <p:cNvPr id="2" name="">
            <a:extLst xmlns:a="http://schemas.openxmlformats.org/drawingml/2006/main">
              <a:ext uri="{FF2B5EF4-FFF2-40B4-BE49-F238E27FC236}">
                <a16:creationId xmlns:a16="http://schemas.microsoft.com/office/drawing/2014/main" id="{F4DF5D08-6BF4-440A-9538-1A4107C1EA4F}"/>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12A23180-2F79-4C7B-B2FD-5C4A4035EE65}"/>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724C1142-3798-4150-9486-75402ECBDD2F}"/>
              </a:ext>
            </a:extLst>
          </p:cNvPr>
          <p:cNvSpPr>
            <a:spLocks xmlns:a="http://schemas.openxmlformats.org/drawingml/2006/main" noGrp="1"/>
          </p:cNvSpPr>
          <p:nvPr/>
        </p:nvSpPr>
        <p:spPr>
          <a:xfrm xmlns:a="http://schemas.openxmlformats.org/drawingml/2006/main">
            <a:off x="685800" y="209550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86C63"/>
                </a:solidFill>
                <a:latin typeface="Arial"/>
                <a:ea typeface="Arial"/>
                <a:cs typeface="Arial"/>
              </a:defRPr>
            </a:pPr>
            <a:r>
              <a:rPr sz="1800" b="1">
                <a:solidFill>
                  <a:srgbClr val="286C63"/>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8507BD8-CF93-4AC7-9971-2E2EAADF951F}"/>
              </a:ext>
            </a:extLst>
          </p:cNvPr>
          <p:cNvSpPr>
            <a:spLocks xmlns:a="http://schemas.openxmlformats.org/drawingml/2006/main" noGrp="1"/>
          </p:cNvSpPr>
          <p:nvPr/>
        </p:nvSpPr>
        <p:spPr>
          <a:xfrm xmlns:a="http://schemas.openxmlformats.org/drawingml/2006/main">
            <a:off x="1524000" y="2066925"/>
            <a:ext cx="3571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Uzman zamanı</a:t>
            </a:r>
          </a:p>
        </p:txBody>
      </p:sp>
      <p:sp>
        <p:nvSpPr>
          <p:cNvPr id="6" name="">
            <a:extLst xmlns:a="http://schemas.openxmlformats.org/drawingml/2006/main">
              <a:ext uri="{FF2B5EF4-FFF2-40B4-BE49-F238E27FC236}">
                <a16:creationId xmlns:a16="http://schemas.microsoft.com/office/drawing/2014/main" id="{F0A27A8A-7CE8-4FF6-84D2-5FF6BA24081E}"/>
              </a:ext>
            </a:extLst>
          </p:cNvPr>
          <p:cNvSpPr>
            <a:spLocks xmlns:a="http://schemas.openxmlformats.org/drawingml/2006/main" noGrp="1"/>
          </p:cNvSpPr>
          <p:nvPr/>
        </p:nvSpPr>
        <p:spPr>
          <a:xfrm xmlns:a="http://schemas.openxmlformats.org/drawingml/2006/main">
            <a:off x="5572125" y="2095500"/>
            <a:ext cx="561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766"/>
                </a:solidFill>
                <a:latin typeface="Arial"/>
                <a:ea typeface="Arial"/>
                <a:cs typeface="Arial"/>
              </a:defRPr>
            </a:pPr>
            <a:r>
              <a:rPr sz="1800" b="0">
                <a:solidFill>
                  <a:srgbClr val="526766"/>
                </a:solidFill>
                <a:latin typeface="Arial"/>
                <a:ea typeface="Arial"/>
                <a:cs typeface="Arial"/>
              </a:rPr>
              <a:t>Tekrarlı hazırlık ve aktarım işleri analize ayrılan zamanı daraltıyor.</a:t>
            </a:r>
          </a:p>
        </p:txBody>
      </p:sp>
      <p:sp>
        <p:nvSpPr>
          <p:cNvPr id="7" name="">
            <a:extLst xmlns:a="http://schemas.openxmlformats.org/drawingml/2006/main">
              <a:ext uri="{FF2B5EF4-FFF2-40B4-BE49-F238E27FC236}">
                <a16:creationId xmlns:a16="http://schemas.microsoft.com/office/drawing/2014/main" id="{4B2DBD47-9CBC-4C1E-A654-5A95DCCF645F}"/>
              </a:ext>
            </a:extLst>
          </p:cNvPr>
          <p:cNvSpPr>
            <a:spLocks xmlns:a="http://schemas.openxmlformats.org/drawingml/2006/main" noGrp="1"/>
          </p:cNvSpPr>
          <p:nvPr/>
        </p:nvSpPr>
        <p:spPr>
          <a:xfrm xmlns:a="http://schemas.openxmlformats.org/drawingml/2006/main">
            <a:off x="1524000" y="2943225"/>
            <a:ext cx="9667875" cy="0"/>
          </a:xfrm>
          <a:prstGeom xmlns:a="http://schemas.openxmlformats.org/drawingml/2006/main" prst="line">
            <a:avLst/>
          </a:prstGeom>
          <a:noFill xmlns:a="http://schemas.openxmlformats.org/drawingml/2006/main"/>
          <a:ln xmlns:a="http://schemas.openxmlformats.org/drawingml/2006/main" w="9525">
            <a:solidFill>
              <a:srgbClr val="C6D4CE"/>
            </a:solidFill>
          </a:ln>
        </p:spPr>
      </p:sp>
      <p:sp>
        <p:nvSpPr>
          <p:cNvPr id="8" name="">
            <a:extLst xmlns:a="http://schemas.openxmlformats.org/drawingml/2006/main">
              <a:ext uri="{FF2B5EF4-FFF2-40B4-BE49-F238E27FC236}">
                <a16:creationId xmlns:a16="http://schemas.microsoft.com/office/drawing/2014/main" id="{F158F79A-EE6F-4543-AA0A-4EF8004657F0}"/>
              </a:ext>
            </a:extLst>
          </p:cNvPr>
          <p:cNvSpPr>
            <a:spLocks xmlns:a="http://schemas.openxmlformats.org/drawingml/2006/main" noGrp="1"/>
          </p:cNvSpPr>
          <p:nvPr/>
        </p:nvSpPr>
        <p:spPr>
          <a:xfrm xmlns:a="http://schemas.openxmlformats.org/drawingml/2006/main">
            <a:off x="685800" y="3324225"/>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86C63"/>
                </a:solidFill>
                <a:latin typeface="Arial"/>
                <a:ea typeface="Arial"/>
                <a:cs typeface="Arial"/>
              </a:defRPr>
            </a:pPr>
            <a:r>
              <a:rPr sz="1800" b="1">
                <a:solidFill>
                  <a:srgbClr val="286C6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4567DE73-8F09-4C37-8867-0DB5063DB513}"/>
              </a:ext>
            </a:extLst>
          </p:cNvPr>
          <p:cNvSpPr>
            <a:spLocks xmlns:a="http://schemas.openxmlformats.org/drawingml/2006/main" noGrp="1"/>
          </p:cNvSpPr>
          <p:nvPr/>
        </p:nvSpPr>
        <p:spPr>
          <a:xfrm xmlns:a="http://schemas.openxmlformats.org/drawingml/2006/main">
            <a:off x="1524000" y="3295650"/>
            <a:ext cx="3571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Analiz tutarlılığı</a:t>
            </a:r>
          </a:p>
        </p:txBody>
      </p:sp>
      <p:sp>
        <p:nvSpPr>
          <p:cNvPr id="10" name="">
            <a:extLst xmlns:a="http://schemas.openxmlformats.org/drawingml/2006/main">
              <a:ext uri="{FF2B5EF4-FFF2-40B4-BE49-F238E27FC236}">
                <a16:creationId xmlns:a16="http://schemas.microsoft.com/office/drawing/2014/main" id="{831E2911-544B-469D-9BC2-9FB335A26532}"/>
              </a:ext>
            </a:extLst>
          </p:cNvPr>
          <p:cNvSpPr>
            <a:spLocks xmlns:a="http://schemas.openxmlformats.org/drawingml/2006/main" noGrp="1"/>
          </p:cNvSpPr>
          <p:nvPr/>
        </p:nvSpPr>
        <p:spPr>
          <a:xfrm xmlns:a="http://schemas.openxmlformats.org/drawingml/2006/main">
            <a:off x="5572125" y="3324225"/>
            <a:ext cx="561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766"/>
                </a:solidFill>
                <a:latin typeface="Arial"/>
                <a:ea typeface="Arial"/>
                <a:cs typeface="Arial"/>
              </a:defRPr>
            </a:pPr>
            <a:r>
              <a:rPr sz="1800" b="0">
                <a:solidFill>
                  <a:srgbClr val="526766"/>
                </a:solidFill>
                <a:latin typeface="Arial"/>
                <a:ea typeface="Arial"/>
                <a:cs typeface="Arial"/>
              </a:rPr>
              <a:t>Farklı dosya ve filtreler sonuçları karşılaştırmayı zorlaştırabiliyor.</a:t>
            </a:r>
          </a:p>
        </p:txBody>
      </p:sp>
      <p:sp>
        <p:nvSpPr>
          <p:cNvPr id="11" name="">
            <a:extLst xmlns:a="http://schemas.openxmlformats.org/drawingml/2006/main">
              <a:ext uri="{FF2B5EF4-FFF2-40B4-BE49-F238E27FC236}">
                <a16:creationId xmlns:a16="http://schemas.microsoft.com/office/drawing/2014/main" id="{D6972843-9C10-46EB-BECD-A155F31E0F43}"/>
              </a:ext>
            </a:extLst>
          </p:cNvPr>
          <p:cNvSpPr>
            <a:spLocks xmlns:a="http://schemas.openxmlformats.org/drawingml/2006/main" noGrp="1"/>
          </p:cNvSpPr>
          <p:nvPr/>
        </p:nvSpPr>
        <p:spPr>
          <a:xfrm xmlns:a="http://schemas.openxmlformats.org/drawingml/2006/main">
            <a:off x="1524000" y="4171950"/>
            <a:ext cx="9667875" cy="0"/>
          </a:xfrm>
          <a:prstGeom xmlns:a="http://schemas.openxmlformats.org/drawingml/2006/main" prst="line">
            <a:avLst/>
          </a:prstGeom>
          <a:noFill xmlns:a="http://schemas.openxmlformats.org/drawingml/2006/main"/>
          <a:ln xmlns:a="http://schemas.openxmlformats.org/drawingml/2006/main" w="9525">
            <a:solidFill>
              <a:srgbClr val="C6D4CE"/>
            </a:solidFill>
          </a:ln>
        </p:spPr>
      </p:sp>
      <p:sp>
        <p:nvSpPr>
          <p:cNvPr id="12" name="">
            <a:extLst xmlns:a="http://schemas.openxmlformats.org/drawingml/2006/main">
              <a:ext uri="{FF2B5EF4-FFF2-40B4-BE49-F238E27FC236}">
                <a16:creationId xmlns:a16="http://schemas.microsoft.com/office/drawing/2014/main" id="{BABA98F1-6755-439A-A13B-CBBCC89C5A55}"/>
              </a:ext>
            </a:extLst>
          </p:cNvPr>
          <p:cNvSpPr>
            <a:spLocks xmlns:a="http://schemas.openxmlformats.org/drawingml/2006/main" noGrp="1"/>
          </p:cNvSpPr>
          <p:nvPr/>
        </p:nvSpPr>
        <p:spPr>
          <a:xfrm xmlns:a="http://schemas.openxmlformats.org/drawingml/2006/main">
            <a:off x="685800" y="455295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86C63"/>
                </a:solidFill>
                <a:latin typeface="Arial"/>
                <a:ea typeface="Arial"/>
                <a:cs typeface="Arial"/>
              </a:defRPr>
            </a:pPr>
            <a:r>
              <a:rPr sz="1800" b="1">
                <a:solidFill>
                  <a:srgbClr val="286C63"/>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A0FD6D40-53CB-4471-AB17-846FB5C520F9}"/>
              </a:ext>
            </a:extLst>
          </p:cNvPr>
          <p:cNvSpPr>
            <a:spLocks xmlns:a="http://schemas.openxmlformats.org/drawingml/2006/main" noGrp="1"/>
          </p:cNvSpPr>
          <p:nvPr/>
        </p:nvSpPr>
        <p:spPr>
          <a:xfrm xmlns:a="http://schemas.openxmlformats.org/drawingml/2006/main">
            <a:off x="1524000" y="4524375"/>
            <a:ext cx="3571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Veri–model ilişkisi</a:t>
            </a:r>
          </a:p>
        </p:txBody>
      </p:sp>
      <p:sp>
        <p:nvSpPr>
          <p:cNvPr id="14" name="">
            <a:extLst xmlns:a="http://schemas.openxmlformats.org/drawingml/2006/main">
              <a:ext uri="{FF2B5EF4-FFF2-40B4-BE49-F238E27FC236}">
                <a16:creationId xmlns:a16="http://schemas.microsoft.com/office/drawing/2014/main" id="{ED6DB63E-4A69-4E9E-830C-97186A98F0B0}"/>
              </a:ext>
            </a:extLst>
          </p:cNvPr>
          <p:cNvSpPr>
            <a:spLocks xmlns:a="http://schemas.openxmlformats.org/drawingml/2006/main" noGrp="1"/>
          </p:cNvSpPr>
          <p:nvPr/>
        </p:nvSpPr>
        <p:spPr>
          <a:xfrm xmlns:a="http://schemas.openxmlformats.org/drawingml/2006/main">
            <a:off x="5572125" y="4552950"/>
            <a:ext cx="561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766"/>
                </a:solidFill>
                <a:latin typeface="Arial"/>
                <a:ea typeface="Arial"/>
                <a:cs typeface="Arial"/>
              </a:defRPr>
            </a:pPr>
            <a:r>
              <a:rPr sz="1800" b="0">
                <a:solidFill>
                  <a:srgbClr val="526766"/>
                </a:solidFill>
                <a:latin typeface="Arial"/>
                <a:ea typeface="Arial"/>
                <a:cs typeface="Arial"/>
              </a:rPr>
              <a:t>Bir sonuçtan kaynak veriye dönmek ek araştırma gerektiriyor.</a:t>
            </a:r>
          </a:p>
        </p:txBody>
      </p:sp>
      <p:sp>
        <p:nvSpPr>
          <p:cNvPr id="15" name="">
            <a:extLst xmlns:a="http://schemas.openxmlformats.org/drawingml/2006/main">
              <a:ext uri="{FF2B5EF4-FFF2-40B4-BE49-F238E27FC236}">
                <a16:creationId xmlns:a16="http://schemas.microsoft.com/office/drawing/2014/main" id="{809BD5BB-DCE4-4849-950C-1662FE1CF4A7}"/>
              </a:ext>
            </a:extLst>
          </p:cNvPr>
          <p:cNvSpPr>
            <a:spLocks xmlns:a="http://schemas.openxmlformats.org/drawingml/2006/main" noGrp="1"/>
          </p:cNvSpPr>
          <p:nvPr/>
        </p:nvSpPr>
        <p:spPr>
          <a:xfrm xmlns:a="http://schemas.openxmlformats.org/drawingml/2006/main">
            <a:off x="1524000" y="5400675"/>
            <a:ext cx="9667875" cy="0"/>
          </a:xfrm>
          <a:prstGeom xmlns:a="http://schemas.openxmlformats.org/drawingml/2006/main" prst="line">
            <a:avLst/>
          </a:prstGeom>
          <a:noFill xmlns:a="http://schemas.openxmlformats.org/drawingml/2006/main"/>
          <a:ln xmlns:a="http://schemas.openxmlformats.org/drawingml/2006/main" w="9525">
            <a:solidFill>
              <a:srgbClr val="C6D4CE"/>
            </a:solidFill>
          </a:ln>
        </p:spPr>
      </p:sp>
    </p:spTree>
    <p:extLst>
      <p:ext uri="{BB962C8B-B14F-4D97-AF65-F5344CB8AC3E}">
        <p14:creationId xmlns:p14="http://schemas.microsoft.com/office/powerpoint/2010/main" val="1687918429"/>
      </p:ext>
    </p:extLst>
  </p:cSld>
</p:sld>
</file>

<file path=ppt/slides/slide4.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21817D1-5950-4CED-8C10-BE6B52173A0F}"/>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Uçtan uca tek bir iş akışı</a:t>
            </a:r>
          </a:p>
        </p:txBody>
      </p:sp>
      <p:sp>
        <p:nvSpPr>
          <p:cNvPr id="2" name="">
            <a:extLst xmlns:a="http://schemas.openxmlformats.org/drawingml/2006/main">
              <a:ext uri="{FF2B5EF4-FFF2-40B4-BE49-F238E27FC236}">
                <a16:creationId xmlns:a16="http://schemas.microsoft.com/office/drawing/2014/main" id="{8AC93D4B-8B28-4B20-88E1-14688F8F4F36}"/>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17AF0DD2-50D4-4665-9302-01F505785C08}"/>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2A2B81DA-849B-4805-973D-EEB52DAC11CD}"/>
              </a:ext>
            </a:extLst>
          </p:cNvPr>
          <p:cNvSpPr>
            <a:spLocks xmlns:a="http://schemas.openxmlformats.org/drawingml/2006/main" noGrp="1"/>
          </p:cNvSpPr>
          <p:nvPr/>
        </p:nvSpPr>
        <p:spPr>
          <a:xfrm xmlns:a="http://schemas.openxmlformats.org/drawingml/2006/main">
            <a:off x="685800" y="6029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26766"/>
                </a:solidFill>
                <a:latin typeface="Arial"/>
                <a:ea typeface="Arial"/>
                <a:cs typeface="Arial"/>
              </a:defRPr>
            </a:pPr>
            <a:r>
              <a:rPr sz="1200" b="0">
                <a:solidFill>
                  <a:srgbClr val="526766"/>
                </a:solidFill>
                <a:latin typeface="Arial"/>
                <a:ea typeface="Arial"/>
                <a:cs typeface="Arial"/>
              </a:rPr>
              <a:t>Hedef süreç: mevcut ürün temeli üzerine kurulacak uçtan uca otomasyon</a:t>
            </a:r>
          </a:p>
        </p:txBody>
      </p:sp>
      <p:sp>
        <p:nvSpPr>
          <p:cNvPr id="5" name="">
            <a:extLst xmlns:a="http://schemas.openxmlformats.org/drawingml/2006/main">
              <a:ext uri="{FF2B5EF4-FFF2-40B4-BE49-F238E27FC236}">
                <a16:creationId xmlns:a16="http://schemas.microsoft.com/office/drawing/2014/main" id="{795A5745-A3D2-425B-9497-631D1E8F8267}"/>
              </a:ext>
            </a:extLst>
          </p:cNvPr>
          <p:cNvSpPr>
            <a:spLocks xmlns:a="http://schemas.openxmlformats.org/drawingml/2006/main" noGrp="1"/>
          </p:cNvSpPr>
          <p:nvPr/>
        </p:nvSpPr>
        <p:spPr>
          <a:xfrm xmlns:a="http://schemas.openxmlformats.org/drawingml/2006/main">
            <a:off x="685800" y="2209800"/>
            <a:ext cx="1628775" cy="157162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6B47742-695F-4ECA-9CAC-F58D13F6E24E}"/>
              </a:ext>
            </a:extLst>
          </p:cNvPr>
          <p:cNvSpPr>
            <a:spLocks xmlns:a="http://schemas.openxmlformats.org/drawingml/2006/main" noGrp="1"/>
          </p:cNvSpPr>
          <p:nvPr/>
        </p:nvSpPr>
        <p:spPr>
          <a:xfrm xmlns:a="http://schemas.openxmlformats.org/drawingml/2006/main">
            <a:off x="838200" y="2352675"/>
            <a:ext cx="13239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55A42D9C-8007-450E-AA9E-D1E4A712020F}"/>
              </a:ext>
            </a:extLst>
          </p:cNvPr>
          <p:cNvSpPr>
            <a:spLocks xmlns:a="http://schemas.openxmlformats.org/drawingml/2006/main" noGrp="1"/>
          </p:cNvSpPr>
          <p:nvPr/>
        </p:nvSpPr>
        <p:spPr>
          <a:xfrm xmlns:a="http://schemas.openxmlformats.org/drawingml/2006/main">
            <a:off x="838200" y="2714625"/>
            <a:ext cx="13239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Veri</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alımı</a:t>
            </a:r>
          </a:p>
        </p:txBody>
      </p:sp>
      <p:sp>
        <p:nvSpPr>
          <p:cNvPr id="8" name="">
            <a:extLst xmlns:a="http://schemas.openxmlformats.org/drawingml/2006/main">
              <a:ext uri="{FF2B5EF4-FFF2-40B4-BE49-F238E27FC236}">
                <a16:creationId xmlns:a16="http://schemas.microsoft.com/office/drawing/2014/main" id="{A26FC5A1-D99C-4A48-8833-A77BBD86A42B}"/>
              </a:ext>
            </a:extLst>
          </p:cNvPr>
          <p:cNvSpPr>
            <a:spLocks xmlns:a="http://schemas.openxmlformats.org/drawingml/2006/main" noGrp="1"/>
          </p:cNvSpPr>
          <p:nvPr/>
        </p:nvSpPr>
        <p:spPr>
          <a:xfrm xmlns:a="http://schemas.openxmlformats.org/drawingml/2006/main">
            <a:off x="2524125" y="2209800"/>
            <a:ext cx="1628775" cy="1571625"/>
          </a:xfrm>
          <a:prstGeom xmlns:a="http://schemas.openxmlformats.org/drawingml/2006/main" prst="rect">
            <a:avLst/>
          </a:prstGeom>
          <a:solidFill xmlns:a="http://schemas.openxmlformats.org/drawingml/2006/main">
            <a:srgbClr val="EDF2E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2FD41FC-32C9-4A7C-A550-771B19DB4E6C}"/>
              </a:ext>
            </a:extLst>
          </p:cNvPr>
          <p:cNvSpPr>
            <a:spLocks xmlns:a="http://schemas.openxmlformats.org/drawingml/2006/main" noGrp="1"/>
          </p:cNvSpPr>
          <p:nvPr/>
        </p:nvSpPr>
        <p:spPr>
          <a:xfrm xmlns:a="http://schemas.openxmlformats.org/drawingml/2006/main">
            <a:off x="2676525" y="2352675"/>
            <a:ext cx="13239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448E1AB0-F2E6-46EE-A46F-9DE7EF2BEBFA}"/>
              </a:ext>
            </a:extLst>
          </p:cNvPr>
          <p:cNvSpPr>
            <a:spLocks xmlns:a="http://schemas.openxmlformats.org/drawingml/2006/main" noGrp="1"/>
          </p:cNvSpPr>
          <p:nvPr/>
        </p:nvSpPr>
        <p:spPr>
          <a:xfrm xmlns:a="http://schemas.openxmlformats.org/drawingml/2006/main">
            <a:off x="2676525" y="2714625"/>
            <a:ext cx="13239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Veri</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kalitesi</a:t>
            </a:r>
          </a:p>
        </p:txBody>
      </p:sp>
      <p:sp>
        <p:nvSpPr>
          <p:cNvPr id="11" name="">
            <a:extLst xmlns:a="http://schemas.openxmlformats.org/drawingml/2006/main">
              <a:ext uri="{FF2B5EF4-FFF2-40B4-BE49-F238E27FC236}">
                <a16:creationId xmlns:a16="http://schemas.microsoft.com/office/drawing/2014/main" id="{3CC1DDCB-B508-40C7-A4AD-8629E500E013}"/>
              </a:ext>
            </a:extLst>
          </p:cNvPr>
          <p:cNvSpPr>
            <a:spLocks xmlns:a="http://schemas.openxmlformats.org/drawingml/2006/main" noGrp="1"/>
          </p:cNvSpPr>
          <p:nvPr/>
        </p:nvSpPr>
        <p:spPr>
          <a:xfrm xmlns:a="http://schemas.openxmlformats.org/drawingml/2006/main">
            <a:off x="4362450" y="2209800"/>
            <a:ext cx="1628775" cy="157162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037DE0E-EFFD-4DFF-8C82-5B264B133C39}"/>
              </a:ext>
            </a:extLst>
          </p:cNvPr>
          <p:cNvSpPr>
            <a:spLocks xmlns:a="http://schemas.openxmlformats.org/drawingml/2006/main" noGrp="1"/>
          </p:cNvSpPr>
          <p:nvPr/>
        </p:nvSpPr>
        <p:spPr>
          <a:xfrm xmlns:a="http://schemas.openxmlformats.org/drawingml/2006/main">
            <a:off x="4514850" y="2352675"/>
            <a:ext cx="13239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3520DA8F-5C25-40D2-9A27-DB168413843A}"/>
              </a:ext>
            </a:extLst>
          </p:cNvPr>
          <p:cNvSpPr>
            <a:spLocks xmlns:a="http://schemas.openxmlformats.org/drawingml/2006/main" noGrp="1"/>
          </p:cNvSpPr>
          <p:nvPr/>
        </p:nvSpPr>
        <p:spPr>
          <a:xfrm xmlns:a="http://schemas.openxmlformats.org/drawingml/2006/main">
            <a:off x="4514850" y="2714625"/>
            <a:ext cx="13239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Mizan</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mutabakatı</a:t>
            </a:r>
          </a:p>
        </p:txBody>
      </p:sp>
      <p:sp>
        <p:nvSpPr>
          <p:cNvPr id="14" name="">
            <a:extLst xmlns:a="http://schemas.openxmlformats.org/drawingml/2006/main">
              <a:ext uri="{FF2B5EF4-FFF2-40B4-BE49-F238E27FC236}">
                <a16:creationId xmlns:a16="http://schemas.microsoft.com/office/drawing/2014/main" id="{503DD837-50C0-4666-89AA-5209C1B228D2}"/>
              </a:ext>
            </a:extLst>
          </p:cNvPr>
          <p:cNvSpPr>
            <a:spLocks xmlns:a="http://schemas.openxmlformats.org/drawingml/2006/main" noGrp="1"/>
          </p:cNvSpPr>
          <p:nvPr/>
        </p:nvSpPr>
        <p:spPr>
          <a:xfrm xmlns:a="http://schemas.openxmlformats.org/drawingml/2006/main">
            <a:off x="6200775" y="2209800"/>
            <a:ext cx="1628775" cy="1571625"/>
          </a:xfrm>
          <a:prstGeom xmlns:a="http://schemas.openxmlformats.org/drawingml/2006/main" prst="rect">
            <a:avLst/>
          </a:prstGeom>
          <a:solidFill xmlns:a="http://schemas.openxmlformats.org/drawingml/2006/main">
            <a:srgbClr val="EDF2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62C5908-0F1A-4C34-BA55-DCBFD0AC98AD}"/>
              </a:ext>
            </a:extLst>
          </p:cNvPr>
          <p:cNvSpPr>
            <a:spLocks xmlns:a="http://schemas.openxmlformats.org/drawingml/2006/main" noGrp="1"/>
          </p:cNvSpPr>
          <p:nvPr/>
        </p:nvSpPr>
        <p:spPr>
          <a:xfrm xmlns:a="http://schemas.openxmlformats.org/drawingml/2006/main">
            <a:off x="6353175" y="2352675"/>
            <a:ext cx="13239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02275ED2-C93D-448B-B65B-231AB3A7C4A8}"/>
              </a:ext>
            </a:extLst>
          </p:cNvPr>
          <p:cNvSpPr>
            <a:spLocks xmlns:a="http://schemas.openxmlformats.org/drawingml/2006/main" noGrp="1"/>
          </p:cNvSpPr>
          <p:nvPr/>
        </p:nvSpPr>
        <p:spPr>
          <a:xfrm xmlns:a="http://schemas.openxmlformats.org/drawingml/2006/main">
            <a:off x="6353175" y="2714625"/>
            <a:ext cx="13239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Analiz</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raporları</a:t>
            </a:r>
          </a:p>
        </p:txBody>
      </p:sp>
      <p:sp>
        <p:nvSpPr>
          <p:cNvPr id="17" name="">
            <a:extLst xmlns:a="http://schemas.openxmlformats.org/drawingml/2006/main">
              <a:ext uri="{FF2B5EF4-FFF2-40B4-BE49-F238E27FC236}">
                <a16:creationId xmlns:a16="http://schemas.microsoft.com/office/drawing/2014/main" id="{BAF4C712-2584-4256-A533-CDB5EB503D25}"/>
              </a:ext>
            </a:extLst>
          </p:cNvPr>
          <p:cNvSpPr>
            <a:spLocks xmlns:a="http://schemas.openxmlformats.org/drawingml/2006/main" noGrp="1"/>
          </p:cNvSpPr>
          <p:nvPr/>
        </p:nvSpPr>
        <p:spPr>
          <a:xfrm xmlns:a="http://schemas.openxmlformats.org/drawingml/2006/main">
            <a:off x="8039100" y="2209800"/>
            <a:ext cx="1628775" cy="157162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6D5A768-3F40-4073-8AFE-8B658924D63D}"/>
              </a:ext>
            </a:extLst>
          </p:cNvPr>
          <p:cNvSpPr>
            <a:spLocks xmlns:a="http://schemas.openxmlformats.org/drawingml/2006/main" noGrp="1"/>
          </p:cNvSpPr>
          <p:nvPr/>
        </p:nvSpPr>
        <p:spPr>
          <a:xfrm xmlns:a="http://schemas.openxmlformats.org/drawingml/2006/main">
            <a:off x="8191500" y="2352675"/>
            <a:ext cx="13239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05</a:t>
            </a:r>
          </a:p>
        </p:txBody>
      </p:sp>
      <p:sp>
        <p:nvSpPr>
          <p:cNvPr id="19" name="">
            <a:extLst xmlns:a="http://schemas.openxmlformats.org/drawingml/2006/main">
              <a:ext uri="{FF2B5EF4-FFF2-40B4-BE49-F238E27FC236}">
                <a16:creationId xmlns:a16="http://schemas.microsoft.com/office/drawing/2014/main" id="{F48C84E3-CF3F-4A10-A4D1-DC543BE4E060}"/>
              </a:ext>
            </a:extLst>
          </p:cNvPr>
          <p:cNvSpPr>
            <a:spLocks xmlns:a="http://schemas.openxmlformats.org/drawingml/2006/main" noGrp="1"/>
          </p:cNvSpPr>
          <p:nvPr/>
        </p:nvSpPr>
        <p:spPr>
          <a:xfrm xmlns:a="http://schemas.openxmlformats.org/drawingml/2006/main">
            <a:off x="8191500" y="2714625"/>
            <a:ext cx="13239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Model</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oluşturma</a:t>
            </a:r>
          </a:p>
        </p:txBody>
      </p:sp>
      <p:sp>
        <p:nvSpPr>
          <p:cNvPr id="20" name="">
            <a:extLst xmlns:a="http://schemas.openxmlformats.org/drawingml/2006/main">
              <a:ext uri="{FF2B5EF4-FFF2-40B4-BE49-F238E27FC236}">
                <a16:creationId xmlns:a16="http://schemas.microsoft.com/office/drawing/2014/main" id="{6697F156-EE9E-4C8F-83F3-6BDCFD77F81A}"/>
              </a:ext>
            </a:extLst>
          </p:cNvPr>
          <p:cNvSpPr>
            <a:spLocks xmlns:a="http://schemas.openxmlformats.org/drawingml/2006/main" noGrp="1"/>
          </p:cNvSpPr>
          <p:nvPr/>
        </p:nvSpPr>
        <p:spPr>
          <a:xfrm xmlns:a="http://schemas.openxmlformats.org/drawingml/2006/main">
            <a:off x="9877425" y="2209800"/>
            <a:ext cx="1628775" cy="1571625"/>
          </a:xfrm>
          <a:prstGeom xmlns:a="http://schemas.openxmlformats.org/drawingml/2006/main" prst="rect">
            <a:avLst/>
          </a:prstGeom>
          <a:solidFill xmlns:a="http://schemas.openxmlformats.org/drawingml/2006/main">
            <a:srgbClr val="EDF2E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7A2F02C-AEED-48E8-9164-075ED8A7B499}"/>
              </a:ext>
            </a:extLst>
          </p:cNvPr>
          <p:cNvSpPr>
            <a:spLocks xmlns:a="http://schemas.openxmlformats.org/drawingml/2006/main" noGrp="1"/>
          </p:cNvSpPr>
          <p:nvPr/>
        </p:nvSpPr>
        <p:spPr>
          <a:xfrm xmlns:a="http://schemas.openxmlformats.org/drawingml/2006/main">
            <a:off x="10029825" y="2352675"/>
            <a:ext cx="13239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06</a:t>
            </a:r>
          </a:p>
        </p:txBody>
      </p:sp>
      <p:sp>
        <p:nvSpPr>
          <p:cNvPr id="22" name="">
            <a:extLst xmlns:a="http://schemas.openxmlformats.org/drawingml/2006/main">
              <a:ext uri="{FF2B5EF4-FFF2-40B4-BE49-F238E27FC236}">
                <a16:creationId xmlns:a16="http://schemas.microsoft.com/office/drawing/2014/main" id="{7CD0DF11-55D6-4F7F-AC85-0DDC09358F28}"/>
              </a:ext>
            </a:extLst>
          </p:cNvPr>
          <p:cNvSpPr>
            <a:spLocks xmlns:a="http://schemas.openxmlformats.org/drawingml/2006/main" noGrp="1"/>
          </p:cNvSpPr>
          <p:nvPr/>
        </p:nvSpPr>
        <p:spPr>
          <a:xfrm xmlns:a="http://schemas.openxmlformats.org/drawingml/2006/main">
            <a:off x="10029825" y="2714625"/>
            <a:ext cx="13239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Sonuç ve</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açıklama</a:t>
            </a:r>
          </a:p>
        </p:txBody>
      </p:sp>
      <p:cxnSp>
        <p:nvCxnSpPr>
          <p:cNvPr id="53" name=""/>
          <p:cNvCxnSpPr>
            <a:stCxn xmlns:a="http://schemas.openxmlformats.org/drawingml/2006/main" id="5" idx="3"/>
            <a:endCxn xmlns:a="http://schemas.openxmlformats.org/drawingml/2006/main" id="8" idx="1"/>
          </p:cNvCxnSpPr>
          <p:nvPr/>
        </p:nvCxnSpPr>
        <p:spPr>
          <a:xfrm xmlns:a="http://schemas.openxmlformats.org/drawingml/2006/main">
            <a:off x="2314575" y="2995613"/>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cxnSp>
        <p:nvCxnSpPr>
          <p:cNvPr id="54" name=""/>
          <p:cNvCxnSpPr>
            <a:stCxn xmlns:a="http://schemas.openxmlformats.org/drawingml/2006/main" id="8" idx="3"/>
            <a:endCxn xmlns:a="http://schemas.openxmlformats.org/drawingml/2006/main" id="11" idx="1"/>
          </p:cNvCxnSpPr>
          <p:nvPr/>
        </p:nvCxnSpPr>
        <p:spPr>
          <a:xfrm xmlns:a="http://schemas.openxmlformats.org/drawingml/2006/main">
            <a:off x="4152900" y="2995613"/>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cxnSp>
        <p:nvCxnSpPr>
          <p:cNvPr id="55" name=""/>
          <p:cNvCxnSpPr>
            <a:stCxn xmlns:a="http://schemas.openxmlformats.org/drawingml/2006/main" id="11" idx="3"/>
            <a:endCxn xmlns:a="http://schemas.openxmlformats.org/drawingml/2006/main" id="14" idx="1"/>
          </p:cNvCxnSpPr>
          <p:nvPr/>
        </p:nvCxnSpPr>
        <p:spPr>
          <a:xfrm xmlns:a="http://schemas.openxmlformats.org/drawingml/2006/main">
            <a:off x="5991225" y="2995613"/>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cxnSp>
        <p:nvCxnSpPr>
          <p:cNvPr id="56" name=""/>
          <p:cNvCxnSpPr>
            <a:stCxn xmlns:a="http://schemas.openxmlformats.org/drawingml/2006/main" id="14" idx="3"/>
            <a:endCxn xmlns:a="http://schemas.openxmlformats.org/drawingml/2006/main" id="17" idx="1"/>
          </p:cNvCxnSpPr>
          <p:nvPr/>
        </p:nvCxnSpPr>
        <p:spPr>
          <a:xfrm xmlns:a="http://schemas.openxmlformats.org/drawingml/2006/main">
            <a:off x="7829550" y="2995613"/>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cxnSp>
        <p:nvCxnSpPr>
          <p:cNvPr id="57" name=""/>
          <p:cNvCxnSpPr>
            <a:stCxn xmlns:a="http://schemas.openxmlformats.org/drawingml/2006/main" id="17" idx="3"/>
            <a:endCxn xmlns:a="http://schemas.openxmlformats.org/drawingml/2006/main" id="20" idx="1"/>
          </p:cNvCxnSpPr>
          <p:nvPr/>
        </p:nvCxnSpPr>
        <p:spPr>
          <a:xfrm xmlns:a="http://schemas.openxmlformats.org/drawingml/2006/main">
            <a:off x="9667875" y="2995613"/>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sp>
        <p:nvSpPr>
          <p:cNvPr id="28" name="">
            <a:extLst xmlns:a="http://schemas.openxmlformats.org/drawingml/2006/main">
              <a:ext uri="{FF2B5EF4-FFF2-40B4-BE49-F238E27FC236}">
                <a16:creationId xmlns:a16="http://schemas.microsoft.com/office/drawing/2014/main" id="{F27FA28F-44E8-47A9-AA88-87D86658B53D}"/>
              </a:ext>
            </a:extLst>
          </p:cNvPr>
          <p:cNvSpPr>
            <a:spLocks xmlns:a="http://schemas.openxmlformats.org/drawingml/2006/main" noGrp="1"/>
          </p:cNvSpPr>
          <p:nvPr/>
        </p:nvSpPr>
        <p:spPr>
          <a:xfrm xmlns:a="http://schemas.openxmlformats.org/drawingml/2006/main">
            <a:off x="685800" y="4314825"/>
            <a:ext cx="10820400" cy="0"/>
          </a:xfrm>
          <a:prstGeom xmlns:a="http://schemas.openxmlformats.org/drawingml/2006/main" prst="line">
            <a:avLst/>
          </a:prstGeom>
          <a:noFill xmlns:a="http://schemas.openxmlformats.org/drawingml/2006/main"/>
          <a:ln xmlns:a="http://schemas.openxmlformats.org/drawingml/2006/main" w="9525">
            <a:solidFill>
              <a:srgbClr val="286C63"/>
            </a:solidFill>
          </a:ln>
        </p:spPr>
      </p:sp>
      <p:sp>
        <p:nvSpPr>
          <p:cNvPr id="29" name="">
            <a:extLst xmlns:a="http://schemas.openxmlformats.org/drawingml/2006/main">
              <a:ext uri="{FF2B5EF4-FFF2-40B4-BE49-F238E27FC236}">
                <a16:creationId xmlns:a16="http://schemas.microsoft.com/office/drawing/2014/main" id="{7FE65134-4056-4620-9407-1B5A01CD2027}"/>
              </a:ext>
            </a:extLst>
          </p:cNvPr>
          <p:cNvSpPr>
            <a:spLocks xmlns:a="http://schemas.openxmlformats.org/drawingml/2006/main" noGrp="1"/>
          </p:cNvSpPr>
          <p:nvPr/>
        </p:nvSpPr>
        <p:spPr>
          <a:xfrm xmlns:a="http://schemas.openxmlformats.org/drawingml/2006/main">
            <a:off x="685800" y="457200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86C63"/>
                </a:solidFill>
                <a:latin typeface="Arial"/>
                <a:ea typeface="Arial"/>
                <a:cs typeface="Arial"/>
              </a:defRPr>
            </a:pPr>
            <a:r>
              <a:rPr sz="2025" b="1">
                <a:solidFill>
                  <a:srgbClr val="286C63"/>
                </a:solidFill>
                <a:latin typeface="Arial"/>
                <a:ea typeface="Arial"/>
                <a:cs typeface="Arial"/>
              </a:rPr>
              <a:t>AGENT</a:t>
            </a:r>
          </a:p>
        </p:txBody>
      </p:sp>
      <p:sp>
        <p:nvSpPr>
          <p:cNvPr id="30" name="">
            <a:extLst xmlns:a="http://schemas.openxmlformats.org/drawingml/2006/main">
              <a:ext uri="{FF2B5EF4-FFF2-40B4-BE49-F238E27FC236}">
                <a16:creationId xmlns:a16="http://schemas.microsoft.com/office/drawing/2014/main" id="{7B692E27-2C0A-43E3-AFE4-C1E35ED9C5B7}"/>
              </a:ext>
            </a:extLst>
          </p:cNvPr>
          <p:cNvSpPr>
            <a:spLocks xmlns:a="http://schemas.openxmlformats.org/drawingml/2006/main" noGrp="1"/>
          </p:cNvSpPr>
          <p:nvPr/>
        </p:nvSpPr>
        <p:spPr>
          <a:xfrm xmlns:a="http://schemas.openxmlformats.org/drawingml/2006/main">
            <a:off x="2724150" y="4591050"/>
            <a:ext cx="876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Süreci başlatır, durumunu takip eder, istisnaları uzmana taşır</a:t>
            </a:r>
          </a:p>
        </p:txBody>
      </p:sp>
    </p:spTree>
    <p:extLst>
      <p:ext uri="{BB962C8B-B14F-4D97-AF65-F5344CB8AC3E}">
        <p14:creationId xmlns:p14="http://schemas.microsoft.com/office/powerpoint/2010/main" val="100330931"/>
      </p:ext>
    </p:extLst>
  </p:cSld>
</p:sld>
</file>

<file path=ppt/slides/slide5.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B46908D-9CCA-494F-8C79-F8DFB5F88459}"/>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Veri ve model aynı bağlamı paylaşır</a:t>
            </a:r>
          </a:p>
        </p:txBody>
      </p:sp>
      <p:sp>
        <p:nvSpPr>
          <p:cNvPr id="2" name="">
            <a:extLst xmlns:a="http://schemas.openxmlformats.org/drawingml/2006/main">
              <a:ext uri="{FF2B5EF4-FFF2-40B4-BE49-F238E27FC236}">
                <a16:creationId xmlns:a16="http://schemas.microsoft.com/office/drawing/2014/main" id="{DE56F9A8-5889-430D-9D14-7374AB9EF849}"/>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EF9AAA5A-4CF8-4F89-8716-F5B673CFF9B4}"/>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A22F35B-1478-4C6F-9215-D0A503833ED1}"/>
              </a:ext>
            </a:extLst>
          </p:cNvPr>
          <p:cNvSpPr>
            <a:spLocks xmlns:a="http://schemas.openxmlformats.org/drawingml/2006/main" noGrp="1"/>
          </p:cNvSpPr>
          <p:nvPr/>
        </p:nvSpPr>
        <p:spPr>
          <a:xfrm xmlns:a="http://schemas.openxmlformats.org/drawingml/2006/main">
            <a:off x="685800" y="6029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26766"/>
                </a:solidFill>
                <a:latin typeface="Arial"/>
                <a:ea typeface="Arial"/>
                <a:cs typeface="Arial"/>
              </a:defRPr>
            </a:pPr>
            <a:r>
              <a:rPr sz="1200" b="0">
                <a:solidFill>
                  <a:srgbClr val="526766"/>
                </a:solidFill>
                <a:latin typeface="Arial"/>
                <a:ea typeface="Arial"/>
                <a:cs typeface="Arial"/>
              </a:rPr>
              <a:t>Hedef tasarım: veri sürümü, kontrol sonucu ve model bağlantısını kalıcılaştırma</a:t>
            </a:r>
          </a:p>
        </p:txBody>
      </p:sp>
      <p:sp>
        <p:nvSpPr>
          <p:cNvPr id="5" name="">
            <a:extLst xmlns:a="http://schemas.openxmlformats.org/drawingml/2006/main">
              <a:ext uri="{FF2B5EF4-FFF2-40B4-BE49-F238E27FC236}">
                <a16:creationId xmlns:a16="http://schemas.microsoft.com/office/drawing/2014/main" id="{8D23049C-5420-49A0-AEC0-25ABD1DE0E82}"/>
              </a:ext>
            </a:extLst>
          </p:cNvPr>
          <p:cNvSpPr>
            <a:spLocks xmlns:a="http://schemas.openxmlformats.org/drawingml/2006/main" noGrp="1"/>
          </p:cNvSpPr>
          <p:nvPr/>
        </p:nvSpPr>
        <p:spPr>
          <a:xfrm xmlns:a="http://schemas.openxmlformats.org/drawingml/2006/main">
            <a:off x="685800" y="17335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526766"/>
                </a:solidFill>
                <a:latin typeface="Arial"/>
                <a:ea typeface="Arial"/>
                <a:cs typeface="Arial"/>
              </a:defRPr>
            </a:pPr>
            <a:r>
              <a:rPr sz="2325" b="0">
                <a:solidFill>
                  <a:srgbClr val="526766"/>
                </a:solidFill>
                <a:latin typeface="Arial"/>
                <a:ea typeface="Arial"/>
                <a:cs typeface="Arial"/>
              </a:rPr>
              <a:t>Bir sonucun arkasındaki zincir</a:t>
            </a:r>
          </a:p>
        </p:txBody>
      </p:sp>
      <p:sp>
        <p:nvSpPr>
          <p:cNvPr id="6" name="">
            <a:extLst xmlns:a="http://schemas.openxmlformats.org/drawingml/2006/main">
              <a:ext uri="{FF2B5EF4-FFF2-40B4-BE49-F238E27FC236}">
                <a16:creationId xmlns:a16="http://schemas.microsoft.com/office/drawing/2014/main" id="{EA5DF864-B9D6-45B4-85AA-A51E314E4A35}"/>
              </a:ext>
            </a:extLst>
          </p:cNvPr>
          <p:cNvSpPr>
            <a:spLocks xmlns:a="http://schemas.openxmlformats.org/drawingml/2006/main" noGrp="1"/>
          </p:cNvSpPr>
          <p:nvPr/>
        </p:nvSpPr>
        <p:spPr>
          <a:xfrm xmlns:a="http://schemas.openxmlformats.org/drawingml/2006/main">
            <a:off x="685800" y="2828925"/>
            <a:ext cx="1996440" cy="147637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6CD0A56-32C4-4BC6-973B-CA278320BAD4}"/>
              </a:ext>
            </a:extLst>
          </p:cNvPr>
          <p:cNvSpPr>
            <a:spLocks xmlns:a="http://schemas.openxmlformats.org/drawingml/2006/main" noGrp="1"/>
          </p:cNvSpPr>
          <p:nvPr/>
        </p:nvSpPr>
        <p:spPr>
          <a:xfrm xmlns:a="http://schemas.openxmlformats.org/drawingml/2006/main">
            <a:off x="838200" y="2971800"/>
            <a:ext cx="169164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9E181F06-9841-4EFD-9E7E-113AD927B0D4}"/>
              </a:ext>
            </a:extLst>
          </p:cNvPr>
          <p:cNvSpPr>
            <a:spLocks xmlns:a="http://schemas.openxmlformats.org/drawingml/2006/main" noGrp="1"/>
          </p:cNvSpPr>
          <p:nvPr/>
        </p:nvSpPr>
        <p:spPr>
          <a:xfrm xmlns:a="http://schemas.openxmlformats.org/drawingml/2006/main">
            <a:off x="838200" y="3333750"/>
            <a:ext cx="169164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Kaynak</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veri</a:t>
            </a:r>
          </a:p>
        </p:txBody>
      </p:sp>
      <p:sp>
        <p:nvSpPr>
          <p:cNvPr id="9" name="">
            <a:extLst xmlns:a="http://schemas.openxmlformats.org/drawingml/2006/main">
              <a:ext uri="{FF2B5EF4-FFF2-40B4-BE49-F238E27FC236}">
                <a16:creationId xmlns:a16="http://schemas.microsoft.com/office/drawing/2014/main" id="{3F1C1812-C591-441C-915B-D8E4DF4B8DFA}"/>
              </a:ext>
            </a:extLst>
          </p:cNvPr>
          <p:cNvSpPr>
            <a:spLocks xmlns:a="http://schemas.openxmlformats.org/drawingml/2006/main" noGrp="1"/>
          </p:cNvSpPr>
          <p:nvPr/>
        </p:nvSpPr>
        <p:spPr>
          <a:xfrm xmlns:a="http://schemas.openxmlformats.org/drawingml/2006/main">
            <a:off x="2891790" y="2828925"/>
            <a:ext cx="1996440" cy="1476375"/>
          </a:xfrm>
          <a:prstGeom xmlns:a="http://schemas.openxmlformats.org/drawingml/2006/main" prst="rect">
            <a:avLst/>
          </a:prstGeom>
          <a:solidFill xmlns:a="http://schemas.openxmlformats.org/drawingml/2006/main">
            <a:srgbClr val="EDF2E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326B68C-CDBB-456C-9566-C2CD4C19CF3F}"/>
              </a:ext>
            </a:extLst>
          </p:cNvPr>
          <p:cNvSpPr>
            <a:spLocks xmlns:a="http://schemas.openxmlformats.org/drawingml/2006/main" noGrp="1"/>
          </p:cNvSpPr>
          <p:nvPr/>
        </p:nvSpPr>
        <p:spPr>
          <a:xfrm xmlns:a="http://schemas.openxmlformats.org/drawingml/2006/main">
            <a:off x="3044190" y="2971800"/>
            <a:ext cx="169164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E0C0EA65-442E-43AF-814E-2AC3A6B73054}"/>
              </a:ext>
            </a:extLst>
          </p:cNvPr>
          <p:cNvSpPr>
            <a:spLocks xmlns:a="http://schemas.openxmlformats.org/drawingml/2006/main" noGrp="1"/>
          </p:cNvSpPr>
          <p:nvPr/>
        </p:nvSpPr>
        <p:spPr>
          <a:xfrm xmlns:a="http://schemas.openxmlformats.org/drawingml/2006/main">
            <a:off x="3044190" y="3333750"/>
            <a:ext cx="169164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Kontrol</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sonucu</a:t>
            </a:r>
          </a:p>
        </p:txBody>
      </p:sp>
      <p:sp>
        <p:nvSpPr>
          <p:cNvPr id="12" name="">
            <a:extLst xmlns:a="http://schemas.openxmlformats.org/drawingml/2006/main">
              <a:ext uri="{FF2B5EF4-FFF2-40B4-BE49-F238E27FC236}">
                <a16:creationId xmlns:a16="http://schemas.microsoft.com/office/drawing/2014/main" id="{6ED8350F-921A-46C1-92FE-CDB4519EBA4C}"/>
              </a:ext>
            </a:extLst>
          </p:cNvPr>
          <p:cNvSpPr>
            <a:spLocks xmlns:a="http://schemas.openxmlformats.org/drawingml/2006/main" noGrp="1"/>
          </p:cNvSpPr>
          <p:nvPr/>
        </p:nvSpPr>
        <p:spPr>
          <a:xfrm xmlns:a="http://schemas.openxmlformats.org/drawingml/2006/main">
            <a:off x="5097780" y="2828925"/>
            <a:ext cx="1996440" cy="147637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CEB3C56-72DA-4FDC-82F0-7B908062CE9B}"/>
              </a:ext>
            </a:extLst>
          </p:cNvPr>
          <p:cNvSpPr>
            <a:spLocks xmlns:a="http://schemas.openxmlformats.org/drawingml/2006/main" noGrp="1"/>
          </p:cNvSpPr>
          <p:nvPr/>
        </p:nvSpPr>
        <p:spPr>
          <a:xfrm xmlns:a="http://schemas.openxmlformats.org/drawingml/2006/main">
            <a:off x="5250180" y="2971800"/>
            <a:ext cx="169164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A10D6C74-3CD3-4A2B-8834-15127EBD4D06}"/>
              </a:ext>
            </a:extLst>
          </p:cNvPr>
          <p:cNvSpPr>
            <a:spLocks xmlns:a="http://schemas.openxmlformats.org/drawingml/2006/main" noGrp="1"/>
          </p:cNvSpPr>
          <p:nvPr/>
        </p:nvSpPr>
        <p:spPr>
          <a:xfrm xmlns:a="http://schemas.openxmlformats.org/drawingml/2006/main">
            <a:off x="5250180" y="3333750"/>
            <a:ext cx="169164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Varsayım</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seti</a:t>
            </a:r>
          </a:p>
        </p:txBody>
      </p:sp>
      <p:sp>
        <p:nvSpPr>
          <p:cNvPr id="15" name="">
            <a:extLst xmlns:a="http://schemas.openxmlformats.org/drawingml/2006/main">
              <a:ext uri="{FF2B5EF4-FFF2-40B4-BE49-F238E27FC236}">
                <a16:creationId xmlns:a16="http://schemas.microsoft.com/office/drawing/2014/main" id="{FDA0396E-3DB3-4FB6-849F-12CAE1C5D512}"/>
              </a:ext>
            </a:extLst>
          </p:cNvPr>
          <p:cNvSpPr>
            <a:spLocks xmlns:a="http://schemas.openxmlformats.org/drawingml/2006/main" noGrp="1"/>
          </p:cNvSpPr>
          <p:nvPr/>
        </p:nvSpPr>
        <p:spPr>
          <a:xfrm xmlns:a="http://schemas.openxmlformats.org/drawingml/2006/main">
            <a:off x="7303770" y="2828925"/>
            <a:ext cx="1996440" cy="1476375"/>
          </a:xfrm>
          <a:prstGeom xmlns:a="http://schemas.openxmlformats.org/drawingml/2006/main" prst="rect">
            <a:avLst/>
          </a:prstGeom>
          <a:solidFill xmlns:a="http://schemas.openxmlformats.org/drawingml/2006/main">
            <a:srgbClr val="EDF2E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37E62E4-3986-466D-95E8-2BB0902C6FE2}"/>
              </a:ext>
            </a:extLst>
          </p:cNvPr>
          <p:cNvSpPr>
            <a:spLocks xmlns:a="http://schemas.openxmlformats.org/drawingml/2006/main" noGrp="1"/>
          </p:cNvSpPr>
          <p:nvPr/>
        </p:nvSpPr>
        <p:spPr>
          <a:xfrm xmlns:a="http://schemas.openxmlformats.org/drawingml/2006/main">
            <a:off x="7456170" y="2971800"/>
            <a:ext cx="169164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E0A79C70-485D-4922-9CC7-F6B406F93C1D}"/>
              </a:ext>
            </a:extLst>
          </p:cNvPr>
          <p:cNvSpPr>
            <a:spLocks xmlns:a="http://schemas.openxmlformats.org/drawingml/2006/main" noGrp="1"/>
          </p:cNvSpPr>
          <p:nvPr/>
        </p:nvSpPr>
        <p:spPr>
          <a:xfrm xmlns:a="http://schemas.openxmlformats.org/drawingml/2006/main">
            <a:off x="7456170" y="3333750"/>
            <a:ext cx="169164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Model</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sürümü</a:t>
            </a:r>
          </a:p>
        </p:txBody>
      </p:sp>
      <p:sp>
        <p:nvSpPr>
          <p:cNvPr id="18" name="">
            <a:extLst xmlns:a="http://schemas.openxmlformats.org/drawingml/2006/main">
              <a:ext uri="{FF2B5EF4-FFF2-40B4-BE49-F238E27FC236}">
                <a16:creationId xmlns:a16="http://schemas.microsoft.com/office/drawing/2014/main" id="{2268725B-18DE-44F0-97F8-C70FA80422FC}"/>
              </a:ext>
            </a:extLst>
          </p:cNvPr>
          <p:cNvSpPr>
            <a:spLocks xmlns:a="http://schemas.openxmlformats.org/drawingml/2006/main" noGrp="1"/>
          </p:cNvSpPr>
          <p:nvPr/>
        </p:nvSpPr>
        <p:spPr>
          <a:xfrm xmlns:a="http://schemas.openxmlformats.org/drawingml/2006/main">
            <a:off x="9509760" y="2828925"/>
            <a:ext cx="1996440" cy="147637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1AA6B26-FC72-40AE-8FC8-1E151AEFFCA6}"/>
              </a:ext>
            </a:extLst>
          </p:cNvPr>
          <p:cNvSpPr>
            <a:spLocks xmlns:a="http://schemas.openxmlformats.org/drawingml/2006/main" noGrp="1"/>
          </p:cNvSpPr>
          <p:nvPr/>
        </p:nvSpPr>
        <p:spPr>
          <a:xfrm xmlns:a="http://schemas.openxmlformats.org/drawingml/2006/main">
            <a:off x="9662160" y="2971800"/>
            <a:ext cx="169164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05</a:t>
            </a:r>
          </a:p>
        </p:txBody>
      </p:sp>
      <p:sp>
        <p:nvSpPr>
          <p:cNvPr id="20" name="">
            <a:extLst xmlns:a="http://schemas.openxmlformats.org/drawingml/2006/main">
              <a:ext uri="{FF2B5EF4-FFF2-40B4-BE49-F238E27FC236}">
                <a16:creationId xmlns:a16="http://schemas.microsoft.com/office/drawing/2014/main" id="{59C2A650-B22B-436C-8765-2D0AC41F27BE}"/>
              </a:ext>
            </a:extLst>
          </p:cNvPr>
          <p:cNvSpPr>
            <a:spLocks xmlns:a="http://schemas.openxmlformats.org/drawingml/2006/main" noGrp="1"/>
          </p:cNvSpPr>
          <p:nvPr/>
        </p:nvSpPr>
        <p:spPr>
          <a:xfrm xmlns:a="http://schemas.openxmlformats.org/drawingml/2006/main">
            <a:off x="9662160" y="3333750"/>
            <a:ext cx="169164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Yönetim</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çıktısı</a:t>
            </a:r>
          </a:p>
        </p:txBody>
      </p:sp>
      <p:cxnSp>
        <p:nvCxnSpPr>
          <p:cNvPr id="47" name=""/>
          <p:cNvCxnSpPr>
            <a:stCxn xmlns:a="http://schemas.openxmlformats.org/drawingml/2006/main" id="6" idx="3"/>
            <a:endCxn xmlns:a="http://schemas.openxmlformats.org/drawingml/2006/main" id="9" idx="1"/>
          </p:cNvCxnSpPr>
          <p:nvPr/>
        </p:nvCxnSpPr>
        <p:spPr>
          <a:xfrm xmlns:a="http://schemas.openxmlformats.org/drawingml/2006/main">
            <a:off x="2682240" y="3567113"/>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cxnSp>
        <p:nvCxnSpPr>
          <p:cNvPr id="48" name=""/>
          <p:cNvCxnSpPr>
            <a:stCxn xmlns:a="http://schemas.openxmlformats.org/drawingml/2006/main" id="9" idx="3"/>
            <a:endCxn xmlns:a="http://schemas.openxmlformats.org/drawingml/2006/main" id="12" idx="1"/>
          </p:cNvCxnSpPr>
          <p:nvPr/>
        </p:nvCxnSpPr>
        <p:spPr>
          <a:xfrm xmlns:a="http://schemas.openxmlformats.org/drawingml/2006/main">
            <a:off x="4888230" y="3567113"/>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cxnSp>
        <p:nvCxnSpPr>
          <p:cNvPr id="49" name=""/>
          <p:cNvCxnSpPr>
            <a:stCxn xmlns:a="http://schemas.openxmlformats.org/drawingml/2006/main" id="12" idx="3"/>
            <a:endCxn xmlns:a="http://schemas.openxmlformats.org/drawingml/2006/main" id="15" idx="1"/>
          </p:cNvCxnSpPr>
          <p:nvPr/>
        </p:nvCxnSpPr>
        <p:spPr>
          <a:xfrm xmlns:a="http://schemas.openxmlformats.org/drawingml/2006/main">
            <a:off x="7094220" y="3567113"/>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cxnSp>
        <p:nvCxnSpPr>
          <p:cNvPr id="50" name=""/>
          <p:cNvCxnSpPr>
            <a:stCxn xmlns:a="http://schemas.openxmlformats.org/drawingml/2006/main" id="15" idx="3"/>
            <a:endCxn xmlns:a="http://schemas.openxmlformats.org/drawingml/2006/main" id="18" idx="1"/>
          </p:cNvCxnSpPr>
          <p:nvPr/>
        </p:nvCxnSpPr>
        <p:spPr>
          <a:xfrm xmlns:a="http://schemas.openxmlformats.org/drawingml/2006/main">
            <a:off x="9300210" y="3567113"/>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sp>
        <p:nvSpPr>
          <p:cNvPr id="25" name="">
            <a:extLst xmlns:a="http://schemas.openxmlformats.org/drawingml/2006/main">
              <a:ext uri="{FF2B5EF4-FFF2-40B4-BE49-F238E27FC236}">
                <a16:creationId xmlns:a16="http://schemas.microsoft.com/office/drawing/2014/main" id="{FC5DAAEF-232D-463D-8448-35040E31DD72}"/>
              </a:ext>
            </a:extLst>
          </p:cNvPr>
          <p:cNvSpPr>
            <a:spLocks xmlns:a="http://schemas.openxmlformats.org/drawingml/2006/main" noGrp="1"/>
          </p:cNvSpPr>
          <p:nvPr/>
        </p:nvSpPr>
        <p:spPr>
          <a:xfrm xmlns:a="http://schemas.openxmlformats.org/drawingml/2006/main">
            <a:off x="685800" y="4857750"/>
            <a:ext cx="857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286C63"/>
                </a:solidFill>
                <a:latin typeface="Arial"/>
                <a:ea typeface="Arial"/>
                <a:cs typeface="Arial"/>
              </a:defRPr>
            </a:pPr>
            <a:r>
              <a:rPr sz="3150" b="1">
                <a:solidFill>
                  <a:srgbClr val="286C63"/>
                </a:solidFill>
                <a:latin typeface="Arial"/>
                <a:ea typeface="Arial"/>
                <a:cs typeface="Arial"/>
              </a:rPr>
              <a:t>“Bu sonuç nereden geldi?”</a:t>
            </a:r>
          </a:p>
        </p:txBody>
      </p:sp>
      <p:sp>
        <p:nvSpPr>
          <p:cNvPr id="26" name="">
            <a:extLst xmlns:a="http://schemas.openxmlformats.org/drawingml/2006/main">
              <a:ext uri="{FF2B5EF4-FFF2-40B4-BE49-F238E27FC236}">
                <a16:creationId xmlns:a16="http://schemas.microsoft.com/office/drawing/2014/main" id="{2BF550C9-E002-47B3-A3C7-C47C0D521DE2}"/>
              </a:ext>
            </a:extLst>
          </p:cNvPr>
          <p:cNvSpPr>
            <a:spLocks xmlns:a="http://schemas.openxmlformats.org/drawingml/2006/main" noGrp="1"/>
          </p:cNvSpPr>
          <p:nvPr/>
        </p:nvSpPr>
        <p:spPr>
          <a:xfrm xmlns:a="http://schemas.openxmlformats.org/drawingml/2006/main">
            <a:off x="685800" y="547687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26766"/>
                </a:solidFill>
                <a:latin typeface="Arial"/>
                <a:ea typeface="Arial"/>
                <a:cs typeface="Arial"/>
              </a:defRPr>
            </a:pPr>
            <a:r>
              <a:rPr sz="1950" b="0">
                <a:solidFill>
                  <a:srgbClr val="526766"/>
                </a:solidFill>
                <a:latin typeface="Arial"/>
                <a:ea typeface="Arial"/>
                <a:cs typeface="Arial"/>
              </a:rPr>
              <a:t>Aynı dönem ve branş bağlamında izlenebilir yanıt</a:t>
            </a:r>
          </a:p>
        </p:txBody>
      </p:sp>
    </p:spTree>
    <p:extLst>
      <p:ext uri="{BB962C8B-B14F-4D97-AF65-F5344CB8AC3E}">
        <p14:creationId xmlns:p14="http://schemas.microsoft.com/office/powerpoint/2010/main" val="1345343586"/>
      </p:ext>
    </p:extLst>
  </p:cSld>
</p:sld>
</file>

<file path=ppt/slides/slide6.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E0EFCCA-FB92-47E6-8117-2243C7E0CAE0}"/>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Veri kalitesi sürecin ilk kontrol kapısı</a:t>
            </a:r>
          </a:p>
        </p:txBody>
      </p:sp>
      <p:sp>
        <p:nvSpPr>
          <p:cNvPr id="2" name="">
            <a:extLst xmlns:a="http://schemas.openxmlformats.org/drawingml/2006/main">
              <a:ext uri="{FF2B5EF4-FFF2-40B4-BE49-F238E27FC236}">
                <a16:creationId xmlns:a16="http://schemas.microsoft.com/office/drawing/2014/main" id="{DE194DD5-FE79-4B3E-84AE-448709B6F5B3}"/>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BD96A9CA-602D-40F5-BB8F-D0BFF08EFA11}"/>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43664F5B-B07F-4222-8D00-201D845EE597}"/>
              </a:ext>
            </a:extLst>
          </p:cNvPr>
          <p:cNvSpPr>
            <a:spLocks xmlns:a="http://schemas.openxmlformats.org/drawingml/2006/main" noGrp="1"/>
          </p:cNvSpPr>
          <p:nvPr/>
        </p:nvSpPr>
        <p:spPr>
          <a:xfrm xmlns:a="http://schemas.openxmlformats.org/drawingml/2006/main">
            <a:off x="685800" y="6029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26766"/>
                </a:solidFill>
                <a:latin typeface="Arial"/>
                <a:ea typeface="Arial"/>
                <a:cs typeface="Arial"/>
              </a:defRPr>
            </a:pPr>
            <a:r>
              <a:rPr sz="1200" b="0">
                <a:solidFill>
                  <a:srgbClr val="526766"/>
                </a:solidFill>
                <a:latin typeface="Arial"/>
                <a:ea typeface="Arial"/>
                <a:cs typeface="Arial"/>
              </a:rPr>
              <a:t>Önerilen otomasyon: kurala dayalı kontroller ve agent destekli istisna incelemesi</a:t>
            </a:r>
          </a:p>
        </p:txBody>
      </p:sp>
      <p:sp>
        <p:nvSpPr>
          <p:cNvPr id="5" name="">
            <a:extLst xmlns:a="http://schemas.openxmlformats.org/drawingml/2006/main">
              <a:ext uri="{FF2B5EF4-FFF2-40B4-BE49-F238E27FC236}">
                <a16:creationId xmlns:a16="http://schemas.microsoft.com/office/drawing/2014/main" id="{DF066666-A541-410D-A6EE-EBE2AF226335}"/>
              </a:ext>
            </a:extLst>
          </p:cNvPr>
          <p:cNvSpPr>
            <a:spLocks xmlns:a="http://schemas.openxmlformats.org/drawingml/2006/main" noGrp="1"/>
          </p:cNvSpPr>
          <p:nvPr/>
        </p:nvSpPr>
        <p:spPr>
          <a:xfrm xmlns:a="http://schemas.openxmlformats.org/drawingml/2006/main">
            <a:off x="685800" y="203835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86C63"/>
                </a:solidFill>
                <a:latin typeface="Arial"/>
                <a:ea typeface="Arial"/>
                <a:cs typeface="Arial"/>
              </a:defRPr>
            </a:pPr>
            <a:r>
              <a:rPr sz="1800" b="1">
                <a:solidFill>
                  <a:srgbClr val="286C6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5FAA95E-6B55-4864-964A-4A52FC80C09F}"/>
              </a:ext>
            </a:extLst>
          </p:cNvPr>
          <p:cNvSpPr>
            <a:spLocks xmlns:a="http://schemas.openxmlformats.org/drawingml/2006/main" noGrp="1"/>
          </p:cNvSpPr>
          <p:nvPr/>
        </p:nvSpPr>
        <p:spPr>
          <a:xfrm xmlns:a="http://schemas.openxmlformats.org/drawingml/2006/main">
            <a:off x="1524000" y="2009775"/>
            <a:ext cx="3571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Alan ve kayıt kontrolleri</a:t>
            </a:r>
          </a:p>
        </p:txBody>
      </p:sp>
      <p:sp>
        <p:nvSpPr>
          <p:cNvPr id="7" name="">
            <a:extLst xmlns:a="http://schemas.openxmlformats.org/drawingml/2006/main">
              <a:ext uri="{FF2B5EF4-FFF2-40B4-BE49-F238E27FC236}">
                <a16:creationId xmlns:a16="http://schemas.microsoft.com/office/drawing/2014/main" id="{968891C3-47BA-4465-8E6F-DEDB367E5C13}"/>
              </a:ext>
            </a:extLst>
          </p:cNvPr>
          <p:cNvSpPr>
            <a:spLocks xmlns:a="http://schemas.openxmlformats.org/drawingml/2006/main" noGrp="1"/>
          </p:cNvSpPr>
          <p:nvPr/>
        </p:nvSpPr>
        <p:spPr>
          <a:xfrm xmlns:a="http://schemas.openxmlformats.org/drawingml/2006/main">
            <a:off x="5572125" y="2038350"/>
            <a:ext cx="561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766"/>
                </a:solidFill>
                <a:latin typeface="Arial"/>
                <a:ea typeface="Arial"/>
                <a:cs typeface="Arial"/>
              </a:defRPr>
            </a:pPr>
            <a:r>
              <a:rPr sz="1800" b="0">
                <a:solidFill>
                  <a:srgbClr val="526766"/>
                </a:solidFill>
                <a:latin typeface="Arial"/>
                <a:ea typeface="Arial"/>
                <a:cs typeface="Arial"/>
              </a:rPr>
              <a:t>Eksik alan, mükerrer kayıt, tarih ve tutar uyumsuzlukları</a:t>
            </a:r>
          </a:p>
        </p:txBody>
      </p:sp>
      <p:sp>
        <p:nvSpPr>
          <p:cNvPr id="8" name="">
            <a:extLst xmlns:a="http://schemas.openxmlformats.org/drawingml/2006/main">
              <a:ext uri="{FF2B5EF4-FFF2-40B4-BE49-F238E27FC236}">
                <a16:creationId xmlns:a16="http://schemas.microsoft.com/office/drawing/2014/main" id="{EFDF2E05-E959-4BAA-A79B-C2780E87226B}"/>
              </a:ext>
            </a:extLst>
          </p:cNvPr>
          <p:cNvSpPr>
            <a:spLocks xmlns:a="http://schemas.openxmlformats.org/drawingml/2006/main" noGrp="1"/>
          </p:cNvSpPr>
          <p:nvPr/>
        </p:nvSpPr>
        <p:spPr>
          <a:xfrm xmlns:a="http://schemas.openxmlformats.org/drawingml/2006/main">
            <a:off x="1524000" y="2886075"/>
            <a:ext cx="9667875" cy="0"/>
          </a:xfrm>
          <a:prstGeom xmlns:a="http://schemas.openxmlformats.org/drawingml/2006/main" prst="line">
            <a:avLst/>
          </a:prstGeom>
          <a:noFill xmlns:a="http://schemas.openxmlformats.org/drawingml/2006/main"/>
          <a:ln xmlns:a="http://schemas.openxmlformats.org/drawingml/2006/main" w="9525">
            <a:solidFill>
              <a:srgbClr val="C6D4CE"/>
            </a:solidFill>
          </a:ln>
        </p:spPr>
      </p:sp>
      <p:sp>
        <p:nvSpPr>
          <p:cNvPr id="9" name="">
            <a:extLst xmlns:a="http://schemas.openxmlformats.org/drawingml/2006/main">
              <a:ext uri="{FF2B5EF4-FFF2-40B4-BE49-F238E27FC236}">
                <a16:creationId xmlns:a16="http://schemas.microsoft.com/office/drawing/2014/main" id="{1B80223F-4598-4BAD-BBD8-F6A6B73DB3C1}"/>
              </a:ext>
            </a:extLst>
          </p:cNvPr>
          <p:cNvSpPr>
            <a:spLocks xmlns:a="http://schemas.openxmlformats.org/drawingml/2006/main" noGrp="1"/>
          </p:cNvSpPr>
          <p:nvPr/>
        </p:nvSpPr>
        <p:spPr>
          <a:xfrm xmlns:a="http://schemas.openxmlformats.org/drawingml/2006/main">
            <a:off x="685800" y="3267075"/>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86C63"/>
                </a:solidFill>
                <a:latin typeface="Arial"/>
                <a:ea typeface="Arial"/>
                <a:cs typeface="Arial"/>
              </a:defRPr>
            </a:pPr>
            <a:r>
              <a:rPr sz="1800" b="1">
                <a:solidFill>
                  <a:srgbClr val="286C63"/>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292E9EFA-63FB-4A89-9991-F28C548F8A9D}"/>
              </a:ext>
            </a:extLst>
          </p:cNvPr>
          <p:cNvSpPr>
            <a:spLocks xmlns:a="http://schemas.openxmlformats.org/drawingml/2006/main" noGrp="1"/>
          </p:cNvSpPr>
          <p:nvPr/>
        </p:nvSpPr>
        <p:spPr>
          <a:xfrm xmlns:a="http://schemas.openxmlformats.org/drawingml/2006/main">
            <a:off x="1524000" y="3238500"/>
            <a:ext cx="3571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Dönem karşılaştırması</a:t>
            </a:r>
          </a:p>
        </p:txBody>
      </p:sp>
      <p:sp>
        <p:nvSpPr>
          <p:cNvPr id="11" name="">
            <a:extLst xmlns:a="http://schemas.openxmlformats.org/drawingml/2006/main">
              <a:ext uri="{FF2B5EF4-FFF2-40B4-BE49-F238E27FC236}">
                <a16:creationId xmlns:a16="http://schemas.microsoft.com/office/drawing/2014/main" id="{86473D78-DC5F-4472-837C-D29CE545EEF3}"/>
              </a:ext>
            </a:extLst>
          </p:cNvPr>
          <p:cNvSpPr>
            <a:spLocks xmlns:a="http://schemas.openxmlformats.org/drawingml/2006/main" noGrp="1"/>
          </p:cNvSpPr>
          <p:nvPr/>
        </p:nvSpPr>
        <p:spPr>
          <a:xfrm xmlns:a="http://schemas.openxmlformats.org/drawingml/2006/main">
            <a:off x="5572125" y="3267075"/>
            <a:ext cx="561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766"/>
                </a:solidFill>
                <a:latin typeface="Arial"/>
                <a:ea typeface="Arial"/>
                <a:cs typeface="Arial"/>
              </a:defRPr>
            </a:pPr>
            <a:r>
              <a:rPr sz="1800" b="0">
                <a:solidFill>
                  <a:srgbClr val="526766"/>
                </a:solidFill>
                <a:latin typeface="Arial"/>
                <a:ea typeface="Arial"/>
                <a:cs typeface="Arial"/>
              </a:rPr>
              <a:t>Hacim, toplam ve dağılımdaki beklenmeyen değişimler</a:t>
            </a:r>
          </a:p>
        </p:txBody>
      </p:sp>
      <p:sp>
        <p:nvSpPr>
          <p:cNvPr id="12" name="">
            <a:extLst xmlns:a="http://schemas.openxmlformats.org/drawingml/2006/main">
              <a:ext uri="{FF2B5EF4-FFF2-40B4-BE49-F238E27FC236}">
                <a16:creationId xmlns:a16="http://schemas.microsoft.com/office/drawing/2014/main" id="{1C15CDDC-A559-4E7E-BC34-D1B99E86B3A1}"/>
              </a:ext>
            </a:extLst>
          </p:cNvPr>
          <p:cNvSpPr>
            <a:spLocks xmlns:a="http://schemas.openxmlformats.org/drawingml/2006/main" noGrp="1"/>
          </p:cNvSpPr>
          <p:nvPr/>
        </p:nvSpPr>
        <p:spPr>
          <a:xfrm xmlns:a="http://schemas.openxmlformats.org/drawingml/2006/main">
            <a:off x="1524000" y="4114800"/>
            <a:ext cx="9667875" cy="0"/>
          </a:xfrm>
          <a:prstGeom xmlns:a="http://schemas.openxmlformats.org/drawingml/2006/main" prst="line">
            <a:avLst/>
          </a:prstGeom>
          <a:noFill xmlns:a="http://schemas.openxmlformats.org/drawingml/2006/main"/>
          <a:ln xmlns:a="http://schemas.openxmlformats.org/drawingml/2006/main" w="9525">
            <a:solidFill>
              <a:srgbClr val="C6D4CE"/>
            </a:solidFill>
          </a:ln>
        </p:spPr>
      </p:sp>
      <p:sp>
        <p:nvSpPr>
          <p:cNvPr id="13" name="">
            <a:extLst xmlns:a="http://schemas.openxmlformats.org/drawingml/2006/main">
              <a:ext uri="{FF2B5EF4-FFF2-40B4-BE49-F238E27FC236}">
                <a16:creationId xmlns:a16="http://schemas.microsoft.com/office/drawing/2014/main" id="{8A227B7A-7BB2-4F7B-8008-AC373369F3DE}"/>
              </a:ext>
            </a:extLst>
          </p:cNvPr>
          <p:cNvSpPr>
            <a:spLocks xmlns:a="http://schemas.openxmlformats.org/drawingml/2006/main" noGrp="1"/>
          </p:cNvSpPr>
          <p:nvPr/>
        </p:nvSpPr>
        <p:spPr>
          <a:xfrm xmlns:a="http://schemas.openxmlformats.org/drawingml/2006/main">
            <a:off x="685800" y="449580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86C63"/>
                </a:solidFill>
                <a:latin typeface="Arial"/>
                <a:ea typeface="Arial"/>
                <a:cs typeface="Arial"/>
              </a:defRPr>
            </a:pPr>
            <a:r>
              <a:rPr sz="1800" b="1">
                <a:solidFill>
                  <a:srgbClr val="286C6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0A5689FB-0A46-47CF-915E-61476A8DD905}"/>
              </a:ext>
            </a:extLst>
          </p:cNvPr>
          <p:cNvSpPr>
            <a:spLocks xmlns:a="http://schemas.openxmlformats.org/drawingml/2006/main" noGrp="1"/>
          </p:cNvSpPr>
          <p:nvPr/>
        </p:nvSpPr>
        <p:spPr>
          <a:xfrm xmlns:a="http://schemas.openxmlformats.org/drawingml/2006/main">
            <a:off x="1524000" y="4467225"/>
            <a:ext cx="3571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İstisna yönetimi</a:t>
            </a:r>
          </a:p>
        </p:txBody>
      </p:sp>
      <p:sp>
        <p:nvSpPr>
          <p:cNvPr id="15" name="">
            <a:extLst xmlns:a="http://schemas.openxmlformats.org/drawingml/2006/main">
              <a:ext uri="{FF2B5EF4-FFF2-40B4-BE49-F238E27FC236}">
                <a16:creationId xmlns:a16="http://schemas.microsoft.com/office/drawing/2014/main" id="{2137451C-6F91-48BD-B35F-27C337EADCFC}"/>
              </a:ext>
            </a:extLst>
          </p:cNvPr>
          <p:cNvSpPr>
            <a:spLocks xmlns:a="http://schemas.openxmlformats.org/drawingml/2006/main" noGrp="1"/>
          </p:cNvSpPr>
          <p:nvPr/>
        </p:nvSpPr>
        <p:spPr>
          <a:xfrm xmlns:a="http://schemas.openxmlformats.org/drawingml/2006/main">
            <a:off x="5572125" y="4495800"/>
            <a:ext cx="561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766"/>
                </a:solidFill>
                <a:latin typeface="Arial"/>
                <a:ea typeface="Arial"/>
                <a:cs typeface="Arial"/>
              </a:defRPr>
            </a:pPr>
            <a:r>
              <a:rPr sz="1800" b="0">
                <a:solidFill>
                  <a:srgbClr val="526766"/>
                </a:solidFill>
                <a:latin typeface="Arial"/>
                <a:ea typeface="Arial"/>
                <a:cs typeface="Arial"/>
              </a:rPr>
              <a:t>Kritik bulguda duraklama, sorumlu atama ve düzeltme kaydı</a:t>
            </a:r>
          </a:p>
        </p:txBody>
      </p:sp>
      <p:sp>
        <p:nvSpPr>
          <p:cNvPr id="16" name="">
            <a:extLst xmlns:a="http://schemas.openxmlformats.org/drawingml/2006/main">
              <a:ext uri="{FF2B5EF4-FFF2-40B4-BE49-F238E27FC236}">
                <a16:creationId xmlns:a16="http://schemas.microsoft.com/office/drawing/2014/main" id="{42AF26D2-102F-4E41-8DDF-DEBDE1DAFFA5}"/>
              </a:ext>
            </a:extLst>
          </p:cNvPr>
          <p:cNvSpPr>
            <a:spLocks xmlns:a="http://schemas.openxmlformats.org/drawingml/2006/main" noGrp="1"/>
          </p:cNvSpPr>
          <p:nvPr/>
        </p:nvSpPr>
        <p:spPr>
          <a:xfrm xmlns:a="http://schemas.openxmlformats.org/drawingml/2006/main">
            <a:off x="1524000" y="5343525"/>
            <a:ext cx="9667875" cy="0"/>
          </a:xfrm>
          <a:prstGeom xmlns:a="http://schemas.openxmlformats.org/drawingml/2006/main" prst="line">
            <a:avLst/>
          </a:prstGeom>
          <a:noFill xmlns:a="http://schemas.openxmlformats.org/drawingml/2006/main"/>
          <a:ln xmlns:a="http://schemas.openxmlformats.org/drawingml/2006/main" w="9525">
            <a:solidFill>
              <a:srgbClr val="C6D4CE"/>
            </a:solidFill>
          </a:ln>
        </p:spPr>
      </p:sp>
    </p:spTree>
    <p:extLst>
      <p:ext uri="{BB962C8B-B14F-4D97-AF65-F5344CB8AC3E}">
        <p14:creationId xmlns:p14="http://schemas.microsoft.com/office/powerpoint/2010/main" val="790300917"/>
      </p:ext>
    </p:extLst>
  </p:cSld>
</p:sld>
</file>

<file path=ppt/slides/slide7.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96D9F7A-A76A-4EC0-9BB3-E80BF2054679}"/>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Mizan mutabakatı analize bağlanır</a:t>
            </a:r>
          </a:p>
        </p:txBody>
      </p:sp>
      <p:sp>
        <p:nvSpPr>
          <p:cNvPr id="2" name="">
            <a:extLst xmlns:a="http://schemas.openxmlformats.org/drawingml/2006/main">
              <a:ext uri="{FF2B5EF4-FFF2-40B4-BE49-F238E27FC236}">
                <a16:creationId xmlns:a16="http://schemas.microsoft.com/office/drawing/2014/main" id="{CB4AE667-556B-433B-B847-788773FB9C45}"/>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CD3C3D66-BDB5-4F15-94CD-1D5D9376CE3F}"/>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6225A1CD-4367-46A4-B80F-4B573530D78F}"/>
              </a:ext>
            </a:extLst>
          </p:cNvPr>
          <p:cNvSpPr>
            <a:spLocks xmlns:a="http://schemas.openxmlformats.org/drawingml/2006/main" noGrp="1"/>
          </p:cNvSpPr>
          <p:nvPr/>
        </p:nvSpPr>
        <p:spPr>
          <a:xfrm xmlns:a="http://schemas.openxmlformats.org/drawingml/2006/main">
            <a:off x="685800" y="6029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26766"/>
                </a:solidFill>
                <a:latin typeface="Arial"/>
                <a:ea typeface="Arial"/>
                <a:cs typeface="Arial"/>
              </a:defRPr>
            </a:pPr>
            <a:r>
              <a:rPr sz="1200" b="0">
                <a:solidFill>
                  <a:srgbClr val="526766"/>
                </a:solidFill>
                <a:latin typeface="Arial"/>
                <a:ea typeface="Arial"/>
                <a:cs typeface="Arial"/>
              </a:rPr>
              <a:t>Planlanan modül: hesap eşlemeleri, kapsam ve toleranslar Finans ile tanımlanacak</a:t>
            </a:r>
          </a:p>
        </p:txBody>
      </p:sp>
      <p:sp>
        <p:nvSpPr>
          <p:cNvPr id="5" name="">
            <a:extLst xmlns:a="http://schemas.openxmlformats.org/drawingml/2006/main">
              <a:ext uri="{FF2B5EF4-FFF2-40B4-BE49-F238E27FC236}">
                <a16:creationId xmlns:a16="http://schemas.microsoft.com/office/drawing/2014/main" id="{8F27E523-80C6-433D-AF52-3FF82F5C092B}"/>
              </a:ext>
            </a:extLst>
          </p:cNvPr>
          <p:cNvSpPr>
            <a:spLocks xmlns:a="http://schemas.openxmlformats.org/drawingml/2006/main" noGrp="1"/>
          </p:cNvSpPr>
          <p:nvPr/>
        </p:nvSpPr>
        <p:spPr>
          <a:xfrm xmlns:a="http://schemas.openxmlformats.org/drawingml/2006/main">
            <a:off x="685800" y="2228850"/>
            <a:ext cx="4048125" cy="126682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E396B9C-2A6F-4ED9-9268-96AF33B2D70F}"/>
              </a:ext>
            </a:extLst>
          </p:cNvPr>
          <p:cNvSpPr>
            <a:spLocks xmlns:a="http://schemas.openxmlformats.org/drawingml/2006/main" noGrp="1"/>
          </p:cNvSpPr>
          <p:nvPr/>
        </p:nvSpPr>
        <p:spPr>
          <a:xfrm xmlns:a="http://schemas.openxmlformats.org/drawingml/2006/main">
            <a:off x="952500" y="263842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Aktüeryal veri toplamı</a:t>
            </a:r>
          </a:p>
        </p:txBody>
      </p:sp>
      <p:sp>
        <p:nvSpPr>
          <p:cNvPr id="7" name="">
            <a:extLst xmlns:a="http://schemas.openxmlformats.org/drawingml/2006/main">
              <a:ext uri="{FF2B5EF4-FFF2-40B4-BE49-F238E27FC236}">
                <a16:creationId xmlns:a16="http://schemas.microsoft.com/office/drawing/2014/main" id="{391D9B2A-88F2-4804-A621-AF68429ABCEC}"/>
              </a:ext>
            </a:extLst>
          </p:cNvPr>
          <p:cNvSpPr>
            <a:spLocks xmlns:a="http://schemas.openxmlformats.org/drawingml/2006/main" noGrp="1"/>
          </p:cNvSpPr>
          <p:nvPr/>
        </p:nvSpPr>
        <p:spPr>
          <a:xfrm xmlns:a="http://schemas.openxmlformats.org/drawingml/2006/main">
            <a:off x="7458075" y="2228850"/>
            <a:ext cx="4048125" cy="1266825"/>
          </a:xfrm>
          <a:prstGeom xmlns:a="http://schemas.openxmlformats.org/drawingml/2006/main" prst="rect">
            <a:avLst/>
          </a:prstGeom>
          <a:solidFill xmlns:a="http://schemas.openxmlformats.org/drawingml/2006/main">
            <a:srgbClr val="DFE9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6862907-E1D3-4DAC-9C0E-2DF527476711}"/>
              </a:ext>
            </a:extLst>
          </p:cNvPr>
          <p:cNvSpPr>
            <a:spLocks xmlns:a="http://schemas.openxmlformats.org/drawingml/2006/main" noGrp="1"/>
          </p:cNvSpPr>
          <p:nvPr/>
        </p:nvSpPr>
        <p:spPr>
          <a:xfrm xmlns:a="http://schemas.openxmlformats.org/drawingml/2006/main">
            <a:off x="7724775" y="263842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İlgili mizan hesapları</a:t>
            </a:r>
          </a:p>
        </p:txBody>
      </p:sp>
      <p:sp>
        <p:nvSpPr>
          <p:cNvPr id="9" name="">
            <a:extLst xmlns:a="http://schemas.openxmlformats.org/drawingml/2006/main">
              <a:ext uri="{FF2B5EF4-FFF2-40B4-BE49-F238E27FC236}">
                <a16:creationId xmlns:a16="http://schemas.microsoft.com/office/drawing/2014/main" id="{FBA83DA6-CBF8-494C-8311-32283D9B861C}"/>
              </a:ext>
            </a:extLst>
          </p:cNvPr>
          <p:cNvSpPr>
            <a:spLocks xmlns:a="http://schemas.openxmlformats.org/drawingml/2006/main" noGrp="1"/>
          </p:cNvSpPr>
          <p:nvPr/>
        </p:nvSpPr>
        <p:spPr>
          <a:xfrm xmlns:a="http://schemas.openxmlformats.org/drawingml/2006/main">
            <a:off x="5019675" y="2667000"/>
            <a:ext cx="219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286C63"/>
                </a:solidFill>
                <a:latin typeface="Arial"/>
                <a:ea typeface="Arial"/>
                <a:cs typeface="Arial"/>
              </a:defRPr>
            </a:pPr>
            <a:r>
              <a:rPr sz="1650" b="1">
                <a:solidFill>
                  <a:srgbClr val="286C63"/>
                </a:solidFill>
                <a:latin typeface="Arial"/>
                <a:ea typeface="Arial"/>
                <a:cs typeface="Arial"/>
              </a:rPr>
              <a:t>MUTABAKAT</a:t>
            </a:r>
          </a:p>
        </p:txBody>
      </p:sp>
      <p:sp>
        <p:nvSpPr>
          <p:cNvPr id="10" name="">
            <a:extLst xmlns:a="http://schemas.openxmlformats.org/drawingml/2006/main">
              <a:ext uri="{FF2B5EF4-FFF2-40B4-BE49-F238E27FC236}">
                <a16:creationId xmlns:a16="http://schemas.microsoft.com/office/drawing/2014/main" id="{8F04E29E-2A76-4E31-B173-F7A4291030C0}"/>
              </a:ext>
            </a:extLst>
          </p:cNvPr>
          <p:cNvSpPr>
            <a:spLocks xmlns:a="http://schemas.openxmlformats.org/drawingml/2006/main" noGrp="1"/>
          </p:cNvSpPr>
          <p:nvPr/>
        </p:nvSpPr>
        <p:spPr>
          <a:xfrm xmlns:a="http://schemas.openxmlformats.org/drawingml/2006/main">
            <a:off x="4733925" y="2876550"/>
            <a:ext cx="266700" cy="0"/>
          </a:xfrm>
          <a:prstGeom xmlns:a="http://schemas.openxmlformats.org/drawingml/2006/main" prst="line">
            <a:avLst/>
          </a:prstGeom>
          <a:noFill xmlns:a="http://schemas.openxmlformats.org/drawingml/2006/main"/>
          <a:ln xmlns:a="http://schemas.openxmlformats.org/drawingml/2006/main" w="9525">
            <a:solidFill>
              <a:srgbClr val="286C63"/>
            </a:solidFill>
          </a:ln>
        </p:spPr>
      </p:sp>
      <p:sp>
        <p:nvSpPr>
          <p:cNvPr id="11" name="">
            <a:extLst xmlns:a="http://schemas.openxmlformats.org/drawingml/2006/main">
              <a:ext uri="{FF2B5EF4-FFF2-40B4-BE49-F238E27FC236}">
                <a16:creationId xmlns:a16="http://schemas.microsoft.com/office/drawing/2014/main" id="{A740C68F-E23C-48A0-B6BF-B555B0456581}"/>
              </a:ext>
            </a:extLst>
          </p:cNvPr>
          <p:cNvSpPr>
            <a:spLocks xmlns:a="http://schemas.openxmlformats.org/drawingml/2006/main" noGrp="1"/>
          </p:cNvSpPr>
          <p:nvPr/>
        </p:nvSpPr>
        <p:spPr>
          <a:xfrm xmlns:a="http://schemas.openxmlformats.org/drawingml/2006/main">
            <a:off x="7134225" y="2876550"/>
            <a:ext cx="323850" cy="0"/>
          </a:xfrm>
          <a:prstGeom xmlns:a="http://schemas.openxmlformats.org/drawingml/2006/main" prst="line">
            <a:avLst/>
          </a:prstGeom>
          <a:noFill xmlns:a="http://schemas.openxmlformats.org/drawingml/2006/main"/>
          <a:ln xmlns:a="http://schemas.openxmlformats.org/drawingml/2006/main" w="9525">
            <a:solidFill>
              <a:srgbClr val="286C63"/>
            </a:solidFill>
          </a:ln>
        </p:spPr>
      </p:sp>
      <p:sp>
        <p:nvSpPr>
          <p:cNvPr id="12" name="">
            <a:extLst xmlns:a="http://schemas.openxmlformats.org/drawingml/2006/main">
              <a:ext uri="{FF2B5EF4-FFF2-40B4-BE49-F238E27FC236}">
                <a16:creationId xmlns:a16="http://schemas.microsoft.com/office/drawing/2014/main" id="{644F49DD-5DF9-438F-8865-838D9137165C}"/>
              </a:ext>
            </a:extLst>
          </p:cNvPr>
          <p:cNvSpPr>
            <a:spLocks xmlns:a="http://schemas.openxmlformats.org/drawingml/2006/main" noGrp="1"/>
          </p:cNvSpPr>
          <p:nvPr/>
        </p:nvSpPr>
        <p:spPr>
          <a:xfrm xmlns:a="http://schemas.openxmlformats.org/drawingml/2006/main">
            <a:off x="685800" y="39147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526766"/>
                </a:solidFill>
                <a:latin typeface="Arial"/>
                <a:ea typeface="Arial"/>
                <a:cs typeface="Arial"/>
              </a:defRPr>
            </a:pPr>
            <a:r>
              <a:rPr sz="2175" b="0">
                <a:solidFill>
                  <a:srgbClr val="526766"/>
                </a:solidFill>
                <a:latin typeface="Arial"/>
                <a:ea typeface="Arial"/>
                <a:cs typeface="Arial"/>
              </a:rPr>
              <a:t>Aynı dönem · Aynı kapsam · Aynı para birimi</a:t>
            </a:r>
          </a:p>
        </p:txBody>
      </p:sp>
      <p:sp>
        <p:nvSpPr>
          <p:cNvPr id="13" name="">
            <a:extLst xmlns:a="http://schemas.openxmlformats.org/drawingml/2006/main">
              <a:ext uri="{FF2B5EF4-FFF2-40B4-BE49-F238E27FC236}">
                <a16:creationId xmlns:a16="http://schemas.microsoft.com/office/drawing/2014/main" id="{AC2887CE-31F9-4854-AE1B-329BAD5AF545}"/>
              </a:ext>
            </a:extLst>
          </p:cNvPr>
          <p:cNvSpPr>
            <a:spLocks xmlns:a="http://schemas.openxmlformats.org/drawingml/2006/main" noGrp="1"/>
          </p:cNvSpPr>
          <p:nvPr/>
        </p:nvSpPr>
        <p:spPr>
          <a:xfrm xmlns:a="http://schemas.openxmlformats.org/drawingml/2006/main">
            <a:off x="685800" y="48958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286C63"/>
                </a:solidFill>
                <a:latin typeface="Arial"/>
                <a:ea typeface="Arial"/>
                <a:cs typeface="Arial"/>
              </a:defRPr>
            </a:pPr>
            <a:r>
              <a:rPr sz="2700" b="1">
                <a:solidFill>
                  <a:srgbClr val="286C63"/>
                </a:solidFill>
                <a:latin typeface="Arial"/>
                <a:ea typeface="Arial"/>
                <a:cs typeface="Arial"/>
              </a:rPr>
              <a:t>Fark varsa inceleme. Uygunsa analize geçiş.</a:t>
            </a:r>
          </a:p>
        </p:txBody>
      </p:sp>
    </p:spTree>
    <p:extLst>
      <p:ext uri="{BB962C8B-B14F-4D97-AF65-F5344CB8AC3E}">
        <p14:creationId xmlns:p14="http://schemas.microsoft.com/office/powerpoint/2010/main" val="803709345"/>
      </p:ext>
    </p:extLst>
  </p:cSld>
</p:sld>
</file>

<file path=ppt/slides/slide8.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5A3652-14CD-4893-8E0C-26C28C1748B2}"/>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Raporlar modellerin hazırlık adımı olur</a:t>
            </a:r>
          </a:p>
        </p:txBody>
      </p:sp>
      <p:sp>
        <p:nvSpPr>
          <p:cNvPr id="2" name="">
            <a:extLst xmlns:a="http://schemas.openxmlformats.org/drawingml/2006/main">
              <a:ext uri="{FF2B5EF4-FFF2-40B4-BE49-F238E27FC236}">
                <a16:creationId xmlns:a16="http://schemas.microsoft.com/office/drawing/2014/main" id="{B0B32511-DE3B-458E-B72D-1DA5E43A6691}"/>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1AAE904E-5D12-4BE9-9CE9-1EF6AD972E82}"/>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84857B5E-29CD-4A37-8EAC-4D2756FBFA26}"/>
              </a:ext>
            </a:extLst>
          </p:cNvPr>
          <p:cNvSpPr>
            <a:spLocks xmlns:a="http://schemas.openxmlformats.org/drawingml/2006/main" noGrp="1"/>
          </p:cNvSpPr>
          <p:nvPr/>
        </p:nvSpPr>
        <p:spPr>
          <a:xfrm xmlns:a="http://schemas.openxmlformats.org/drawingml/2006/main">
            <a:off x="685800" y="6029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26766"/>
                </a:solidFill>
                <a:latin typeface="Arial"/>
                <a:ea typeface="Arial"/>
                <a:cs typeface="Arial"/>
              </a:defRPr>
            </a:pPr>
            <a:r>
              <a:rPr sz="1200" b="0">
                <a:solidFill>
                  <a:srgbClr val="526766"/>
                </a:solidFill>
                <a:latin typeface="Arial"/>
                <a:ea typeface="Arial"/>
                <a:cs typeface="Arial"/>
              </a:rPr>
              <a:t>Mevcut analiz yetenekleri üzerine önerilen otomatik çalışma sırası</a:t>
            </a:r>
          </a:p>
        </p:txBody>
      </p:sp>
      <p:sp>
        <p:nvSpPr>
          <p:cNvPr id="5" name="">
            <a:extLst xmlns:a="http://schemas.openxmlformats.org/drawingml/2006/main">
              <a:ext uri="{FF2B5EF4-FFF2-40B4-BE49-F238E27FC236}">
                <a16:creationId xmlns:a16="http://schemas.microsoft.com/office/drawing/2014/main" id="{66AC5584-4E35-4D6F-8FDB-C570A8C2A221}"/>
              </a:ext>
            </a:extLst>
          </p:cNvPr>
          <p:cNvSpPr>
            <a:spLocks xmlns:a="http://schemas.openxmlformats.org/drawingml/2006/main" noGrp="1"/>
          </p:cNvSpPr>
          <p:nvPr/>
        </p:nvSpPr>
        <p:spPr>
          <a:xfrm xmlns:a="http://schemas.openxmlformats.org/drawingml/2006/main">
            <a:off x="685800" y="2057400"/>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286C63"/>
                </a:solidFill>
                <a:latin typeface="Arial"/>
                <a:ea typeface="Arial"/>
                <a:cs typeface="Arial"/>
              </a:defRPr>
            </a:pPr>
            <a:r>
              <a:rPr sz="2550" b="1">
                <a:solidFill>
                  <a:srgbClr val="286C63"/>
                </a:solidFill>
                <a:latin typeface="Arial"/>
                <a:ea typeface="Arial"/>
                <a:cs typeface="Arial"/>
              </a:rPr>
              <a:t>Standart analiz seti</a:t>
            </a:r>
          </a:p>
        </p:txBody>
      </p:sp>
      <p:sp>
        <p:nvSpPr>
          <p:cNvPr id="6" name="">
            <a:extLst xmlns:a="http://schemas.openxmlformats.org/drawingml/2006/main">
              <a:ext uri="{FF2B5EF4-FFF2-40B4-BE49-F238E27FC236}">
                <a16:creationId xmlns:a16="http://schemas.microsoft.com/office/drawing/2014/main" id="{095B26E7-7F2D-4CFB-9B88-408BB8CB2D84}"/>
              </a:ext>
            </a:extLst>
          </p:cNvPr>
          <p:cNvSpPr>
            <a:spLocks xmlns:a="http://schemas.openxmlformats.org/drawingml/2006/main" noGrp="1"/>
          </p:cNvSpPr>
          <p:nvPr/>
        </p:nvSpPr>
        <p:spPr>
          <a:xfrm xmlns:a="http://schemas.openxmlformats.org/drawingml/2006/main">
            <a:off x="685800" y="2857500"/>
            <a:ext cx="4572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F3434"/>
                </a:solidFill>
                <a:latin typeface="Arial"/>
                <a:ea typeface="Arial"/>
                <a:cs typeface="Arial"/>
              </a:defRPr>
            </a:pPr>
            <a:r>
              <a:rPr sz="2250" b="0">
                <a:solidFill>
                  <a:srgbClr val="1F3434"/>
                </a:solidFill>
                <a:latin typeface="Arial"/>
                <a:ea typeface="Arial"/>
                <a:cs typeface="Arial"/>
              </a:rPr>
              <a:t>Hasar gelişimi</a:t>
            </a:r>
          </a:p>
          <a:p xmlns:a="http://schemas.openxmlformats.org/drawingml/2006/main">
            <a:pPr>
              <a:defRPr sz="2250" b="0">
                <a:solidFill>
                  <a:srgbClr val="1F3434"/>
                </a:solidFill>
                <a:latin typeface="Arial"/>
                <a:ea typeface="Arial"/>
                <a:cs typeface="Arial"/>
              </a:defRPr>
            </a:pPr>
            <a:r>
              <a:rPr sz="2250" b="0">
                <a:solidFill>
                  <a:srgbClr val="1F3434"/>
                </a:solidFill>
                <a:latin typeface="Arial"/>
                <a:ea typeface="Arial"/>
                <a:cs typeface="Arial"/>
              </a:rPr>
              <a:t>Büyük hasar incelemesi</a:t>
            </a:r>
          </a:p>
          <a:p xmlns:a="http://schemas.openxmlformats.org/drawingml/2006/main">
            <a:pPr>
              <a:defRPr sz="2250" b="0">
                <a:solidFill>
                  <a:srgbClr val="1F3434"/>
                </a:solidFill>
                <a:latin typeface="Arial"/>
                <a:ea typeface="Arial"/>
                <a:cs typeface="Arial"/>
              </a:defRPr>
            </a:pPr>
            <a:r>
              <a:rPr sz="2250" b="0">
                <a:solidFill>
                  <a:srgbClr val="1F3434"/>
                </a:solidFill>
                <a:latin typeface="Arial"/>
                <a:ea typeface="Arial"/>
                <a:cs typeface="Arial"/>
              </a:rPr>
              <a:t>Dönemsel değişim</a:t>
            </a:r>
          </a:p>
          <a:p xmlns:a="http://schemas.openxmlformats.org/drawingml/2006/main">
            <a:pPr>
              <a:defRPr sz="2250" b="0">
                <a:solidFill>
                  <a:srgbClr val="1F3434"/>
                </a:solidFill>
                <a:latin typeface="Arial"/>
                <a:ea typeface="Arial"/>
                <a:cs typeface="Arial"/>
              </a:defRPr>
            </a:pPr>
            <a:r>
              <a:rPr sz="2250" b="0">
                <a:solidFill>
                  <a:srgbClr val="1F3434"/>
                </a:solidFill>
                <a:latin typeface="Arial"/>
                <a:ea typeface="Arial"/>
                <a:cs typeface="Arial"/>
              </a:rPr>
              <a:t>Gerçekleşen–beklenen</a:t>
            </a:r>
          </a:p>
        </p:txBody>
      </p:sp>
      <p:sp>
        <p:nvSpPr>
          <p:cNvPr id="7" name="">
            <a:extLst xmlns:a="http://schemas.openxmlformats.org/drawingml/2006/main">
              <a:ext uri="{FF2B5EF4-FFF2-40B4-BE49-F238E27FC236}">
                <a16:creationId xmlns:a16="http://schemas.microsoft.com/office/drawing/2014/main" id="{9AE6581C-03A3-4570-8A98-A062668B382D}"/>
              </a:ext>
            </a:extLst>
          </p:cNvPr>
          <p:cNvSpPr>
            <a:spLocks xmlns:a="http://schemas.openxmlformats.org/drawingml/2006/main" noGrp="1"/>
          </p:cNvSpPr>
          <p:nvPr/>
        </p:nvSpPr>
        <p:spPr>
          <a:xfrm xmlns:a="http://schemas.openxmlformats.org/drawingml/2006/main">
            <a:off x="6477000" y="2057400"/>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286C63"/>
                </a:solidFill>
                <a:latin typeface="Arial"/>
                <a:ea typeface="Arial"/>
                <a:cs typeface="Arial"/>
              </a:defRPr>
            </a:pPr>
            <a:r>
              <a:rPr sz="2550" b="1">
                <a:solidFill>
                  <a:srgbClr val="286C63"/>
                </a:solidFill>
                <a:latin typeface="Arial"/>
                <a:ea typeface="Arial"/>
                <a:cs typeface="Arial"/>
              </a:rPr>
              <a:t>Model çalışma alanı</a:t>
            </a:r>
          </a:p>
        </p:txBody>
      </p:sp>
      <p:sp>
        <p:nvSpPr>
          <p:cNvPr id="8" name="">
            <a:extLst xmlns:a="http://schemas.openxmlformats.org/drawingml/2006/main">
              <a:ext uri="{FF2B5EF4-FFF2-40B4-BE49-F238E27FC236}">
                <a16:creationId xmlns:a16="http://schemas.microsoft.com/office/drawing/2014/main" id="{BB93675D-6195-40B5-9751-98E1E4C20294}"/>
              </a:ext>
            </a:extLst>
          </p:cNvPr>
          <p:cNvSpPr>
            <a:spLocks xmlns:a="http://schemas.openxmlformats.org/drawingml/2006/main" noGrp="1"/>
          </p:cNvSpPr>
          <p:nvPr/>
        </p:nvSpPr>
        <p:spPr>
          <a:xfrm xmlns:a="http://schemas.openxmlformats.org/drawingml/2006/main">
            <a:off x="6477000" y="2857500"/>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F3434"/>
                </a:solidFill>
                <a:latin typeface="Arial"/>
                <a:ea typeface="Arial"/>
                <a:cs typeface="Arial"/>
              </a:defRPr>
            </a:pPr>
            <a:r>
              <a:rPr sz="2250" b="0">
                <a:solidFill>
                  <a:srgbClr val="1F3434"/>
                </a:solidFill>
                <a:latin typeface="Arial"/>
                <a:ea typeface="Arial"/>
                <a:cs typeface="Arial"/>
              </a:rPr>
              <a:t>Gelişim faktörü seçimi</a:t>
            </a:r>
          </a:p>
          <a:p xmlns:a="http://schemas.openxmlformats.org/drawingml/2006/main">
            <a:pPr>
              <a:defRPr sz="2250" b="0">
                <a:solidFill>
                  <a:srgbClr val="1F3434"/>
                </a:solidFill>
                <a:latin typeface="Arial"/>
                <a:ea typeface="Arial"/>
                <a:cs typeface="Arial"/>
              </a:defRPr>
            </a:pPr>
            <a:r>
              <a:rPr sz="2250" b="0">
                <a:solidFill>
                  <a:srgbClr val="1F3434"/>
                </a:solidFill>
                <a:latin typeface="Arial"/>
                <a:ea typeface="Arial"/>
                <a:cs typeface="Arial"/>
              </a:rPr>
              <a:t>Yöntem karşılaştırması</a:t>
            </a:r>
          </a:p>
          <a:p xmlns:a="http://schemas.openxmlformats.org/drawingml/2006/main">
            <a:pPr>
              <a:defRPr sz="2250" b="0">
                <a:solidFill>
                  <a:srgbClr val="1F3434"/>
                </a:solidFill>
                <a:latin typeface="Arial"/>
                <a:ea typeface="Arial"/>
                <a:cs typeface="Arial"/>
              </a:defRPr>
            </a:pPr>
            <a:r>
              <a:rPr sz="2250" b="0">
                <a:solidFill>
                  <a:srgbClr val="1F3434"/>
                </a:solidFill>
                <a:latin typeface="Arial"/>
                <a:ea typeface="Arial"/>
                <a:cs typeface="Arial"/>
              </a:rPr>
              <a:t>Varsayım ve senaryolar</a:t>
            </a:r>
          </a:p>
          <a:p xmlns:a="http://schemas.openxmlformats.org/drawingml/2006/main">
            <a:pPr>
              <a:defRPr sz="2250" b="0">
                <a:solidFill>
                  <a:srgbClr val="1F3434"/>
                </a:solidFill>
                <a:latin typeface="Arial"/>
                <a:ea typeface="Arial"/>
                <a:cs typeface="Arial"/>
              </a:defRPr>
            </a:pPr>
            <a:r>
              <a:rPr sz="2250" b="0">
                <a:solidFill>
                  <a:srgbClr val="1F3434"/>
                </a:solidFill>
                <a:latin typeface="Arial"/>
                <a:ea typeface="Arial"/>
                <a:cs typeface="Arial"/>
              </a:rPr>
              <a:t>Rezerv, nakit akışı ve iskonto</a:t>
            </a:r>
          </a:p>
        </p:txBody>
      </p:sp>
      <p:sp>
        <p:nvSpPr>
          <p:cNvPr id="9" name="">
            <a:extLst xmlns:a="http://schemas.openxmlformats.org/drawingml/2006/main">
              <a:ext uri="{FF2B5EF4-FFF2-40B4-BE49-F238E27FC236}">
                <a16:creationId xmlns:a16="http://schemas.microsoft.com/office/drawing/2014/main" id="{9B2FC995-35BE-4A19-A708-1F51B5B0E18F}"/>
              </a:ext>
            </a:extLst>
          </p:cNvPr>
          <p:cNvSpPr>
            <a:spLocks xmlns:a="http://schemas.openxmlformats.org/drawingml/2006/main" noGrp="1"/>
          </p:cNvSpPr>
          <p:nvPr/>
        </p:nvSpPr>
        <p:spPr>
          <a:xfrm xmlns:a="http://schemas.openxmlformats.org/drawingml/2006/main">
            <a:off x="685800" y="5419725"/>
            <a:ext cx="10820400" cy="0"/>
          </a:xfrm>
          <a:prstGeom xmlns:a="http://schemas.openxmlformats.org/drawingml/2006/main" prst="line">
            <a:avLst/>
          </a:prstGeom>
          <a:noFill xmlns:a="http://schemas.openxmlformats.org/drawingml/2006/main"/>
          <a:ln xmlns:a="http://schemas.openxmlformats.org/drawingml/2006/main" w="9525">
            <a:solidFill>
              <a:srgbClr val="C6D4CE"/>
            </a:solidFill>
          </a:ln>
        </p:spPr>
      </p:sp>
      <p:sp>
        <p:nvSpPr>
          <p:cNvPr id="10" name="">
            <a:extLst xmlns:a="http://schemas.openxmlformats.org/drawingml/2006/main">
              <a:ext uri="{FF2B5EF4-FFF2-40B4-BE49-F238E27FC236}">
                <a16:creationId xmlns:a16="http://schemas.microsoft.com/office/drawing/2014/main" id="{390A27E4-9FAA-4501-B6DD-4784BFF0B85F}"/>
              </a:ext>
            </a:extLst>
          </p:cNvPr>
          <p:cNvSpPr>
            <a:spLocks xmlns:a="http://schemas.openxmlformats.org/drawingml/2006/main" noGrp="1"/>
          </p:cNvSpPr>
          <p:nvPr/>
        </p:nvSpPr>
        <p:spPr>
          <a:xfrm xmlns:a="http://schemas.openxmlformats.org/drawingml/2006/main">
            <a:off x="685800" y="56007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26766"/>
                </a:solidFill>
                <a:latin typeface="Arial"/>
                <a:ea typeface="Arial"/>
                <a:cs typeface="Arial"/>
              </a:defRPr>
            </a:pPr>
            <a:r>
              <a:rPr sz="1875" b="0">
                <a:solidFill>
                  <a:srgbClr val="526766"/>
                </a:solidFill>
                <a:latin typeface="Arial"/>
                <a:ea typeface="Arial"/>
                <a:cs typeface="Arial"/>
              </a:rPr>
              <a:t>Her model seçimi ilgili analiz ve veri sürümüyle ilişkilendirilir.</a:t>
            </a:r>
          </a:p>
        </p:txBody>
      </p:sp>
    </p:spTree>
    <p:extLst>
      <p:ext uri="{BB962C8B-B14F-4D97-AF65-F5344CB8AC3E}">
        <p14:creationId xmlns:p14="http://schemas.microsoft.com/office/powerpoint/2010/main" val="108784653"/>
      </p:ext>
    </p:extLst>
  </p:cSld>
</p:sld>
</file>

<file path=ppt/slides/slide9.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7A17FC-CFD9-4146-A08C-45E9E8AE89C0}"/>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Agent, sürecin ortak erişim noktası</a:t>
            </a:r>
          </a:p>
        </p:txBody>
      </p:sp>
      <p:sp>
        <p:nvSpPr>
          <p:cNvPr id="2" name="">
            <a:extLst xmlns:a="http://schemas.openxmlformats.org/drawingml/2006/main">
              <a:ext uri="{FF2B5EF4-FFF2-40B4-BE49-F238E27FC236}">
                <a16:creationId xmlns:a16="http://schemas.microsoft.com/office/drawing/2014/main" id="{74BC3593-1B3D-4C15-88E8-E20F38FFE78D}"/>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CC14A04B-52C2-40C7-B4EE-C1014214ACBE}"/>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328C5564-5F6F-48A7-833F-4408BC7823B7}"/>
              </a:ext>
            </a:extLst>
          </p:cNvPr>
          <p:cNvSpPr>
            <a:spLocks xmlns:a="http://schemas.openxmlformats.org/drawingml/2006/main" noGrp="1"/>
          </p:cNvSpPr>
          <p:nvPr/>
        </p:nvSpPr>
        <p:spPr>
          <a:xfrm xmlns:a="http://schemas.openxmlformats.org/drawingml/2006/main">
            <a:off x="685800" y="6029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26766"/>
                </a:solidFill>
                <a:latin typeface="Arial"/>
                <a:ea typeface="Arial"/>
                <a:cs typeface="Arial"/>
              </a:defRPr>
            </a:pPr>
            <a:r>
              <a:rPr sz="1200" b="0">
                <a:solidFill>
                  <a:srgbClr val="526766"/>
                </a:solidFill>
                <a:latin typeface="Arial"/>
                <a:ea typeface="Arial"/>
                <a:cs typeface="Arial"/>
              </a:rPr>
              <a:t>Hedef etkileşim örneği</a:t>
            </a:r>
          </a:p>
        </p:txBody>
      </p:sp>
      <p:sp>
        <p:nvSpPr>
          <p:cNvPr id="5" name="">
            <a:extLst xmlns:a="http://schemas.openxmlformats.org/drawingml/2006/main">
              <a:ext uri="{FF2B5EF4-FFF2-40B4-BE49-F238E27FC236}">
                <a16:creationId xmlns:a16="http://schemas.microsoft.com/office/drawing/2014/main" id="{1E2A4829-AFBA-44DC-83F7-9E75E2FFA49A}"/>
              </a:ext>
            </a:extLst>
          </p:cNvPr>
          <p:cNvSpPr>
            <a:spLocks xmlns:a="http://schemas.openxmlformats.org/drawingml/2006/main" noGrp="1"/>
          </p:cNvSpPr>
          <p:nvPr/>
        </p:nvSpPr>
        <p:spPr>
          <a:xfrm xmlns:a="http://schemas.openxmlformats.org/drawingml/2006/main">
            <a:off x="685800" y="2009775"/>
            <a:ext cx="107156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86C63"/>
                </a:solidFill>
                <a:latin typeface="Arial"/>
                <a:ea typeface="Arial"/>
                <a:cs typeface="Arial"/>
              </a:defRPr>
            </a:pPr>
            <a:r>
              <a:rPr sz="3300" b="1">
                <a:solidFill>
                  <a:srgbClr val="286C63"/>
                </a:solidFill>
                <a:latin typeface="Arial"/>
                <a:ea typeface="Arial"/>
                <a:cs typeface="Arial"/>
              </a:rPr>
              <a:t>“Motor branşının dönem verisini hazırla.</a:t>
            </a:r>
          </a:p>
          <a:p xmlns:a="http://schemas.openxmlformats.org/drawingml/2006/main">
            <a:pPr>
              <a:defRPr sz="3300" b="1">
                <a:solidFill>
                  <a:srgbClr val="286C63"/>
                </a:solidFill>
                <a:latin typeface="Arial"/>
                <a:ea typeface="Arial"/>
                <a:cs typeface="Arial"/>
              </a:defRPr>
            </a:pPr>
            <a:r>
              <a:rPr sz="3300" b="1">
                <a:solidFill>
                  <a:srgbClr val="286C63"/>
                </a:solidFill>
                <a:latin typeface="Arial"/>
                <a:ea typeface="Arial"/>
                <a:cs typeface="Arial"/>
              </a:rPr>
              <a:t>Kalite ve mizan kontrollerini çalıştır.</a:t>
            </a:r>
          </a:p>
          <a:p xmlns:a="http://schemas.openxmlformats.org/drawingml/2006/main">
            <a:pPr>
              <a:defRPr sz="3300" b="1">
                <a:solidFill>
                  <a:srgbClr val="286C63"/>
                </a:solidFill>
                <a:latin typeface="Arial"/>
                <a:ea typeface="Arial"/>
                <a:cs typeface="Arial"/>
              </a:defRPr>
            </a:pPr>
            <a:r>
              <a:rPr sz="3300" b="1">
                <a:solidFill>
                  <a:srgbClr val="286C63"/>
                </a:solidFill>
                <a:latin typeface="Arial"/>
                <a:ea typeface="Arial"/>
                <a:cs typeface="Arial"/>
              </a:rPr>
              <a:t>Sorun yoksa analizleri ve modeli oluştur.”</a:t>
            </a:r>
          </a:p>
        </p:txBody>
      </p:sp>
      <p:sp>
        <p:nvSpPr>
          <p:cNvPr id="6" name="">
            <a:extLst xmlns:a="http://schemas.openxmlformats.org/drawingml/2006/main">
              <a:ext uri="{FF2B5EF4-FFF2-40B4-BE49-F238E27FC236}">
                <a16:creationId xmlns:a16="http://schemas.microsoft.com/office/drawing/2014/main" id="{240D3C1C-EFCB-4C61-8CD0-DC74398CC8CC}"/>
              </a:ext>
            </a:extLst>
          </p:cNvPr>
          <p:cNvSpPr>
            <a:spLocks xmlns:a="http://schemas.openxmlformats.org/drawingml/2006/main" noGrp="1"/>
          </p:cNvSpPr>
          <p:nvPr/>
        </p:nvSpPr>
        <p:spPr>
          <a:xfrm xmlns:a="http://schemas.openxmlformats.org/drawingml/2006/main">
            <a:off x="685800" y="503872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1F3434"/>
                </a:solidFill>
                <a:latin typeface="Arial"/>
                <a:ea typeface="Arial"/>
                <a:cs typeface="Arial"/>
              </a:defRPr>
            </a:pPr>
            <a:r>
              <a:rPr sz="2625" b="1">
                <a:solidFill>
                  <a:srgbClr val="1F3434"/>
                </a:solidFill>
                <a:latin typeface="Arial"/>
                <a:ea typeface="Arial"/>
                <a:cs typeface="Arial"/>
              </a:rPr>
              <a:t>Tek talep</a:t>
            </a:r>
          </a:p>
        </p:txBody>
      </p:sp>
      <p:sp>
        <p:nvSpPr>
          <p:cNvPr id="7" name="">
            <a:extLst xmlns:a="http://schemas.openxmlformats.org/drawingml/2006/main">
              <a:ext uri="{FF2B5EF4-FFF2-40B4-BE49-F238E27FC236}">
                <a16:creationId xmlns:a16="http://schemas.microsoft.com/office/drawing/2014/main" id="{A1953748-1293-4C43-8859-705C49B117D4}"/>
              </a:ext>
            </a:extLst>
          </p:cNvPr>
          <p:cNvSpPr>
            <a:spLocks xmlns:a="http://schemas.openxmlformats.org/drawingml/2006/main" noGrp="1"/>
          </p:cNvSpPr>
          <p:nvPr/>
        </p:nvSpPr>
        <p:spPr>
          <a:xfrm xmlns:a="http://schemas.openxmlformats.org/drawingml/2006/main">
            <a:off x="3714750" y="5095875"/>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526766"/>
                </a:solidFill>
                <a:latin typeface="Arial"/>
                <a:ea typeface="Arial"/>
                <a:cs typeface="Arial"/>
              </a:defRPr>
            </a:pPr>
            <a:r>
              <a:rPr sz="2250" b="0">
                <a:solidFill>
                  <a:srgbClr val="526766"/>
                </a:solidFill>
                <a:latin typeface="Arial"/>
                <a:ea typeface="Arial"/>
                <a:cs typeface="Arial"/>
              </a:rPr>
              <a:t>Bağlantılı işlemler ve görünür kontrol noktaları</a:t>
            </a:r>
          </a:p>
        </p:txBody>
      </p:sp>
    </p:spTree>
    <p:extLst>
      <p:ext uri="{BB962C8B-B14F-4D97-AF65-F5344CB8AC3E}">
        <p14:creationId xmlns:p14="http://schemas.microsoft.com/office/powerpoint/2010/main" val="2119040942"/>
      </p:ext>
    </p:extLst>
  </p:cSld>
</p:sld>
</file>

<file path=ppt/slides/slide10.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728A1A5-EF79-473D-8C60-502BB0418488}"/>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Bir dönem kapanışının hedef akışı</a:t>
            </a:r>
          </a:p>
        </p:txBody>
      </p:sp>
      <p:sp>
        <p:nvSpPr>
          <p:cNvPr id="2" name="">
            <a:extLst xmlns:a="http://schemas.openxmlformats.org/drawingml/2006/main">
              <a:ext uri="{FF2B5EF4-FFF2-40B4-BE49-F238E27FC236}">
                <a16:creationId xmlns:a16="http://schemas.microsoft.com/office/drawing/2014/main" id="{AF4387E3-86EB-4C16-9983-B6F602E78315}"/>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5E4085C9-8FCD-4E34-9A77-A6BA04CC8CF0}"/>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00CFF529-87C3-4EBF-BF58-0B9023D536B0}"/>
              </a:ext>
            </a:extLst>
          </p:cNvPr>
          <p:cNvSpPr>
            <a:spLocks xmlns:a="http://schemas.openxmlformats.org/drawingml/2006/main" noGrp="1"/>
          </p:cNvSpPr>
          <p:nvPr/>
        </p:nvSpPr>
        <p:spPr>
          <a:xfrm xmlns:a="http://schemas.openxmlformats.org/drawingml/2006/main">
            <a:off x="685800" y="6029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26766"/>
                </a:solidFill>
                <a:latin typeface="Arial"/>
                <a:ea typeface="Arial"/>
                <a:cs typeface="Arial"/>
              </a:defRPr>
            </a:pPr>
            <a:r>
              <a:rPr sz="1200" b="0">
                <a:solidFill>
                  <a:srgbClr val="526766"/>
                </a:solidFill>
                <a:latin typeface="Arial"/>
                <a:ea typeface="Arial"/>
                <a:cs typeface="Arial"/>
              </a:rPr>
              <a:t>Kavramsal senaryo: otomasyon akışı ve insan müdahalesi</a:t>
            </a:r>
          </a:p>
        </p:txBody>
      </p:sp>
      <p:sp>
        <p:nvSpPr>
          <p:cNvPr id="5" name="">
            <a:extLst xmlns:a="http://schemas.openxmlformats.org/drawingml/2006/main">
              <a:ext uri="{FF2B5EF4-FFF2-40B4-BE49-F238E27FC236}">
                <a16:creationId xmlns:a16="http://schemas.microsoft.com/office/drawing/2014/main" id="{0EE2AB04-66D4-4686-8E9E-1F6CECB3D955}"/>
              </a:ext>
            </a:extLst>
          </p:cNvPr>
          <p:cNvSpPr>
            <a:spLocks xmlns:a="http://schemas.openxmlformats.org/drawingml/2006/main" noGrp="1"/>
          </p:cNvSpPr>
          <p:nvPr/>
        </p:nvSpPr>
        <p:spPr>
          <a:xfrm xmlns:a="http://schemas.openxmlformats.org/drawingml/2006/main">
            <a:off x="685800" y="1952625"/>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86C63"/>
                </a:solidFill>
                <a:latin typeface="Arial"/>
                <a:ea typeface="Arial"/>
                <a:cs typeface="Arial"/>
              </a:defRPr>
            </a:pPr>
            <a:r>
              <a:rPr sz="1800" b="1">
                <a:solidFill>
                  <a:srgbClr val="286C6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4F84A311-E1F5-4759-BA73-00A1CBAE6AD4}"/>
              </a:ext>
            </a:extLst>
          </p:cNvPr>
          <p:cNvSpPr>
            <a:spLocks xmlns:a="http://schemas.openxmlformats.org/drawingml/2006/main" noGrp="1"/>
          </p:cNvSpPr>
          <p:nvPr/>
        </p:nvSpPr>
        <p:spPr>
          <a:xfrm xmlns:a="http://schemas.openxmlformats.org/drawingml/2006/main">
            <a:off x="1524000" y="1924050"/>
            <a:ext cx="3571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Talep ve hazırlık</a:t>
            </a:r>
          </a:p>
        </p:txBody>
      </p:sp>
      <p:sp>
        <p:nvSpPr>
          <p:cNvPr id="7" name="">
            <a:extLst xmlns:a="http://schemas.openxmlformats.org/drawingml/2006/main">
              <a:ext uri="{FF2B5EF4-FFF2-40B4-BE49-F238E27FC236}">
                <a16:creationId xmlns:a16="http://schemas.microsoft.com/office/drawing/2014/main" id="{22B3E27D-4028-451E-8CB1-6A959F53B9EA}"/>
              </a:ext>
            </a:extLst>
          </p:cNvPr>
          <p:cNvSpPr>
            <a:spLocks xmlns:a="http://schemas.openxmlformats.org/drawingml/2006/main" noGrp="1"/>
          </p:cNvSpPr>
          <p:nvPr/>
        </p:nvSpPr>
        <p:spPr>
          <a:xfrm xmlns:a="http://schemas.openxmlformats.org/drawingml/2006/main">
            <a:off x="5572125" y="1952625"/>
            <a:ext cx="561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766"/>
                </a:solidFill>
                <a:latin typeface="Arial"/>
                <a:ea typeface="Arial"/>
                <a:cs typeface="Arial"/>
              </a:defRPr>
            </a:pPr>
            <a:r>
              <a:rPr sz="1800" b="0">
                <a:solidFill>
                  <a:srgbClr val="526766"/>
                </a:solidFill>
                <a:latin typeface="Arial"/>
                <a:ea typeface="Arial"/>
                <a:cs typeface="Arial"/>
              </a:rPr>
              <a:t>Agent dönem kapsamını alır, veriyi ve kontrolleri hazırlar.</a:t>
            </a:r>
          </a:p>
        </p:txBody>
      </p:sp>
      <p:sp>
        <p:nvSpPr>
          <p:cNvPr id="8" name="">
            <a:extLst xmlns:a="http://schemas.openxmlformats.org/drawingml/2006/main">
              <a:ext uri="{FF2B5EF4-FFF2-40B4-BE49-F238E27FC236}">
                <a16:creationId xmlns:a16="http://schemas.microsoft.com/office/drawing/2014/main" id="{BC3D2DF1-BC9F-48FD-8FE5-2F9109B3E705}"/>
              </a:ext>
            </a:extLst>
          </p:cNvPr>
          <p:cNvSpPr>
            <a:spLocks xmlns:a="http://schemas.openxmlformats.org/drawingml/2006/main" noGrp="1"/>
          </p:cNvSpPr>
          <p:nvPr/>
        </p:nvSpPr>
        <p:spPr>
          <a:xfrm xmlns:a="http://schemas.openxmlformats.org/drawingml/2006/main">
            <a:off x="1524000" y="2800350"/>
            <a:ext cx="9667875" cy="0"/>
          </a:xfrm>
          <a:prstGeom xmlns:a="http://schemas.openxmlformats.org/drawingml/2006/main" prst="line">
            <a:avLst/>
          </a:prstGeom>
          <a:noFill xmlns:a="http://schemas.openxmlformats.org/drawingml/2006/main"/>
          <a:ln xmlns:a="http://schemas.openxmlformats.org/drawingml/2006/main" w="9525">
            <a:solidFill>
              <a:srgbClr val="C6D4CE"/>
            </a:solidFill>
          </a:ln>
        </p:spPr>
      </p:sp>
      <p:sp>
        <p:nvSpPr>
          <p:cNvPr id="9" name="">
            <a:extLst xmlns:a="http://schemas.openxmlformats.org/drawingml/2006/main">
              <a:ext uri="{FF2B5EF4-FFF2-40B4-BE49-F238E27FC236}">
                <a16:creationId xmlns:a16="http://schemas.microsoft.com/office/drawing/2014/main" id="{3B68A97F-6F11-47A3-8A50-5635D0C5315A}"/>
              </a:ext>
            </a:extLst>
          </p:cNvPr>
          <p:cNvSpPr>
            <a:spLocks xmlns:a="http://schemas.openxmlformats.org/drawingml/2006/main" noGrp="1"/>
          </p:cNvSpPr>
          <p:nvPr/>
        </p:nvSpPr>
        <p:spPr>
          <a:xfrm xmlns:a="http://schemas.openxmlformats.org/drawingml/2006/main">
            <a:off x="685800" y="318135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86C63"/>
                </a:solidFill>
                <a:latin typeface="Arial"/>
                <a:ea typeface="Arial"/>
                <a:cs typeface="Arial"/>
              </a:defRPr>
            </a:pPr>
            <a:r>
              <a:rPr sz="1800" b="1">
                <a:solidFill>
                  <a:srgbClr val="286C63"/>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490A7BE8-472B-4B5F-A738-71460BDCE9C0}"/>
              </a:ext>
            </a:extLst>
          </p:cNvPr>
          <p:cNvSpPr>
            <a:spLocks xmlns:a="http://schemas.openxmlformats.org/drawingml/2006/main" noGrp="1"/>
          </p:cNvSpPr>
          <p:nvPr/>
        </p:nvSpPr>
        <p:spPr>
          <a:xfrm xmlns:a="http://schemas.openxmlformats.org/drawingml/2006/main">
            <a:off x="1524000" y="3152775"/>
            <a:ext cx="3571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Fark ve müdahale</a:t>
            </a:r>
          </a:p>
        </p:txBody>
      </p:sp>
      <p:sp>
        <p:nvSpPr>
          <p:cNvPr id="11" name="">
            <a:extLst xmlns:a="http://schemas.openxmlformats.org/drawingml/2006/main">
              <a:ext uri="{FF2B5EF4-FFF2-40B4-BE49-F238E27FC236}">
                <a16:creationId xmlns:a16="http://schemas.microsoft.com/office/drawing/2014/main" id="{18831871-59E9-464D-920D-84430F09F8C1}"/>
              </a:ext>
            </a:extLst>
          </p:cNvPr>
          <p:cNvSpPr>
            <a:spLocks xmlns:a="http://schemas.openxmlformats.org/drawingml/2006/main" noGrp="1"/>
          </p:cNvSpPr>
          <p:nvPr/>
        </p:nvSpPr>
        <p:spPr>
          <a:xfrm xmlns:a="http://schemas.openxmlformats.org/drawingml/2006/main">
            <a:off x="5572125" y="3181350"/>
            <a:ext cx="561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766"/>
                </a:solidFill>
                <a:latin typeface="Arial"/>
                <a:ea typeface="Arial"/>
                <a:cs typeface="Arial"/>
              </a:defRPr>
            </a:pPr>
            <a:r>
              <a:rPr sz="1800" b="0">
                <a:solidFill>
                  <a:srgbClr val="526766"/>
                </a:solidFill>
                <a:latin typeface="Arial"/>
                <a:ea typeface="Arial"/>
                <a:cs typeface="Arial"/>
              </a:rPr>
              <a:t>Mizan farkında süreç durur. Uzman farkı çözer veya gerekçeli istisnayı onaylar.</a:t>
            </a:r>
          </a:p>
        </p:txBody>
      </p:sp>
      <p:sp>
        <p:nvSpPr>
          <p:cNvPr id="12" name="">
            <a:extLst xmlns:a="http://schemas.openxmlformats.org/drawingml/2006/main">
              <a:ext uri="{FF2B5EF4-FFF2-40B4-BE49-F238E27FC236}">
                <a16:creationId xmlns:a16="http://schemas.microsoft.com/office/drawing/2014/main" id="{3289671C-4F8C-4942-8A8D-1269494F4686}"/>
              </a:ext>
            </a:extLst>
          </p:cNvPr>
          <p:cNvSpPr>
            <a:spLocks xmlns:a="http://schemas.openxmlformats.org/drawingml/2006/main" noGrp="1"/>
          </p:cNvSpPr>
          <p:nvPr/>
        </p:nvSpPr>
        <p:spPr>
          <a:xfrm xmlns:a="http://schemas.openxmlformats.org/drawingml/2006/main">
            <a:off x="1524000" y="4029075"/>
            <a:ext cx="9667875" cy="0"/>
          </a:xfrm>
          <a:prstGeom xmlns:a="http://schemas.openxmlformats.org/drawingml/2006/main" prst="line">
            <a:avLst/>
          </a:prstGeom>
          <a:noFill xmlns:a="http://schemas.openxmlformats.org/drawingml/2006/main"/>
          <a:ln xmlns:a="http://schemas.openxmlformats.org/drawingml/2006/main" w="9525">
            <a:solidFill>
              <a:srgbClr val="C6D4CE"/>
            </a:solidFill>
          </a:ln>
        </p:spPr>
      </p:sp>
      <p:sp>
        <p:nvSpPr>
          <p:cNvPr id="13" name="">
            <a:extLst xmlns:a="http://schemas.openxmlformats.org/drawingml/2006/main">
              <a:ext uri="{FF2B5EF4-FFF2-40B4-BE49-F238E27FC236}">
                <a16:creationId xmlns:a16="http://schemas.microsoft.com/office/drawing/2014/main" id="{B01A05B6-4135-495A-955E-EFF89A506F81}"/>
              </a:ext>
            </a:extLst>
          </p:cNvPr>
          <p:cNvSpPr>
            <a:spLocks xmlns:a="http://schemas.openxmlformats.org/drawingml/2006/main" noGrp="1"/>
          </p:cNvSpPr>
          <p:nvPr/>
        </p:nvSpPr>
        <p:spPr>
          <a:xfrm xmlns:a="http://schemas.openxmlformats.org/drawingml/2006/main">
            <a:off x="685800" y="4410075"/>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86C63"/>
                </a:solidFill>
                <a:latin typeface="Arial"/>
                <a:ea typeface="Arial"/>
                <a:cs typeface="Arial"/>
              </a:defRPr>
            </a:pPr>
            <a:r>
              <a:rPr sz="1800" b="1">
                <a:solidFill>
                  <a:srgbClr val="286C6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683CEE0E-CF9F-4FED-9DFB-EF7FAAEED82C}"/>
              </a:ext>
            </a:extLst>
          </p:cNvPr>
          <p:cNvSpPr>
            <a:spLocks xmlns:a="http://schemas.openxmlformats.org/drawingml/2006/main" noGrp="1"/>
          </p:cNvSpPr>
          <p:nvPr/>
        </p:nvSpPr>
        <p:spPr>
          <a:xfrm xmlns:a="http://schemas.openxmlformats.org/drawingml/2006/main">
            <a:off x="1524000" y="4381500"/>
            <a:ext cx="3571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Model ve değerlendirme</a:t>
            </a:r>
          </a:p>
        </p:txBody>
      </p:sp>
      <p:sp>
        <p:nvSpPr>
          <p:cNvPr id="15" name="">
            <a:extLst xmlns:a="http://schemas.openxmlformats.org/drawingml/2006/main">
              <a:ext uri="{FF2B5EF4-FFF2-40B4-BE49-F238E27FC236}">
                <a16:creationId xmlns:a16="http://schemas.microsoft.com/office/drawing/2014/main" id="{F701E6F7-B1A1-47FE-AFEB-D2F4F5661182}"/>
              </a:ext>
            </a:extLst>
          </p:cNvPr>
          <p:cNvSpPr>
            <a:spLocks xmlns:a="http://schemas.openxmlformats.org/drawingml/2006/main" noGrp="1"/>
          </p:cNvSpPr>
          <p:nvPr/>
        </p:nvSpPr>
        <p:spPr>
          <a:xfrm xmlns:a="http://schemas.openxmlformats.org/drawingml/2006/main">
            <a:off x="5572125" y="4410075"/>
            <a:ext cx="561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766"/>
                </a:solidFill>
                <a:latin typeface="Arial"/>
                <a:ea typeface="Arial"/>
                <a:cs typeface="Arial"/>
              </a:defRPr>
            </a:pPr>
            <a:r>
              <a:rPr sz="1800" b="0">
                <a:solidFill>
                  <a:srgbClr val="526766"/>
                </a:solidFill>
                <a:latin typeface="Arial"/>
                <a:ea typeface="Arial"/>
                <a:cs typeface="Arial"/>
              </a:rPr>
              <a:t>Raporlar ve model taslağı oluşur. Aktüer varsayımı ve sonucu değerlendirir.</a:t>
            </a:r>
          </a:p>
        </p:txBody>
      </p:sp>
      <p:sp>
        <p:nvSpPr>
          <p:cNvPr id="16" name="">
            <a:extLst xmlns:a="http://schemas.openxmlformats.org/drawingml/2006/main">
              <a:ext uri="{FF2B5EF4-FFF2-40B4-BE49-F238E27FC236}">
                <a16:creationId xmlns:a16="http://schemas.microsoft.com/office/drawing/2014/main" id="{B69B8C37-9366-4115-B459-BBD71A3A7036}"/>
              </a:ext>
            </a:extLst>
          </p:cNvPr>
          <p:cNvSpPr>
            <a:spLocks xmlns:a="http://schemas.openxmlformats.org/drawingml/2006/main" noGrp="1"/>
          </p:cNvSpPr>
          <p:nvPr/>
        </p:nvSpPr>
        <p:spPr>
          <a:xfrm xmlns:a="http://schemas.openxmlformats.org/drawingml/2006/main">
            <a:off x="1524000" y="5257800"/>
            <a:ext cx="9667875" cy="0"/>
          </a:xfrm>
          <a:prstGeom xmlns:a="http://schemas.openxmlformats.org/drawingml/2006/main" prst="line">
            <a:avLst/>
          </a:prstGeom>
          <a:noFill xmlns:a="http://schemas.openxmlformats.org/drawingml/2006/main"/>
          <a:ln xmlns:a="http://schemas.openxmlformats.org/drawingml/2006/main" w="9525">
            <a:solidFill>
              <a:srgbClr val="C6D4CE"/>
            </a:solidFill>
          </a:ln>
        </p:spPr>
      </p:sp>
    </p:spTree>
    <p:extLst>
      <p:ext uri="{BB962C8B-B14F-4D97-AF65-F5344CB8AC3E}">
        <p14:creationId xmlns:p14="http://schemas.microsoft.com/office/powerpoint/2010/main" val="1694136888"/>
      </p:ext>
    </p:extLst>
  </p:cSld>
</p:sld>
</file>

<file path=ppt/slides/slide11.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6B7E34-0D34-48D2-A56D-5AE318C2CAB6}"/>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Modele erişim, soruyla başlar</a:t>
            </a:r>
          </a:p>
        </p:txBody>
      </p:sp>
      <p:sp>
        <p:nvSpPr>
          <p:cNvPr id="2" name="">
            <a:extLst xmlns:a="http://schemas.openxmlformats.org/drawingml/2006/main">
              <a:ext uri="{FF2B5EF4-FFF2-40B4-BE49-F238E27FC236}">
                <a16:creationId xmlns:a16="http://schemas.microsoft.com/office/drawing/2014/main" id="{5DF8BF8F-A60B-44B4-BF93-98E42F804BC9}"/>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76554083-6C84-4083-8E8D-17E41CF0AA2C}"/>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B343D00-3D41-4ECF-BFFC-8ADB50A28F42}"/>
              </a:ext>
            </a:extLst>
          </p:cNvPr>
          <p:cNvSpPr>
            <a:spLocks xmlns:a="http://schemas.openxmlformats.org/drawingml/2006/main" noGrp="1"/>
          </p:cNvSpPr>
          <p:nvPr/>
        </p:nvSpPr>
        <p:spPr>
          <a:xfrm xmlns:a="http://schemas.openxmlformats.org/drawingml/2006/main">
            <a:off x="685800" y="6029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26766"/>
                </a:solidFill>
                <a:latin typeface="Arial"/>
                <a:ea typeface="Arial"/>
                <a:cs typeface="Arial"/>
              </a:defRPr>
            </a:pPr>
            <a:r>
              <a:rPr sz="1200" b="0">
                <a:solidFill>
                  <a:srgbClr val="526766"/>
                </a:solidFill>
                <a:latin typeface="Arial"/>
                <a:ea typeface="Arial"/>
                <a:cs typeface="Arial"/>
              </a:rPr>
              <a:t>Örnek sorular: yetkili veri ve model kapsamına bağlı agent desteği</a:t>
            </a:r>
          </a:p>
        </p:txBody>
      </p:sp>
      <p:sp>
        <p:nvSpPr>
          <p:cNvPr id="5" name="">
            <a:extLst xmlns:a="http://schemas.openxmlformats.org/drawingml/2006/main">
              <a:ext uri="{FF2B5EF4-FFF2-40B4-BE49-F238E27FC236}">
                <a16:creationId xmlns:a16="http://schemas.microsoft.com/office/drawing/2014/main" id="{4FCBA8D7-30F4-4411-BFEA-A4E5C410155C}"/>
              </a:ext>
            </a:extLst>
          </p:cNvPr>
          <p:cNvSpPr>
            <a:spLocks xmlns:a="http://schemas.openxmlformats.org/drawingml/2006/main" noGrp="1"/>
          </p:cNvSpPr>
          <p:nvPr/>
        </p:nvSpPr>
        <p:spPr>
          <a:xfrm xmlns:a="http://schemas.openxmlformats.org/drawingml/2006/main">
            <a:off x="685800" y="20955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286C63"/>
                </a:solidFill>
                <a:latin typeface="Arial"/>
                <a:ea typeface="Arial"/>
                <a:cs typeface="Arial"/>
              </a:defRPr>
            </a:pPr>
            <a:r>
              <a:rPr sz="2700" b="1">
                <a:solidFill>
                  <a:srgbClr val="286C63"/>
                </a:solidFill>
                <a:latin typeface="Arial"/>
                <a:ea typeface="Arial"/>
                <a:cs typeface="Arial"/>
              </a:rPr>
              <a:t>“Rezerv değişimini hangi dönemler açıklıyor?”</a:t>
            </a:r>
          </a:p>
        </p:txBody>
      </p:sp>
      <p:sp>
        <p:nvSpPr>
          <p:cNvPr id="6" name="">
            <a:extLst xmlns:a="http://schemas.openxmlformats.org/drawingml/2006/main">
              <a:ext uri="{FF2B5EF4-FFF2-40B4-BE49-F238E27FC236}">
                <a16:creationId xmlns:a16="http://schemas.microsoft.com/office/drawing/2014/main" id="{BD6D4C5C-A303-4774-8CA5-A6954F2D4F82}"/>
              </a:ext>
            </a:extLst>
          </p:cNvPr>
          <p:cNvSpPr>
            <a:spLocks xmlns:a="http://schemas.openxmlformats.org/drawingml/2006/main" noGrp="1"/>
          </p:cNvSpPr>
          <p:nvPr/>
        </p:nvSpPr>
        <p:spPr>
          <a:xfrm xmlns:a="http://schemas.openxmlformats.org/drawingml/2006/main">
            <a:off x="685800" y="31623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286C63"/>
                </a:solidFill>
                <a:latin typeface="Arial"/>
                <a:ea typeface="Arial"/>
                <a:cs typeface="Arial"/>
              </a:defRPr>
            </a:pPr>
            <a:r>
              <a:rPr sz="2700" b="1">
                <a:solidFill>
                  <a:srgbClr val="286C63"/>
                </a:solidFill>
                <a:latin typeface="Arial"/>
                <a:ea typeface="Arial"/>
                <a:cs typeface="Arial"/>
              </a:rPr>
              <a:t>“Bu varsayımı değiştirirsek sonuç nasıl etkilenir?”</a:t>
            </a:r>
          </a:p>
        </p:txBody>
      </p:sp>
      <p:sp>
        <p:nvSpPr>
          <p:cNvPr id="7" name="">
            <a:extLst xmlns:a="http://schemas.openxmlformats.org/drawingml/2006/main">
              <a:ext uri="{FF2B5EF4-FFF2-40B4-BE49-F238E27FC236}">
                <a16:creationId xmlns:a16="http://schemas.microsoft.com/office/drawing/2014/main" id="{EB8634EA-D4EC-4FEA-8E38-77238ADD8828}"/>
              </a:ext>
            </a:extLst>
          </p:cNvPr>
          <p:cNvSpPr>
            <a:spLocks xmlns:a="http://schemas.openxmlformats.org/drawingml/2006/main" noGrp="1"/>
          </p:cNvSpPr>
          <p:nvPr/>
        </p:nvSpPr>
        <p:spPr>
          <a:xfrm xmlns:a="http://schemas.openxmlformats.org/drawingml/2006/main">
            <a:off x="685800" y="43910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286C63"/>
                </a:solidFill>
                <a:latin typeface="Arial"/>
                <a:ea typeface="Arial"/>
                <a:cs typeface="Arial"/>
              </a:defRPr>
            </a:pPr>
            <a:r>
              <a:rPr sz="2700" b="1">
                <a:solidFill>
                  <a:srgbClr val="286C63"/>
                </a:solidFill>
                <a:latin typeface="Arial"/>
                <a:ea typeface="Arial"/>
                <a:cs typeface="Arial"/>
              </a:rPr>
              <a:t>“Kaynak veriye ve kontrol sonucuna dönebilir miyim?”</a:t>
            </a:r>
          </a:p>
        </p:txBody>
      </p:sp>
    </p:spTree>
    <p:extLst>
      <p:ext uri="{BB962C8B-B14F-4D97-AF65-F5344CB8AC3E}">
        <p14:creationId xmlns:p14="http://schemas.microsoft.com/office/powerpoint/2010/main" val="1660363247"/>
      </p:ext>
    </p:extLst>
  </p:cSld>
</p:sld>
</file>

<file path=ppt/slides/slide12.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051A8D8-8479-4106-AE10-988A7521484E}"/>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Beklediğimiz değer</a:t>
            </a:r>
          </a:p>
        </p:txBody>
      </p:sp>
      <p:sp>
        <p:nvSpPr>
          <p:cNvPr id="2" name="">
            <a:extLst xmlns:a="http://schemas.openxmlformats.org/drawingml/2006/main">
              <a:ext uri="{FF2B5EF4-FFF2-40B4-BE49-F238E27FC236}">
                <a16:creationId xmlns:a16="http://schemas.microsoft.com/office/drawing/2014/main" id="{AE97F9EE-C094-4505-B26C-777C20EB1E99}"/>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3AED3599-69D1-48A6-8311-5ADB3FB791AC}"/>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C23EE310-4BE9-4B80-9133-57B81B40A6CD}"/>
              </a:ext>
            </a:extLst>
          </p:cNvPr>
          <p:cNvSpPr>
            <a:spLocks xmlns:a="http://schemas.openxmlformats.org/drawingml/2006/main" noGrp="1"/>
          </p:cNvSpPr>
          <p:nvPr/>
        </p:nvSpPr>
        <p:spPr>
          <a:xfrm xmlns:a="http://schemas.openxmlformats.org/drawingml/2006/main">
            <a:off x="685800" y="6029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26766"/>
                </a:solidFill>
                <a:latin typeface="Arial"/>
                <a:ea typeface="Arial"/>
                <a:cs typeface="Arial"/>
              </a:defRPr>
            </a:pPr>
            <a:r>
              <a:rPr sz="1200" b="0">
                <a:solidFill>
                  <a:srgbClr val="526766"/>
                </a:solidFill>
                <a:latin typeface="Arial"/>
                <a:ea typeface="Arial"/>
                <a:cs typeface="Arial"/>
              </a:rPr>
              <a:t>Beklenen faydalar: gerçekleşen etki pilot ölçümüyle doğrulanacak</a:t>
            </a:r>
          </a:p>
        </p:txBody>
      </p:sp>
      <p:sp>
        <p:nvSpPr>
          <p:cNvPr id="5" name="">
            <a:extLst xmlns:a="http://schemas.openxmlformats.org/drawingml/2006/main">
              <a:ext uri="{FF2B5EF4-FFF2-40B4-BE49-F238E27FC236}">
                <a16:creationId xmlns:a16="http://schemas.microsoft.com/office/drawing/2014/main" id="{97448849-1E64-42CF-A870-6B05AF2AD44B}"/>
              </a:ext>
            </a:extLst>
          </p:cNvPr>
          <p:cNvSpPr>
            <a:spLocks xmlns:a="http://schemas.openxmlformats.org/drawingml/2006/main" noGrp="1"/>
          </p:cNvSpPr>
          <p:nvPr/>
        </p:nvSpPr>
        <p:spPr>
          <a:xfrm xmlns:a="http://schemas.openxmlformats.org/drawingml/2006/main">
            <a:off x="685800" y="2009775"/>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86C63"/>
                </a:solidFill>
                <a:latin typeface="Arial"/>
                <a:ea typeface="Arial"/>
                <a:cs typeface="Arial"/>
              </a:defRPr>
            </a:pPr>
            <a:r>
              <a:rPr sz="1800" b="1">
                <a:solidFill>
                  <a:srgbClr val="286C6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19256A2-9D3B-4B9A-BE21-7C9D7B28DB5A}"/>
              </a:ext>
            </a:extLst>
          </p:cNvPr>
          <p:cNvSpPr>
            <a:spLocks xmlns:a="http://schemas.openxmlformats.org/drawingml/2006/main" noGrp="1"/>
          </p:cNvSpPr>
          <p:nvPr/>
        </p:nvSpPr>
        <p:spPr>
          <a:xfrm xmlns:a="http://schemas.openxmlformats.org/drawingml/2006/main">
            <a:off x="1524000" y="1981200"/>
            <a:ext cx="3571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Zaman kazanımı</a:t>
            </a:r>
          </a:p>
        </p:txBody>
      </p:sp>
      <p:sp>
        <p:nvSpPr>
          <p:cNvPr id="7" name="">
            <a:extLst xmlns:a="http://schemas.openxmlformats.org/drawingml/2006/main">
              <a:ext uri="{FF2B5EF4-FFF2-40B4-BE49-F238E27FC236}">
                <a16:creationId xmlns:a16="http://schemas.microsoft.com/office/drawing/2014/main" id="{78298372-A056-484A-AC3C-DC8CC5093E5A}"/>
              </a:ext>
            </a:extLst>
          </p:cNvPr>
          <p:cNvSpPr>
            <a:spLocks xmlns:a="http://schemas.openxmlformats.org/drawingml/2006/main" noGrp="1"/>
          </p:cNvSpPr>
          <p:nvPr/>
        </p:nvSpPr>
        <p:spPr>
          <a:xfrm xmlns:a="http://schemas.openxmlformats.org/drawingml/2006/main">
            <a:off x="5572125" y="2009775"/>
            <a:ext cx="561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766"/>
                </a:solidFill>
                <a:latin typeface="Arial"/>
                <a:ea typeface="Arial"/>
                <a:cs typeface="Arial"/>
              </a:defRPr>
            </a:pPr>
            <a:r>
              <a:rPr sz="1800" b="0">
                <a:solidFill>
                  <a:srgbClr val="526766"/>
                </a:solidFill>
                <a:latin typeface="Arial"/>
                <a:ea typeface="Arial"/>
                <a:cs typeface="Arial"/>
              </a:rPr>
              <a:t>Tekrarlı veri hazırlığı, rapor çalıştırma ve aktarımın azalması</a:t>
            </a:r>
          </a:p>
        </p:txBody>
      </p:sp>
      <p:sp>
        <p:nvSpPr>
          <p:cNvPr id="8" name="">
            <a:extLst xmlns:a="http://schemas.openxmlformats.org/drawingml/2006/main">
              <a:ext uri="{FF2B5EF4-FFF2-40B4-BE49-F238E27FC236}">
                <a16:creationId xmlns:a16="http://schemas.microsoft.com/office/drawing/2014/main" id="{3FEEAAC6-2CA9-4DE8-A51E-7523BA8DA829}"/>
              </a:ext>
            </a:extLst>
          </p:cNvPr>
          <p:cNvSpPr>
            <a:spLocks xmlns:a="http://schemas.openxmlformats.org/drawingml/2006/main" noGrp="1"/>
          </p:cNvSpPr>
          <p:nvPr/>
        </p:nvSpPr>
        <p:spPr>
          <a:xfrm xmlns:a="http://schemas.openxmlformats.org/drawingml/2006/main">
            <a:off x="1524000" y="2857500"/>
            <a:ext cx="9667875" cy="0"/>
          </a:xfrm>
          <a:prstGeom xmlns:a="http://schemas.openxmlformats.org/drawingml/2006/main" prst="line">
            <a:avLst/>
          </a:prstGeom>
          <a:noFill xmlns:a="http://schemas.openxmlformats.org/drawingml/2006/main"/>
          <a:ln xmlns:a="http://schemas.openxmlformats.org/drawingml/2006/main" w="9525">
            <a:solidFill>
              <a:srgbClr val="C6D4CE"/>
            </a:solidFill>
          </a:ln>
        </p:spPr>
      </p:sp>
      <p:sp>
        <p:nvSpPr>
          <p:cNvPr id="9" name="">
            <a:extLst xmlns:a="http://schemas.openxmlformats.org/drawingml/2006/main">
              <a:ext uri="{FF2B5EF4-FFF2-40B4-BE49-F238E27FC236}">
                <a16:creationId xmlns:a16="http://schemas.microsoft.com/office/drawing/2014/main" id="{717F89EC-EC44-4770-843B-98CE9BAC5052}"/>
              </a:ext>
            </a:extLst>
          </p:cNvPr>
          <p:cNvSpPr>
            <a:spLocks xmlns:a="http://schemas.openxmlformats.org/drawingml/2006/main" noGrp="1"/>
          </p:cNvSpPr>
          <p:nvPr/>
        </p:nvSpPr>
        <p:spPr>
          <a:xfrm xmlns:a="http://schemas.openxmlformats.org/drawingml/2006/main">
            <a:off x="685800" y="323850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86C63"/>
                </a:solidFill>
                <a:latin typeface="Arial"/>
                <a:ea typeface="Arial"/>
                <a:cs typeface="Arial"/>
              </a:defRPr>
            </a:pPr>
            <a:r>
              <a:rPr sz="1800" b="1">
                <a:solidFill>
                  <a:srgbClr val="286C63"/>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DE51F3A-5C22-4AEC-A841-184B65E16D9B}"/>
              </a:ext>
            </a:extLst>
          </p:cNvPr>
          <p:cNvSpPr>
            <a:spLocks xmlns:a="http://schemas.openxmlformats.org/drawingml/2006/main" noGrp="1"/>
          </p:cNvSpPr>
          <p:nvPr/>
        </p:nvSpPr>
        <p:spPr>
          <a:xfrm xmlns:a="http://schemas.openxmlformats.org/drawingml/2006/main">
            <a:off x="1524000" y="3209925"/>
            <a:ext cx="3571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Daha tutarlı analiz</a:t>
            </a:r>
          </a:p>
        </p:txBody>
      </p:sp>
      <p:sp>
        <p:nvSpPr>
          <p:cNvPr id="11" name="">
            <a:extLst xmlns:a="http://schemas.openxmlformats.org/drawingml/2006/main">
              <a:ext uri="{FF2B5EF4-FFF2-40B4-BE49-F238E27FC236}">
                <a16:creationId xmlns:a16="http://schemas.microsoft.com/office/drawing/2014/main" id="{D6DBBAA3-EA30-444D-A373-D76B9800ADDA}"/>
              </a:ext>
            </a:extLst>
          </p:cNvPr>
          <p:cNvSpPr>
            <a:spLocks xmlns:a="http://schemas.openxmlformats.org/drawingml/2006/main" noGrp="1"/>
          </p:cNvSpPr>
          <p:nvPr/>
        </p:nvSpPr>
        <p:spPr>
          <a:xfrm xmlns:a="http://schemas.openxmlformats.org/drawingml/2006/main">
            <a:off x="5572125" y="3238500"/>
            <a:ext cx="561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766"/>
                </a:solidFill>
                <a:latin typeface="Arial"/>
                <a:ea typeface="Arial"/>
                <a:cs typeface="Arial"/>
              </a:defRPr>
            </a:pPr>
            <a:r>
              <a:rPr sz="1800" b="0">
                <a:solidFill>
                  <a:srgbClr val="526766"/>
                </a:solidFill>
                <a:latin typeface="Arial"/>
                <a:ea typeface="Arial"/>
                <a:cs typeface="Arial"/>
              </a:rPr>
              <a:t>Ortak veri sürümü, kontrol seti ve yöntem tanımları</a:t>
            </a:r>
          </a:p>
        </p:txBody>
      </p:sp>
      <p:sp>
        <p:nvSpPr>
          <p:cNvPr id="12" name="">
            <a:extLst xmlns:a="http://schemas.openxmlformats.org/drawingml/2006/main">
              <a:ext uri="{FF2B5EF4-FFF2-40B4-BE49-F238E27FC236}">
                <a16:creationId xmlns:a16="http://schemas.microsoft.com/office/drawing/2014/main" id="{44D8BC16-E74D-4040-B284-9FDC195C6B9A}"/>
              </a:ext>
            </a:extLst>
          </p:cNvPr>
          <p:cNvSpPr>
            <a:spLocks xmlns:a="http://schemas.openxmlformats.org/drawingml/2006/main" noGrp="1"/>
          </p:cNvSpPr>
          <p:nvPr/>
        </p:nvSpPr>
        <p:spPr>
          <a:xfrm xmlns:a="http://schemas.openxmlformats.org/drawingml/2006/main">
            <a:off x="1524000" y="4086225"/>
            <a:ext cx="9667875" cy="0"/>
          </a:xfrm>
          <a:prstGeom xmlns:a="http://schemas.openxmlformats.org/drawingml/2006/main" prst="line">
            <a:avLst/>
          </a:prstGeom>
          <a:noFill xmlns:a="http://schemas.openxmlformats.org/drawingml/2006/main"/>
          <a:ln xmlns:a="http://schemas.openxmlformats.org/drawingml/2006/main" w="9525">
            <a:solidFill>
              <a:srgbClr val="C6D4CE"/>
            </a:solidFill>
          </a:ln>
        </p:spPr>
      </p:sp>
      <p:sp>
        <p:nvSpPr>
          <p:cNvPr id="13" name="">
            <a:extLst xmlns:a="http://schemas.openxmlformats.org/drawingml/2006/main">
              <a:ext uri="{FF2B5EF4-FFF2-40B4-BE49-F238E27FC236}">
                <a16:creationId xmlns:a16="http://schemas.microsoft.com/office/drawing/2014/main" id="{7AC426F5-1C8F-4AEF-AE37-21F3DCE2E0AE}"/>
              </a:ext>
            </a:extLst>
          </p:cNvPr>
          <p:cNvSpPr>
            <a:spLocks xmlns:a="http://schemas.openxmlformats.org/drawingml/2006/main" noGrp="1"/>
          </p:cNvSpPr>
          <p:nvPr/>
        </p:nvSpPr>
        <p:spPr>
          <a:xfrm xmlns:a="http://schemas.openxmlformats.org/drawingml/2006/main">
            <a:off x="685800" y="4467225"/>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86C63"/>
                </a:solidFill>
                <a:latin typeface="Arial"/>
                <a:ea typeface="Arial"/>
                <a:cs typeface="Arial"/>
              </a:defRPr>
            </a:pPr>
            <a:r>
              <a:rPr sz="1800" b="1">
                <a:solidFill>
                  <a:srgbClr val="286C6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72E63BC0-D9C0-43CB-8F68-6AA0F396F8C8}"/>
              </a:ext>
            </a:extLst>
          </p:cNvPr>
          <p:cNvSpPr>
            <a:spLocks xmlns:a="http://schemas.openxmlformats.org/drawingml/2006/main" noGrp="1"/>
          </p:cNvSpPr>
          <p:nvPr/>
        </p:nvSpPr>
        <p:spPr>
          <a:xfrm xmlns:a="http://schemas.openxmlformats.org/drawingml/2006/main">
            <a:off x="1524000" y="4438650"/>
            <a:ext cx="3571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F3434"/>
                </a:solidFill>
                <a:latin typeface="Arial"/>
                <a:ea typeface="Arial"/>
                <a:cs typeface="Arial"/>
              </a:defRPr>
            </a:pPr>
            <a:r>
              <a:rPr sz="2250" b="1">
                <a:solidFill>
                  <a:srgbClr val="1F3434"/>
                </a:solidFill>
                <a:latin typeface="Arial"/>
                <a:ea typeface="Arial"/>
                <a:cs typeface="Arial"/>
              </a:rPr>
              <a:t>Daha güçlü karar desteği</a:t>
            </a:r>
          </a:p>
        </p:txBody>
      </p:sp>
      <p:sp>
        <p:nvSpPr>
          <p:cNvPr id="15" name="">
            <a:extLst xmlns:a="http://schemas.openxmlformats.org/drawingml/2006/main">
              <a:ext uri="{FF2B5EF4-FFF2-40B4-BE49-F238E27FC236}">
                <a16:creationId xmlns:a16="http://schemas.microsoft.com/office/drawing/2014/main" id="{A0F2BC3A-9A1F-4589-BAEC-63852AC0364B}"/>
              </a:ext>
            </a:extLst>
          </p:cNvPr>
          <p:cNvSpPr>
            <a:spLocks xmlns:a="http://schemas.openxmlformats.org/drawingml/2006/main" noGrp="1"/>
          </p:cNvSpPr>
          <p:nvPr/>
        </p:nvSpPr>
        <p:spPr>
          <a:xfrm xmlns:a="http://schemas.openxmlformats.org/drawingml/2006/main">
            <a:off x="5572125" y="4467225"/>
            <a:ext cx="561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766"/>
                </a:solidFill>
                <a:latin typeface="Arial"/>
                <a:ea typeface="Arial"/>
                <a:cs typeface="Arial"/>
              </a:defRPr>
            </a:pPr>
            <a:r>
              <a:rPr sz="1800" b="0">
                <a:solidFill>
                  <a:srgbClr val="526766"/>
                </a:solidFill>
                <a:latin typeface="Arial"/>
                <a:ea typeface="Arial"/>
                <a:cs typeface="Arial"/>
              </a:rPr>
              <a:t>Modele hızlı erişim ve sonucun dayanağına geri dönüş</a:t>
            </a:r>
          </a:p>
        </p:txBody>
      </p:sp>
      <p:sp>
        <p:nvSpPr>
          <p:cNvPr id="16" name="">
            <a:extLst xmlns:a="http://schemas.openxmlformats.org/drawingml/2006/main">
              <a:ext uri="{FF2B5EF4-FFF2-40B4-BE49-F238E27FC236}">
                <a16:creationId xmlns:a16="http://schemas.microsoft.com/office/drawing/2014/main" id="{5051E8B5-49BF-4E2D-B19E-565A3BC18C89}"/>
              </a:ext>
            </a:extLst>
          </p:cNvPr>
          <p:cNvSpPr>
            <a:spLocks xmlns:a="http://schemas.openxmlformats.org/drawingml/2006/main" noGrp="1"/>
          </p:cNvSpPr>
          <p:nvPr/>
        </p:nvSpPr>
        <p:spPr>
          <a:xfrm xmlns:a="http://schemas.openxmlformats.org/drawingml/2006/main">
            <a:off x="1524000" y="5314950"/>
            <a:ext cx="9667875" cy="0"/>
          </a:xfrm>
          <a:prstGeom xmlns:a="http://schemas.openxmlformats.org/drawingml/2006/main" prst="line">
            <a:avLst/>
          </a:prstGeom>
          <a:noFill xmlns:a="http://schemas.openxmlformats.org/drawingml/2006/main"/>
          <a:ln xmlns:a="http://schemas.openxmlformats.org/drawingml/2006/main" w="9525">
            <a:solidFill>
              <a:srgbClr val="C6D4CE"/>
            </a:solidFill>
          </a:ln>
        </p:spPr>
      </p:sp>
    </p:spTree>
    <p:extLst>
      <p:ext uri="{BB962C8B-B14F-4D97-AF65-F5344CB8AC3E}">
        <p14:creationId xmlns:p14="http://schemas.microsoft.com/office/powerpoint/2010/main" val="1316156816"/>
      </p:ext>
    </p:extLst>
  </p:cSld>
</p:sld>
</file>

<file path=ppt/slides/slide13.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A357E5-2CE6-41EC-B5D6-057ED35F054A}"/>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Başarıyı iş akışında ölçeceğiz</a:t>
            </a:r>
          </a:p>
        </p:txBody>
      </p:sp>
      <p:sp>
        <p:nvSpPr>
          <p:cNvPr id="2" name="">
            <a:extLst xmlns:a="http://schemas.openxmlformats.org/drawingml/2006/main">
              <a:ext uri="{FF2B5EF4-FFF2-40B4-BE49-F238E27FC236}">
                <a16:creationId xmlns:a16="http://schemas.microsoft.com/office/drawing/2014/main" id="{7B30DF91-3568-4FAB-875A-D75DDA6463FA}"/>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FACF9AB4-DA31-49DC-90C9-0589EE442C0C}"/>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A8C37A00-2BDC-431B-9C48-3CE9D65251A0}"/>
              </a:ext>
            </a:extLst>
          </p:cNvPr>
          <p:cNvSpPr>
            <a:spLocks xmlns:a="http://schemas.openxmlformats.org/drawingml/2006/main" noGrp="1"/>
          </p:cNvSpPr>
          <p:nvPr/>
        </p:nvSpPr>
        <p:spPr>
          <a:xfrm xmlns:a="http://schemas.openxmlformats.org/drawingml/2006/main">
            <a:off x="685800" y="6029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26766"/>
                </a:solidFill>
                <a:latin typeface="Arial"/>
                <a:ea typeface="Arial"/>
                <a:cs typeface="Arial"/>
              </a:defRPr>
            </a:pPr>
            <a:r>
              <a:rPr sz="1200" b="0">
                <a:solidFill>
                  <a:srgbClr val="526766"/>
                </a:solidFill>
                <a:latin typeface="Arial"/>
                <a:ea typeface="Arial"/>
                <a:cs typeface="Arial"/>
              </a:rPr>
              <a:t>Ölçüm tasarımı: hedef yüzdeler başlangıç değerleri toplandıktan sonra belirlenecek</a:t>
            </a:r>
          </a:p>
        </p:txBody>
      </p:sp>
      <p:sp>
        <p:nvSpPr>
          <p:cNvPr id="5" name="">
            <a:extLst xmlns:a="http://schemas.openxmlformats.org/drawingml/2006/main">
              <a:ext uri="{FF2B5EF4-FFF2-40B4-BE49-F238E27FC236}">
                <a16:creationId xmlns:a16="http://schemas.microsoft.com/office/drawing/2014/main" id="{6D82D77D-958D-4269-BE6B-D26194A8889A}"/>
              </a:ext>
            </a:extLst>
          </p:cNvPr>
          <p:cNvSpPr>
            <a:spLocks xmlns:a="http://schemas.openxmlformats.org/drawingml/2006/main" noGrp="1"/>
          </p:cNvSpPr>
          <p:nvPr/>
        </p:nvSpPr>
        <p:spPr>
          <a:xfrm xmlns:a="http://schemas.openxmlformats.org/drawingml/2006/main">
            <a:off x="685800" y="2371725"/>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00" b="1">
                <a:solidFill>
                  <a:srgbClr val="286C63"/>
                </a:solidFill>
                <a:latin typeface="Arial"/>
                <a:ea typeface="Arial"/>
                <a:cs typeface="Arial"/>
              </a:defRPr>
            </a:pPr>
            <a:r>
              <a:rPr sz="4800" b="1">
                <a:solidFill>
                  <a:srgbClr val="286C63"/>
                </a:solidFill>
                <a:latin typeface="Arial"/>
                <a:ea typeface="Arial"/>
                <a:cs typeface="Arial"/>
              </a:rPr>
              <a:t>Süre</a:t>
            </a:r>
          </a:p>
        </p:txBody>
      </p:sp>
      <p:sp>
        <p:nvSpPr>
          <p:cNvPr id="6" name="">
            <a:extLst xmlns:a="http://schemas.openxmlformats.org/drawingml/2006/main">
              <a:ext uri="{FF2B5EF4-FFF2-40B4-BE49-F238E27FC236}">
                <a16:creationId xmlns:a16="http://schemas.microsoft.com/office/drawing/2014/main" id="{A6D10F7C-35A3-4833-8227-49DCDFEC6395}"/>
              </a:ext>
            </a:extLst>
          </p:cNvPr>
          <p:cNvSpPr>
            <a:spLocks xmlns:a="http://schemas.openxmlformats.org/drawingml/2006/main" noGrp="1"/>
          </p:cNvSpPr>
          <p:nvPr/>
        </p:nvSpPr>
        <p:spPr>
          <a:xfrm xmlns:a="http://schemas.openxmlformats.org/drawingml/2006/main">
            <a:off x="685800" y="361950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Veriden model</a:t>
            </a:r>
          </a:p>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değerlendirmesine</a:t>
            </a:r>
          </a:p>
        </p:txBody>
      </p:sp>
      <p:sp>
        <p:nvSpPr>
          <p:cNvPr id="7" name="">
            <a:extLst xmlns:a="http://schemas.openxmlformats.org/drawingml/2006/main">
              <a:ext uri="{FF2B5EF4-FFF2-40B4-BE49-F238E27FC236}">
                <a16:creationId xmlns:a16="http://schemas.microsoft.com/office/drawing/2014/main" id="{3B9D4A44-A557-4564-9173-E4042B3B9266}"/>
              </a:ext>
            </a:extLst>
          </p:cNvPr>
          <p:cNvSpPr>
            <a:spLocks xmlns:a="http://schemas.openxmlformats.org/drawingml/2006/main" noGrp="1"/>
          </p:cNvSpPr>
          <p:nvPr/>
        </p:nvSpPr>
        <p:spPr>
          <a:xfrm xmlns:a="http://schemas.openxmlformats.org/drawingml/2006/main">
            <a:off x="4371975" y="2371725"/>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00" b="1">
                <a:solidFill>
                  <a:srgbClr val="286C63"/>
                </a:solidFill>
                <a:latin typeface="Arial"/>
                <a:ea typeface="Arial"/>
                <a:cs typeface="Arial"/>
              </a:defRPr>
            </a:pPr>
            <a:r>
              <a:rPr sz="4800" b="1">
                <a:solidFill>
                  <a:srgbClr val="286C63"/>
                </a:solidFill>
                <a:latin typeface="Arial"/>
                <a:ea typeface="Arial"/>
                <a:cs typeface="Arial"/>
              </a:rPr>
              <a:t>Tekrar</a:t>
            </a:r>
          </a:p>
        </p:txBody>
      </p:sp>
      <p:sp>
        <p:nvSpPr>
          <p:cNvPr id="8" name="">
            <a:extLst xmlns:a="http://schemas.openxmlformats.org/drawingml/2006/main">
              <a:ext uri="{FF2B5EF4-FFF2-40B4-BE49-F238E27FC236}">
                <a16:creationId xmlns:a16="http://schemas.microsoft.com/office/drawing/2014/main" id="{8D37627E-409C-41AF-9B71-C0A54C3FF19F}"/>
              </a:ext>
            </a:extLst>
          </p:cNvPr>
          <p:cNvSpPr>
            <a:spLocks xmlns:a="http://schemas.openxmlformats.org/drawingml/2006/main" noGrp="1"/>
          </p:cNvSpPr>
          <p:nvPr/>
        </p:nvSpPr>
        <p:spPr>
          <a:xfrm xmlns:a="http://schemas.openxmlformats.org/drawingml/2006/main">
            <a:off x="4371975" y="361950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Manuel işlem ve</a:t>
            </a:r>
          </a:p>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yeniden çalışma</a:t>
            </a:r>
          </a:p>
        </p:txBody>
      </p:sp>
      <p:sp>
        <p:nvSpPr>
          <p:cNvPr id="9" name="">
            <a:extLst xmlns:a="http://schemas.openxmlformats.org/drawingml/2006/main">
              <a:ext uri="{FF2B5EF4-FFF2-40B4-BE49-F238E27FC236}">
                <a16:creationId xmlns:a16="http://schemas.microsoft.com/office/drawing/2014/main" id="{2AFA8E74-CB9A-4C5F-AEC7-7E150917878A}"/>
              </a:ext>
            </a:extLst>
          </p:cNvPr>
          <p:cNvSpPr>
            <a:spLocks xmlns:a="http://schemas.openxmlformats.org/drawingml/2006/main" noGrp="1"/>
          </p:cNvSpPr>
          <p:nvPr/>
        </p:nvSpPr>
        <p:spPr>
          <a:xfrm xmlns:a="http://schemas.openxmlformats.org/drawingml/2006/main">
            <a:off x="8058150" y="2371725"/>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00" b="1">
                <a:solidFill>
                  <a:srgbClr val="286C63"/>
                </a:solidFill>
                <a:latin typeface="Arial"/>
                <a:ea typeface="Arial"/>
                <a:cs typeface="Arial"/>
              </a:defRPr>
            </a:pPr>
            <a:r>
              <a:rPr sz="4800" b="1">
                <a:solidFill>
                  <a:srgbClr val="286C63"/>
                </a:solidFill>
                <a:latin typeface="Arial"/>
                <a:ea typeface="Arial"/>
                <a:cs typeface="Arial"/>
              </a:rPr>
              <a:t>İz</a:t>
            </a:r>
          </a:p>
        </p:txBody>
      </p:sp>
      <p:sp>
        <p:nvSpPr>
          <p:cNvPr id="10" name="">
            <a:extLst xmlns:a="http://schemas.openxmlformats.org/drawingml/2006/main">
              <a:ext uri="{FF2B5EF4-FFF2-40B4-BE49-F238E27FC236}">
                <a16:creationId xmlns:a16="http://schemas.microsoft.com/office/drawing/2014/main" id="{1C4E3F20-0FC5-4090-AE3E-773237F46B5D}"/>
              </a:ext>
            </a:extLst>
          </p:cNvPr>
          <p:cNvSpPr>
            <a:spLocks xmlns:a="http://schemas.openxmlformats.org/drawingml/2006/main" noGrp="1"/>
          </p:cNvSpPr>
          <p:nvPr/>
        </p:nvSpPr>
        <p:spPr>
          <a:xfrm xmlns:a="http://schemas.openxmlformats.org/drawingml/2006/main">
            <a:off x="8058150" y="361950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Kaynağa bağlı</a:t>
            </a:r>
          </a:p>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model oranı</a:t>
            </a:r>
          </a:p>
        </p:txBody>
      </p:sp>
      <p:sp>
        <p:nvSpPr>
          <p:cNvPr id="11" name="">
            <a:extLst xmlns:a="http://schemas.openxmlformats.org/drawingml/2006/main">
              <a:ext uri="{FF2B5EF4-FFF2-40B4-BE49-F238E27FC236}">
                <a16:creationId xmlns:a16="http://schemas.microsoft.com/office/drawing/2014/main" id="{AB69919D-4F4C-413B-B0C5-B932468D9D4B}"/>
              </a:ext>
            </a:extLst>
          </p:cNvPr>
          <p:cNvSpPr>
            <a:spLocks xmlns:a="http://schemas.openxmlformats.org/drawingml/2006/main" noGrp="1"/>
          </p:cNvSpPr>
          <p:nvPr/>
        </p:nvSpPr>
        <p:spPr>
          <a:xfrm xmlns:a="http://schemas.openxmlformats.org/drawingml/2006/main">
            <a:off x="685800" y="5057775"/>
            <a:ext cx="10820400" cy="0"/>
          </a:xfrm>
          <a:prstGeom xmlns:a="http://schemas.openxmlformats.org/drawingml/2006/main" prst="line">
            <a:avLst/>
          </a:prstGeom>
          <a:noFill xmlns:a="http://schemas.openxmlformats.org/drawingml/2006/main"/>
          <a:ln xmlns:a="http://schemas.openxmlformats.org/drawingml/2006/main" w="9525">
            <a:solidFill>
              <a:srgbClr val="C6D4CE"/>
            </a:solidFill>
          </a:ln>
        </p:spPr>
      </p:sp>
      <p:sp>
        <p:nvSpPr>
          <p:cNvPr id="12" name="">
            <a:extLst xmlns:a="http://schemas.openxmlformats.org/drawingml/2006/main">
              <a:ext uri="{FF2B5EF4-FFF2-40B4-BE49-F238E27FC236}">
                <a16:creationId xmlns:a16="http://schemas.microsoft.com/office/drawing/2014/main" id="{A06BAB94-5D94-4444-8966-2A15521AFA65}"/>
              </a:ext>
            </a:extLst>
          </p:cNvPr>
          <p:cNvSpPr>
            <a:spLocks xmlns:a="http://schemas.openxmlformats.org/drawingml/2006/main" noGrp="1"/>
          </p:cNvSpPr>
          <p:nvPr/>
        </p:nvSpPr>
        <p:spPr>
          <a:xfrm xmlns:a="http://schemas.openxmlformats.org/drawingml/2006/main">
            <a:off x="685800" y="53911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526766"/>
                </a:solidFill>
                <a:latin typeface="Arial"/>
                <a:ea typeface="Arial"/>
                <a:cs typeface="Arial"/>
              </a:defRPr>
            </a:pPr>
            <a:r>
              <a:rPr sz="2175" b="0">
                <a:solidFill>
                  <a:srgbClr val="526766"/>
                </a:solidFill>
                <a:latin typeface="Arial"/>
                <a:ea typeface="Arial"/>
                <a:cs typeface="Arial"/>
              </a:rPr>
              <a:t>Aynı branş, aynı dönem kapsamı, karşılaştırılabilir çıktı</a:t>
            </a:r>
          </a:p>
        </p:txBody>
      </p:sp>
    </p:spTree>
    <p:extLst>
      <p:ext uri="{BB962C8B-B14F-4D97-AF65-F5344CB8AC3E}">
        <p14:creationId xmlns:p14="http://schemas.microsoft.com/office/powerpoint/2010/main" val="2091250847"/>
      </p:ext>
    </p:extLst>
  </p:cSld>
</p:sld>
</file>

<file path=ppt/slides/slide14.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BDC06BA-268D-46C0-A3F7-21F3DBF4D805}"/>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Uzmanlık ve kontrol sürecin içinde kalır</a:t>
            </a:r>
          </a:p>
        </p:txBody>
      </p:sp>
      <p:sp>
        <p:nvSpPr>
          <p:cNvPr id="2" name="">
            <a:extLst xmlns:a="http://schemas.openxmlformats.org/drawingml/2006/main">
              <a:ext uri="{FF2B5EF4-FFF2-40B4-BE49-F238E27FC236}">
                <a16:creationId xmlns:a16="http://schemas.microsoft.com/office/drawing/2014/main" id="{3A29CEE5-91D8-498C-9539-D4233D17C717}"/>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8BD0F3C3-6CE9-4E68-9979-E7C4B3E7F0B1}"/>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4557A37E-A9B1-4774-96F0-93BB9F5EA301}"/>
              </a:ext>
            </a:extLst>
          </p:cNvPr>
          <p:cNvSpPr>
            <a:spLocks xmlns:a="http://schemas.openxmlformats.org/drawingml/2006/main" noGrp="1"/>
          </p:cNvSpPr>
          <p:nvPr/>
        </p:nvSpPr>
        <p:spPr>
          <a:xfrm xmlns:a="http://schemas.openxmlformats.org/drawingml/2006/main">
            <a:off x="685800" y="6029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26766"/>
                </a:solidFill>
                <a:latin typeface="Arial"/>
                <a:ea typeface="Arial"/>
                <a:cs typeface="Arial"/>
              </a:defRPr>
            </a:pPr>
            <a:r>
              <a:rPr sz="1200" b="0">
                <a:solidFill>
                  <a:srgbClr val="526766"/>
                </a:solidFill>
                <a:latin typeface="Arial"/>
                <a:ea typeface="Arial"/>
                <a:cs typeface="Arial"/>
              </a:rPr>
              <a:t>Hedef işletim modeli: erişim, veri politikası ve işlem kayıtlarıyla desteklenecek</a:t>
            </a:r>
          </a:p>
        </p:txBody>
      </p:sp>
      <p:sp>
        <p:nvSpPr>
          <p:cNvPr id="5" name="">
            <a:extLst xmlns:a="http://schemas.openxmlformats.org/drawingml/2006/main">
              <a:ext uri="{FF2B5EF4-FFF2-40B4-BE49-F238E27FC236}">
                <a16:creationId xmlns:a16="http://schemas.microsoft.com/office/drawing/2014/main" id="{BE28D7A0-ADE3-4D3B-B53E-346F84004EBE}"/>
              </a:ext>
            </a:extLst>
          </p:cNvPr>
          <p:cNvSpPr>
            <a:spLocks xmlns:a="http://schemas.openxmlformats.org/drawingml/2006/main" noGrp="1"/>
          </p:cNvSpPr>
          <p:nvPr/>
        </p:nvSpPr>
        <p:spPr>
          <a:xfrm xmlns:a="http://schemas.openxmlformats.org/drawingml/2006/main">
            <a:off x="685800" y="2362200"/>
            <a:ext cx="3467100" cy="15240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4755F26-5CE2-4987-84EC-173C0FAAA0CE}"/>
              </a:ext>
            </a:extLst>
          </p:cNvPr>
          <p:cNvSpPr>
            <a:spLocks xmlns:a="http://schemas.openxmlformats.org/drawingml/2006/main" noGrp="1"/>
          </p:cNvSpPr>
          <p:nvPr/>
        </p:nvSpPr>
        <p:spPr>
          <a:xfrm xmlns:a="http://schemas.openxmlformats.org/drawingml/2006/main">
            <a:off x="838200" y="2505075"/>
            <a:ext cx="316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94BED98-E4CB-4F14-94EF-A87E8A96304B}"/>
              </a:ext>
            </a:extLst>
          </p:cNvPr>
          <p:cNvSpPr>
            <a:spLocks xmlns:a="http://schemas.openxmlformats.org/drawingml/2006/main" noGrp="1"/>
          </p:cNvSpPr>
          <p:nvPr/>
        </p:nvSpPr>
        <p:spPr>
          <a:xfrm xmlns:a="http://schemas.openxmlformats.org/drawingml/2006/main">
            <a:off x="838200" y="2867025"/>
            <a:ext cx="3162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Kurallar ve</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hesap motoru</a:t>
            </a:r>
          </a:p>
        </p:txBody>
      </p:sp>
      <p:sp>
        <p:nvSpPr>
          <p:cNvPr id="8" name="">
            <a:extLst xmlns:a="http://schemas.openxmlformats.org/drawingml/2006/main">
              <a:ext uri="{FF2B5EF4-FFF2-40B4-BE49-F238E27FC236}">
                <a16:creationId xmlns:a16="http://schemas.microsoft.com/office/drawing/2014/main" id="{1AF70DA3-9AB1-4917-9315-415BA6061244}"/>
              </a:ext>
            </a:extLst>
          </p:cNvPr>
          <p:cNvSpPr>
            <a:spLocks xmlns:a="http://schemas.openxmlformats.org/drawingml/2006/main" noGrp="1"/>
          </p:cNvSpPr>
          <p:nvPr/>
        </p:nvSpPr>
        <p:spPr>
          <a:xfrm xmlns:a="http://schemas.openxmlformats.org/drawingml/2006/main">
            <a:off x="4362450" y="2362200"/>
            <a:ext cx="3467100" cy="1524000"/>
          </a:xfrm>
          <a:prstGeom xmlns:a="http://schemas.openxmlformats.org/drawingml/2006/main" prst="rect">
            <a:avLst/>
          </a:prstGeom>
          <a:solidFill xmlns:a="http://schemas.openxmlformats.org/drawingml/2006/main">
            <a:srgbClr val="EDF2E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A9F57BD-5F85-4275-9B11-E9BE09AF10B8}"/>
              </a:ext>
            </a:extLst>
          </p:cNvPr>
          <p:cNvSpPr>
            <a:spLocks xmlns:a="http://schemas.openxmlformats.org/drawingml/2006/main" noGrp="1"/>
          </p:cNvSpPr>
          <p:nvPr/>
        </p:nvSpPr>
        <p:spPr>
          <a:xfrm xmlns:a="http://schemas.openxmlformats.org/drawingml/2006/main">
            <a:off x="4514850" y="2505075"/>
            <a:ext cx="316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06767411-1311-4331-887A-9A8240D44433}"/>
              </a:ext>
            </a:extLst>
          </p:cNvPr>
          <p:cNvSpPr>
            <a:spLocks xmlns:a="http://schemas.openxmlformats.org/drawingml/2006/main" noGrp="1"/>
          </p:cNvSpPr>
          <p:nvPr/>
        </p:nvSpPr>
        <p:spPr>
          <a:xfrm xmlns:a="http://schemas.openxmlformats.org/drawingml/2006/main">
            <a:off x="4514850" y="2867025"/>
            <a:ext cx="3162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Agent ile</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iş akışı</a:t>
            </a:r>
          </a:p>
        </p:txBody>
      </p:sp>
      <p:sp>
        <p:nvSpPr>
          <p:cNvPr id="11" name="">
            <a:extLst xmlns:a="http://schemas.openxmlformats.org/drawingml/2006/main">
              <a:ext uri="{FF2B5EF4-FFF2-40B4-BE49-F238E27FC236}">
                <a16:creationId xmlns:a16="http://schemas.microsoft.com/office/drawing/2014/main" id="{A1E8DEE2-71BB-4182-9D29-57712281A1ED}"/>
              </a:ext>
            </a:extLst>
          </p:cNvPr>
          <p:cNvSpPr>
            <a:spLocks xmlns:a="http://schemas.openxmlformats.org/drawingml/2006/main" noGrp="1"/>
          </p:cNvSpPr>
          <p:nvPr/>
        </p:nvSpPr>
        <p:spPr>
          <a:xfrm xmlns:a="http://schemas.openxmlformats.org/drawingml/2006/main">
            <a:off x="8039100" y="2362200"/>
            <a:ext cx="3467100" cy="15240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0947C64-2BBD-49D8-B40F-CFD136C7E0CC}"/>
              </a:ext>
            </a:extLst>
          </p:cNvPr>
          <p:cNvSpPr>
            <a:spLocks xmlns:a="http://schemas.openxmlformats.org/drawingml/2006/main" noGrp="1"/>
          </p:cNvSpPr>
          <p:nvPr/>
        </p:nvSpPr>
        <p:spPr>
          <a:xfrm xmlns:a="http://schemas.openxmlformats.org/drawingml/2006/main">
            <a:off x="8191500" y="2505075"/>
            <a:ext cx="3162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286C63"/>
                </a:solidFill>
                <a:latin typeface="Arial"/>
                <a:ea typeface="Arial"/>
                <a:cs typeface="Arial"/>
              </a:defRPr>
            </a:pPr>
            <a:r>
              <a:rPr sz="1275" b="1">
                <a:solidFill>
                  <a:srgbClr val="286C63"/>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3CE00947-1318-45D5-9D04-DB4B0510CCA4}"/>
              </a:ext>
            </a:extLst>
          </p:cNvPr>
          <p:cNvSpPr>
            <a:spLocks xmlns:a="http://schemas.openxmlformats.org/drawingml/2006/main" noGrp="1"/>
          </p:cNvSpPr>
          <p:nvPr/>
        </p:nvSpPr>
        <p:spPr>
          <a:xfrm xmlns:a="http://schemas.openxmlformats.org/drawingml/2006/main">
            <a:off x="8191500" y="2867025"/>
            <a:ext cx="3162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Aktüer</a:t>
            </a:r>
          </a:p>
          <a:p xmlns:a="http://schemas.openxmlformats.org/drawingml/2006/main">
            <a:pPr>
              <a:defRPr sz="1875" b="1">
                <a:solidFill>
                  <a:srgbClr val="1F3434"/>
                </a:solidFill>
                <a:latin typeface="Arial"/>
                <a:ea typeface="Arial"/>
                <a:cs typeface="Arial"/>
              </a:defRPr>
            </a:pPr>
            <a:r>
              <a:rPr sz="1875" b="1">
                <a:solidFill>
                  <a:srgbClr val="1F3434"/>
                </a:solidFill>
                <a:latin typeface="Arial"/>
                <a:ea typeface="Arial"/>
                <a:cs typeface="Arial"/>
              </a:rPr>
              <a:t>değerlendirmesi</a:t>
            </a:r>
          </a:p>
        </p:txBody>
      </p:sp>
      <p:cxnSp>
        <p:nvCxnSpPr>
          <p:cNvPr id="32" name=""/>
          <p:cNvCxnSpPr>
            <a:stCxn xmlns:a="http://schemas.openxmlformats.org/drawingml/2006/main" id="5" idx="3"/>
            <a:endCxn xmlns:a="http://schemas.openxmlformats.org/drawingml/2006/main" id="8" idx="1"/>
          </p:cNvCxnSpPr>
          <p:nvPr/>
        </p:nvCxnSpPr>
        <p:spPr>
          <a:xfrm xmlns:a="http://schemas.openxmlformats.org/drawingml/2006/main">
            <a:off x="4152900" y="3124200"/>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cxnSp>
        <p:nvCxnSpPr>
          <p:cNvPr id="33" name=""/>
          <p:cNvCxnSpPr>
            <a:stCxn xmlns:a="http://schemas.openxmlformats.org/drawingml/2006/main" id="8" idx="3"/>
            <a:endCxn xmlns:a="http://schemas.openxmlformats.org/drawingml/2006/main" id="11" idx="1"/>
          </p:cNvCxnSpPr>
          <p:nvPr/>
        </p:nvCxnSpPr>
        <p:spPr>
          <a:xfrm xmlns:a="http://schemas.openxmlformats.org/drawingml/2006/main">
            <a:off x="7829550" y="3124200"/>
            <a:ext cx="209550" cy="0"/>
          </a:xfrm>
          <a:prstGeom xmlns:a="http://schemas.openxmlformats.org/drawingml/2006/main" prst="straightConnector1">
            <a:avLst/>
          </a:prstGeom>
          <a:ln xmlns:a="http://schemas.openxmlformats.org/drawingml/2006/main" w="19050">
            <a:solidFill>
              <a:srgbClr val="286C63"/>
            </a:solidFill>
            <a:tailEnd type="triangle" w="sm" len="sm"/>
          </a:ln>
        </p:spPr>
      </p:cxnSp>
      <p:sp>
        <p:nvSpPr>
          <p:cNvPr id="16" name="">
            <a:extLst xmlns:a="http://schemas.openxmlformats.org/drawingml/2006/main">
              <a:ext uri="{FF2B5EF4-FFF2-40B4-BE49-F238E27FC236}">
                <a16:creationId xmlns:a16="http://schemas.microsoft.com/office/drawing/2014/main" id="{67A5626C-B139-4328-8ABE-081CF88F8FB2}"/>
              </a:ext>
            </a:extLst>
          </p:cNvPr>
          <p:cNvSpPr>
            <a:spLocks xmlns:a="http://schemas.openxmlformats.org/drawingml/2006/main" noGrp="1"/>
          </p:cNvSpPr>
          <p:nvPr/>
        </p:nvSpPr>
        <p:spPr>
          <a:xfrm xmlns:a="http://schemas.openxmlformats.org/drawingml/2006/main">
            <a:off x="685800" y="4400550"/>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26766"/>
                </a:solidFill>
                <a:latin typeface="Arial"/>
                <a:ea typeface="Arial"/>
                <a:cs typeface="Arial"/>
              </a:defRPr>
            </a:pPr>
            <a:r>
              <a:rPr sz="2100" b="0">
                <a:solidFill>
                  <a:srgbClr val="526766"/>
                </a:solidFill>
                <a:latin typeface="Arial"/>
                <a:ea typeface="Arial"/>
                <a:cs typeface="Arial"/>
              </a:rPr>
              <a:t>Tekrar üretilebilir hesap</a:t>
            </a:r>
          </a:p>
        </p:txBody>
      </p:sp>
      <p:sp>
        <p:nvSpPr>
          <p:cNvPr id="17" name="">
            <a:extLst xmlns:a="http://schemas.openxmlformats.org/drawingml/2006/main">
              <a:ext uri="{FF2B5EF4-FFF2-40B4-BE49-F238E27FC236}">
                <a16:creationId xmlns:a16="http://schemas.microsoft.com/office/drawing/2014/main" id="{1176842A-4515-4927-8619-FA6472B7DB26}"/>
              </a:ext>
            </a:extLst>
          </p:cNvPr>
          <p:cNvSpPr>
            <a:spLocks xmlns:a="http://schemas.openxmlformats.org/drawingml/2006/main" noGrp="1"/>
          </p:cNvSpPr>
          <p:nvPr/>
        </p:nvSpPr>
        <p:spPr>
          <a:xfrm xmlns:a="http://schemas.openxmlformats.org/drawingml/2006/main">
            <a:off x="4362450" y="4400550"/>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26766"/>
                </a:solidFill>
                <a:latin typeface="Arial"/>
                <a:ea typeface="Arial"/>
                <a:cs typeface="Arial"/>
              </a:defRPr>
            </a:pPr>
            <a:r>
              <a:rPr sz="2100" b="0">
                <a:solidFill>
                  <a:srgbClr val="526766"/>
                </a:solidFill>
                <a:latin typeface="Arial"/>
                <a:ea typeface="Arial"/>
                <a:cs typeface="Arial"/>
              </a:rPr>
              <a:t>Görünür işlem ve istisna</a:t>
            </a:r>
          </a:p>
        </p:txBody>
      </p:sp>
      <p:sp>
        <p:nvSpPr>
          <p:cNvPr id="18" name="">
            <a:extLst xmlns:a="http://schemas.openxmlformats.org/drawingml/2006/main">
              <a:ext uri="{FF2B5EF4-FFF2-40B4-BE49-F238E27FC236}">
                <a16:creationId xmlns:a16="http://schemas.microsoft.com/office/drawing/2014/main" id="{E37241D6-4009-428E-8758-57F21544D6C0}"/>
              </a:ext>
            </a:extLst>
          </p:cNvPr>
          <p:cNvSpPr>
            <a:spLocks xmlns:a="http://schemas.openxmlformats.org/drawingml/2006/main" noGrp="1"/>
          </p:cNvSpPr>
          <p:nvPr/>
        </p:nvSpPr>
        <p:spPr>
          <a:xfrm xmlns:a="http://schemas.openxmlformats.org/drawingml/2006/main">
            <a:off x="8039100" y="4400550"/>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26766"/>
                </a:solidFill>
                <a:latin typeface="Arial"/>
                <a:ea typeface="Arial"/>
                <a:cs typeface="Arial"/>
              </a:defRPr>
            </a:pPr>
            <a:r>
              <a:rPr sz="2100" b="0">
                <a:solidFill>
                  <a:srgbClr val="526766"/>
                </a:solidFill>
                <a:latin typeface="Arial"/>
                <a:ea typeface="Arial"/>
                <a:cs typeface="Arial"/>
              </a:rPr>
              <a:t>Açık karar sorumluluğu</a:t>
            </a:r>
          </a:p>
        </p:txBody>
      </p:sp>
    </p:spTree>
    <p:extLst>
      <p:ext uri="{BB962C8B-B14F-4D97-AF65-F5344CB8AC3E}">
        <p14:creationId xmlns:p14="http://schemas.microsoft.com/office/powerpoint/2010/main" val="852052991"/>
      </p:ext>
    </p:extLst>
  </p:cSld>
</p:sld>
</file>

<file path=ppt/slides/slide15.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6896A5-F967-4E2C-80EF-79992028679B}"/>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Çalışan temel, genişleyen süreç</a:t>
            </a:r>
          </a:p>
        </p:txBody>
      </p:sp>
      <p:sp>
        <p:nvSpPr>
          <p:cNvPr id="2" name="">
            <a:extLst xmlns:a="http://schemas.openxmlformats.org/drawingml/2006/main">
              <a:ext uri="{FF2B5EF4-FFF2-40B4-BE49-F238E27FC236}">
                <a16:creationId xmlns:a16="http://schemas.microsoft.com/office/drawing/2014/main" id="{BF291D5C-564D-4850-877C-FC75141FF1FB}"/>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8248408E-FD59-40DC-9CE1-A47023C48C03}"/>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C2718E9B-6E60-4774-8FCC-6555878E7E9F}"/>
              </a:ext>
            </a:extLst>
          </p:cNvPr>
          <p:cNvSpPr>
            <a:spLocks xmlns:a="http://schemas.openxmlformats.org/drawingml/2006/main" noGrp="1"/>
          </p:cNvSpPr>
          <p:nvPr/>
        </p:nvSpPr>
        <p:spPr>
          <a:xfrm xmlns:a="http://schemas.openxmlformats.org/drawingml/2006/main">
            <a:off x="685800" y="19621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286C63"/>
                </a:solidFill>
                <a:latin typeface="Arial"/>
                <a:ea typeface="Arial"/>
                <a:cs typeface="Arial"/>
              </a:defRPr>
            </a:pPr>
            <a:r>
              <a:rPr sz="2475" b="1">
                <a:solidFill>
                  <a:srgbClr val="286C63"/>
                </a:solidFill>
                <a:latin typeface="Arial"/>
                <a:ea typeface="Arial"/>
                <a:cs typeface="Arial"/>
              </a:rPr>
              <a:t>Mevcut ürün temeli</a:t>
            </a:r>
          </a:p>
        </p:txBody>
      </p:sp>
      <p:sp>
        <p:nvSpPr>
          <p:cNvPr id="5" name="">
            <a:extLst xmlns:a="http://schemas.openxmlformats.org/drawingml/2006/main">
              <a:ext uri="{FF2B5EF4-FFF2-40B4-BE49-F238E27FC236}">
                <a16:creationId xmlns:a16="http://schemas.microsoft.com/office/drawing/2014/main" id="{55363B4A-42A1-4CEB-8FCC-47BCFE389867}"/>
              </a:ext>
            </a:extLst>
          </p:cNvPr>
          <p:cNvSpPr>
            <a:spLocks xmlns:a="http://schemas.openxmlformats.org/drawingml/2006/main" noGrp="1"/>
          </p:cNvSpPr>
          <p:nvPr/>
        </p:nvSpPr>
        <p:spPr>
          <a:xfrm xmlns:a="http://schemas.openxmlformats.org/drawingml/2006/main">
            <a:off x="685800" y="2876550"/>
            <a:ext cx="4953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Veri ve dönem yönetimi</a:t>
            </a:r>
          </a:p>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Rezerv modelleme</a:t>
            </a:r>
          </a:p>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Nakit akışı ve iskonto</a:t>
            </a:r>
          </a:p>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Agent araç entegrasyonu</a:t>
            </a:r>
          </a:p>
        </p:txBody>
      </p:sp>
      <p:sp>
        <p:nvSpPr>
          <p:cNvPr id="6" name="">
            <a:extLst xmlns:a="http://schemas.openxmlformats.org/drawingml/2006/main">
              <a:ext uri="{FF2B5EF4-FFF2-40B4-BE49-F238E27FC236}">
                <a16:creationId xmlns:a16="http://schemas.microsoft.com/office/drawing/2014/main" id="{C893F4F8-EC94-4FC7-BD12-604FA609DD9E}"/>
              </a:ext>
            </a:extLst>
          </p:cNvPr>
          <p:cNvSpPr>
            <a:spLocks xmlns:a="http://schemas.openxmlformats.org/drawingml/2006/main" noGrp="1"/>
          </p:cNvSpPr>
          <p:nvPr/>
        </p:nvSpPr>
        <p:spPr>
          <a:xfrm xmlns:a="http://schemas.openxmlformats.org/drawingml/2006/main">
            <a:off x="6429375" y="1962150"/>
            <a:ext cx="5076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926443"/>
                </a:solidFill>
                <a:latin typeface="Arial"/>
                <a:ea typeface="Arial"/>
                <a:cs typeface="Arial"/>
              </a:defRPr>
            </a:pPr>
            <a:r>
              <a:rPr sz="2475" b="1">
                <a:solidFill>
                  <a:srgbClr val="926443"/>
                </a:solidFill>
                <a:latin typeface="Arial"/>
                <a:ea typeface="Arial"/>
                <a:cs typeface="Arial"/>
              </a:rPr>
              <a:t>Uçtan uca geliştirme kapsamı</a:t>
            </a:r>
          </a:p>
        </p:txBody>
      </p:sp>
      <p:sp>
        <p:nvSpPr>
          <p:cNvPr id="7" name="">
            <a:extLst xmlns:a="http://schemas.openxmlformats.org/drawingml/2006/main">
              <a:ext uri="{FF2B5EF4-FFF2-40B4-BE49-F238E27FC236}">
                <a16:creationId xmlns:a16="http://schemas.microsoft.com/office/drawing/2014/main" id="{528468F8-A677-4738-A0BD-C090F172CF99}"/>
              </a:ext>
            </a:extLst>
          </p:cNvPr>
          <p:cNvSpPr>
            <a:spLocks xmlns:a="http://schemas.openxmlformats.org/drawingml/2006/main" noGrp="1"/>
          </p:cNvSpPr>
          <p:nvPr/>
        </p:nvSpPr>
        <p:spPr>
          <a:xfrm xmlns:a="http://schemas.openxmlformats.org/drawingml/2006/main">
            <a:off x="6429375" y="2876550"/>
            <a:ext cx="50768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Standart kalite kontrol paketleri</a:t>
            </a:r>
          </a:p>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Mizan mutabakatı</a:t>
            </a:r>
          </a:p>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Rapor ve model orkestrasyonu</a:t>
            </a:r>
          </a:p>
          <a:p xmlns:a="http://schemas.openxmlformats.org/drawingml/2006/main">
            <a:pPr>
              <a:defRPr sz="2175" b="0">
                <a:solidFill>
                  <a:srgbClr val="1F3434"/>
                </a:solidFill>
                <a:latin typeface="Arial"/>
                <a:ea typeface="Arial"/>
                <a:cs typeface="Arial"/>
              </a:defRPr>
            </a:pPr>
            <a:r>
              <a:rPr sz="2175" b="0">
                <a:solidFill>
                  <a:srgbClr val="1F3434"/>
                </a:solidFill>
                <a:latin typeface="Arial"/>
                <a:ea typeface="Arial"/>
                <a:cs typeface="Arial"/>
              </a:rPr>
              <a:t>Kurumsal yetki ve onay akışı</a:t>
            </a:r>
          </a:p>
        </p:txBody>
      </p:sp>
      <p:sp>
        <p:nvSpPr>
          <p:cNvPr id="8" name="">
            <a:extLst xmlns:a="http://schemas.openxmlformats.org/drawingml/2006/main">
              <a:ext uri="{FF2B5EF4-FFF2-40B4-BE49-F238E27FC236}">
                <a16:creationId xmlns:a16="http://schemas.microsoft.com/office/drawing/2014/main" id="{530A7F69-008D-4624-B960-C9792F730C84}"/>
              </a:ext>
            </a:extLst>
          </p:cNvPr>
          <p:cNvSpPr>
            <a:spLocks xmlns:a="http://schemas.openxmlformats.org/drawingml/2006/main" noGrp="1"/>
          </p:cNvSpPr>
          <p:nvPr/>
        </p:nvSpPr>
        <p:spPr>
          <a:xfrm xmlns:a="http://schemas.openxmlformats.org/drawingml/2006/main">
            <a:off x="685800" y="5410200"/>
            <a:ext cx="10820400" cy="0"/>
          </a:xfrm>
          <a:prstGeom xmlns:a="http://schemas.openxmlformats.org/drawingml/2006/main" prst="line">
            <a:avLst/>
          </a:prstGeom>
          <a:noFill xmlns:a="http://schemas.openxmlformats.org/drawingml/2006/main"/>
          <a:ln xmlns:a="http://schemas.openxmlformats.org/drawingml/2006/main" w="9525">
            <a:solidFill>
              <a:srgbClr val="C6D4CE"/>
            </a:solidFill>
          </a:ln>
        </p:spPr>
      </p:sp>
      <p:sp>
        <p:nvSpPr>
          <p:cNvPr id="9" name="">
            <a:extLst xmlns:a="http://schemas.openxmlformats.org/drawingml/2006/main">
              <a:ext uri="{FF2B5EF4-FFF2-40B4-BE49-F238E27FC236}">
                <a16:creationId xmlns:a16="http://schemas.microsoft.com/office/drawing/2014/main" id="{AAC61728-A161-4956-B2F7-7247C9FCCEB1}"/>
              </a:ext>
            </a:extLst>
          </p:cNvPr>
          <p:cNvSpPr>
            <a:spLocks xmlns:a="http://schemas.openxmlformats.org/drawingml/2006/main" noGrp="1"/>
          </p:cNvSpPr>
          <p:nvPr/>
        </p:nvSpPr>
        <p:spPr>
          <a:xfrm xmlns:a="http://schemas.openxmlformats.org/drawingml/2006/main">
            <a:off x="685800" y="5657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26766"/>
                </a:solidFill>
                <a:latin typeface="Arial"/>
                <a:ea typeface="Arial"/>
                <a:cs typeface="Arial"/>
              </a:defRPr>
            </a:pPr>
            <a:r>
              <a:rPr sz="1875" b="0">
                <a:solidFill>
                  <a:srgbClr val="526766"/>
                </a:solidFill>
                <a:latin typeface="Arial"/>
                <a:ea typeface="Arial"/>
                <a:cs typeface="Arial"/>
              </a:rPr>
              <a:t>Önerilen ilk uygulama: tek branşta, mevcut kapanışla paralel çalışma</a:t>
            </a:r>
          </a:p>
        </p:txBody>
      </p:sp>
    </p:spTree>
    <p:extLst>
      <p:ext uri="{BB962C8B-B14F-4D97-AF65-F5344CB8AC3E}">
        <p14:creationId xmlns:p14="http://schemas.microsoft.com/office/powerpoint/2010/main" val="2041975406"/>
      </p:ext>
    </p:extLst>
  </p:cSld>
</p:sld>
</file>

<file path=ppt/slides/slide16.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2CA78E8-7BCB-47A0-9061-EBE2D5411908}"/>
              </a:ext>
            </a:extLst>
          </p:cNvPr>
          <p:cNvSpPr>
            <a:spLocks xmlns:a="http://schemas.openxmlformats.org/drawingml/2006/main" noGrp="1"/>
          </p:cNvSpPr>
          <p:nvPr/>
        </p:nvSpPr>
        <p:spPr>
          <a:xfrm xmlns:a="http://schemas.openxmlformats.org/drawingml/2006/main">
            <a:off x="685800" y="619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F3434"/>
                </a:solidFill>
                <a:latin typeface="Arial"/>
                <a:ea typeface="Arial"/>
                <a:cs typeface="Arial"/>
              </a:defRPr>
            </a:pPr>
            <a:r>
              <a:rPr sz="3300" b="1">
                <a:solidFill>
                  <a:srgbClr val="1F3434"/>
                </a:solidFill>
                <a:latin typeface="Arial"/>
                <a:ea typeface="Arial"/>
                <a:cs typeface="Arial"/>
              </a:rPr>
              <a:t>Finans için öğrenme alanı</a:t>
            </a:r>
          </a:p>
        </p:txBody>
      </p:sp>
      <p:sp>
        <p:nvSpPr>
          <p:cNvPr id="2" name="">
            <a:extLst xmlns:a="http://schemas.openxmlformats.org/drawingml/2006/main">
              <a:ext uri="{FF2B5EF4-FFF2-40B4-BE49-F238E27FC236}">
                <a16:creationId xmlns:a16="http://schemas.microsoft.com/office/drawing/2014/main" id="{2E00FD21-F1B7-4D6C-ABA1-8CE6D9C9C936}"/>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3" name="">
            <a:extLst xmlns:a="http://schemas.openxmlformats.org/drawingml/2006/main">
              <a:ext uri="{FF2B5EF4-FFF2-40B4-BE49-F238E27FC236}">
                <a16:creationId xmlns:a16="http://schemas.microsoft.com/office/drawing/2014/main" id="{9E16C5DD-CA56-4E64-B3E5-595D46C1D4BE}"/>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2A56D28D-4226-40FC-8E3B-FC502D025926}"/>
              </a:ext>
            </a:extLst>
          </p:cNvPr>
          <p:cNvSpPr>
            <a:spLocks xmlns:a="http://schemas.openxmlformats.org/drawingml/2006/main" noGrp="1"/>
          </p:cNvSpPr>
          <p:nvPr/>
        </p:nvSpPr>
        <p:spPr>
          <a:xfrm xmlns:a="http://schemas.openxmlformats.org/drawingml/2006/main">
            <a:off x="685800" y="60293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526766"/>
                </a:solidFill>
                <a:latin typeface="Arial"/>
                <a:ea typeface="Arial"/>
                <a:cs typeface="Arial"/>
              </a:defRPr>
            </a:pPr>
            <a:r>
              <a:rPr sz="1200" b="0">
                <a:solidFill>
                  <a:srgbClr val="526766"/>
                </a:solidFill>
                <a:latin typeface="Arial"/>
                <a:ea typeface="Arial"/>
                <a:cs typeface="Arial"/>
              </a:rPr>
              <a:t>Gelecek kullanım fırsatları: kapsam ve uygunluk ayrı değerlendirilecek</a:t>
            </a:r>
          </a:p>
        </p:txBody>
      </p:sp>
      <p:sp>
        <p:nvSpPr>
          <p:cNvPr id="5" name="">
            <a:extLst xmlns:a="http://schemas.openxmlformats.org/drawingml/2006/main">
              <a:ext uri="{FF2B5EF4-FFF2-40B4-BE49-F238E27FC236}">
                <a16:creationId xmlns:a16="http://schemas.microsoft.com/office/drawing/2014/main" id="{7AF7DBBB-A48B-4B5E-8EA4-BD5DFAF581C2}"/>
              </a:ext>
            </a:extLst>
          </p:cNvPr>
          <p:cNvSpPr>
            <a:spLocks xmlns:a="http://schemas.openxmlformats.org/drawingml/2006/main" noGrp="1"/>
          </p:cNvSpPr>
          <p:nvPr/>
        </p:nvSpPr>
        <p:spPr>
          <a:xfrm xmlns:a="http://schemas.openxmlformats.org/drawingml/2006/main">
            <a:off x="685800" y="22669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825" b="1">
                <a:solidFill>
                  <a:srgbClr val="286C63"/>
                </a:solidFill>
                <a:latin typeface="Arial"/>
                <a:ea typeface="Arial"/>
                <a:cs typeface="Arial"/>
              </a:defRPr>
            </a:pPr>
            <a:r>
              <a:rPr sz="3825" b="1">
                <a:solidFill>
                  <a:srgbClr val="286C63"/>
                </a:solidFill>
                <a:latin typeface="Arial"/>
                <a:ea typeface="Arial"/>
                <a:cs typeface="Arial"/>
              </a:rPr>
              <a:t>Veri + Kontrol + Analiz + Karar</a:t>
            </a:r>
          </a:p>
        </p:txBody>
      </p:sp>
      <p:sp>
        <p:nvSpPr>
          <p:cNvPr id="6" name="">
            <a:extLst xmlns:a="http://schemas.openxmlformats.org/drawingml/2006/main">
              <a:ext uri="{FF2B5EF4-FFF2-40B4-BE49-F238E27FC236}">
                <a16:creationId xmlns:a16="http://schemas.microsoft.com/office/drawing/2014/main" id="{0ED1EB2B-756B-488B-8710-CEC203F5D7A9}"/>
              </a:ext>
            </a:extLst>
          </p:cNvPr>
          <p:cNvSpPr>
            <a:spLocks xmlns:a="http://schemas.openxmlformats.org/drawingml/2006/main" noGrp="1"/>
          </p:cNvSpPr>
          <p:nvPr/>
        </p:nvSpPr>
        <p:spPr>
          <a:xfrm xmlns:a="http://schemas.openxmlformats.org/drawingml/2006/main">
            <a:off x="685800" y="40957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F3434"/>
                </a:solidFill>
                <a:latin typeface="Arial"/>
                <a:ea typeface="Arial"/>
                <a:cs typeface="Arial"/>
              </a:defRPr>
            </a:pPr>
            <a:r>
              <a:rPr sz="2325" b="1">
                <a:solidFill>
                  <a:srgbClr val="1F3434"/>
                </a:solidFill>
                <a:latin typeface="Arial"/>
                <a:ea typeface="Arial"/>
                <a:cs typeface="Arial"/>
              </a:rPr>
              <a:t>Mutabakat süreçleri</a:t>
            </a:r>
          </a:p>
        </p:txBody>
      </p:sp>
      <p:sp>
        <p:nvSpPr>
          <p:cNvPr id="7" name="">
            <a:extLst xmlns:a="http://schemas.openxmlformats.org/drawingml/2006/main">
              <a:ext uri="{FF2B5EF4-FFF2-40B4-BE49-F238E27FC236}">
                <a16:creationId xmlns:a16="http://schemas.microsoft.com/office/drawing/2014/main" id="{2090F3B8-4A10-4E7D-90B6-C77024066066}"/>
              </a:ext>
            </a:extLst>
          </p:cNvPr>
          <p:cNvSpPr>
            <a:spLocks xmlns:a="http://schemas.openxmlformats.org/drawingml/2006/main" noGrp="1"/>
          </p:cNvSpPr>
          <p:nvPr/>
        </p:nvSpPr>
        <p:spPr>
          <a:xfrm xmlns:a="http://schemas.openxmlformats.org/drawingml/2006/main">
            <a:off x="4381500" y="40957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F3434"/>
                </a:solidFill>
                <a:latin typeface="Arial"/>
                <a:ea typeface="Arial"/>
                <a:cs typeface="Arial"/>
              </a:defRPr>
            </a:pPr>
            <a:r>
              <a:rPr sz="2325" b="1">
                <a:solidFill>
                  <a:srgbClr val="1F3434"/>
                </a:solidFill>
                <a:latin typeface="Arial"/>
                <a:ea typeface="Arial"/>
                <a:cs typeface="Arial"/>
              </a:rPr>
              <a:t>Yönetim raporlaması</a:t>
            </a:r>
          </a:p>
        </p:txBody>
      </p:sp>
      <p:sp>
        <p:nvSpPr>
          <p:cNvPr id="8" name="">
            <a:extLst xmlns:a="http://schemas.openxmlformats.org/drawingml/2006/main">
              <a:ext uri="{FF2B5EF4-FFF2-40B4-BE49-F238E27FC236}">
                <a16:creationId xmlns:a16="http://schemas.microsoft.com/office/drawing/2014/main" id="{2F0F7FA8-FE32-48DB-89F2-4AD274D0A742}"/>
              </a:ext>
            </a:extLst>
          </p:cNvPr>
          <p:cNvSpPr>
            <a:spLocks xmlns:a="http://schemas.openxmlformats.org/drawingml/2006/main" noGrp="1"/>
          </p:cNvSpPr>
          <p:nvPr/>
        </p:nvSpPr>
        <p:spPr>
          <a:xfrm xmlns:a="http://schemas.openxmlformats.org/drawingml/2006/main">
            <a:off x="8077200" y="40957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F3434"/>
                </a:solidFill>
                <a:latin typeface="Arial"/>
                <a:ea typeface="Arial"/>
                <a:cs typeface="Arial"/>
              </a:defRPr>
            </a:pPr>
            <a:r>
              <a:rPr sz="2325" b="1">
                <a:solidFill>
                  <a:srgbClr val="1F3434"/>
                </a:solidFill>
                <a:latin typeface="Arial"/>
                <a:ea typeface="Arial"/>
                <a:cs typeface="Arial"/>
              </a:rPr>
              <a:t>Bütçe ve senaryolar</a:t>
            </a:r>
          </a:p>
        </p:txBody>
      </p:sp>
      <p:sp>
        <p:nvSpPr>
          <p:cNvPr id="9" name="">
            <a:extLst xmlns:a="http://schemas.openxmlformats.org/drawingml/2006/main">
              <a:ext uri="{FF2B5EF4-FFF2-40B4-BE49-F238E27FC236}">
                <a16:creationId xmlns:a16="http://schemas.microsoft.com/office/drawing/2014/main" id="{CCFBC853-D7CA-4D1B-8D5F-D155B8332B47}"/>
              </a:ext>
            </a:extLst>
          </p:cNvPr>
          <p:cNvSpPr>
            <a:spLocks xmlns:a="http://schemas.openxmlformats.org/drawingml/2006/main" noGrp="1"/>
          </p:cNvSpPr>
          <p:nvPr/>
        </p:nvSpPr>
        <p:spPr>
          <a:xfrm xmlns:a="http://schemas.openxmlformats.org/drawingml/2006/main">
            <a:off x="685800" y="531495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526766"/>
                </a:solidFill>
                <a:latin typeface="Arial"/>
                <a:ea typeface="Arial"/>
                <a:cs typeface="Arial"/>
              </a:defRPr>
            </a:pPr>
            <a:r>
              <a:rPr sz="2175" b="0">
                <a:solidFill>
                  <a:srgbClr val="526766"/>
                </a:solidFill>
                <a:latin typeface="Arial"/>
                <a:ea typeface="Arial"/>
                <a:cs typeface="Arial"/>
              </a:rPr>
              <a:t>Aktüeryadaki deneyim, benzer finans iş akışlarına yön verebilir.</a:t>
            </a:r>
          </a:p>
        </p:txBody>
      </p:sp>
    </p:spTree>
    <p:extLst>
      <p:ext uri="{BB962C8B-B14F-4D97-AF65-F5344CB8AC3E}">
        <p14:creationId xmlns:p14="http://schemas.microsoft.com/office/powerpoint/2010/main" val="203431390"/>
      </p:ext>
    </p:extLst>
  </p:cSld>
</p:sld>
</file>

<file path=ppt/slides/slide17.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4012B0-9BB0-4AA6-9062-ABA4A8208C4A}"/>
              </a:ext>
            </a:extLst>
          </p:cNvPr>
          <p:cNvSpPr>
            <a:spLocks xmlns:a="http://schemas.openxmlformats.org/drawingml/2006/main" noGrp="1"/>
          </p:cNvSpPr>
          <p:nvPr/>
        </p:nvSpPr>
        <p:spPr>
          <a:xfrm xmlns:a="http://schemas.openxmlformats.org/drawingml/2006/main">
            <a:off x="685800" y="6448425"/>
            <a:ext cx="762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Finance Day  /  Actuarius</a:t>
            </a:r>
          </a:p>
        </p:txBody>
      </p:sp>
      <p:sp>
        <p:nvSpPr>
          <p:cNvPr id="2" name="">
            <a:extLst xmlns:a="http://schemas.openxmlformats.org/drawingml/2006/main">
              <a:ext uri="{FF2B5EF4-FFF2-40B4-BE49-F238E27FC236}">
                <a16:creationId xmlns:a16="http://schemas.microsoft.com/office/drawing/2014/main" id="{6F688280-C7DC-4F6A-9039-E5918AEF5AE9}"/>
              </a:ext>
            </a:extLst>
          </p:cNvPr>
          <p:cNvSpPr>
            <a:spLocks xmlns:a="http://schemas.openxmlformats.org/drawingml/2006/main" noGrp="1"/>
          </p:cNvSpPr>
          <p:nvPr/>
        </p:nvSpPr>
        <p:spPr>
          <a:xfrm xmlns:a="http://schemas.openxmlformats.org/drawingml/2006/main">
            <a:off x="11106150" y="644842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26766"/>
                </a:solidFill>
                <a:latin typeface="Arial"/>
                <a:ea typeface="Arial"/>
                <a:cs typeface="Arial"/>
              </a:defRPr>
            </a:pPr>
            <a:r>
              <a:rPr sz="975" b="0">
                <a:solidFill>
                  <a:srgbClr val="526766"/>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275A4BE8-1E8B-4413-ACA4-6A0EF74C13DB}"/>
              </a:ext>
            </a:extLst>
          </p:cNvPr>
          <p:cNvSpPr>
            <a:spLocks xmlns:a="http://schemas.openxmlformats.org/drawingml/2006/main" noGrp="1"/>
          </p:cNvSpPr>
          <p:nvPr/>
        </p:nvSpPr>
        <p:spPr>
          <a:xfrm xmlns:a="http://schemas.openxmlformats.org/drawingml/2006/main">
            <a:off x="685800" y="9906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286C63"/>
                </a:solidFill>
                <a:latin typeface="Arial"/>
                <a:ea typeface="Arial"/>
                <a:cs typeface="Arial"/>
              </a:defRPr>
            </a:pPr>
            <a:r>
              <a:rPr sz="2250" b="1">
                <a:solidFill>
                  <a:srgbClr val="286C63"/>
                </a:solidFill>
                <a:latin typeface="Arial"/>
                <a:ea typeface="Arial"/>
                <a:cs typeface="Arial"/>
              </a:rPr>
              <a:t>Actuarius</a:t>
            </a:r>
          </a:p>
        </p:txBody>
      </p:sp>
      <p:sp>
        <p:nvSpPr>
          <p:cNvPr id="4" name="">
            <a:extLst xmlns:a="http://schemas.openxmlformats.org/drawingml/2006/main">
              <a:ext uri="{FF2B5EF4-FFF2-40B4-BE49-F238E27FC236}">
                <a16:creationId xmlns:a16="http://schemas.microsoft.com/office/drawing/2014/main" id="{00114A9A-4A95-4DB4-9568-8787045F16EB}"/>
              </a:ext>
            </a:extLst>
          </p:cNvPr>
          <p:cNvSpPr>
            <a:spLocks xmlns:a="http://schemas.openxmlformats.org/drawingml/2006/main" noGrp="1"/>
          </p:cNvSpPr>
          <p:nvPr/>
        </p:nvSpPr>
        <p:spPr>
          <a:xfrm xmlns:a="http://schemas.openxmlformats.org/drawingml/2006/main">
            <a:off x="685800" y="224790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F3434"/>
                </a:solidFill>
                <a:latin typeface="Arial"/>
                <a:ea typeface="Arial"/>
                <a:cs typeface="Arial"/>
              </a:defRPr>
            </a:pPr>
            <a:r>
              <a:rPr sz="5100" b="1">
                <a:solidFill>
                  <a:srgbClr val="1F3434"/>
                </a:solidFill>
                <a:latin typeface="Arial"/>
                <a:ea typeface="Arial"/>
                <a:cs typeface="Arial"/>
              </a:rPr>
              <a:t>Daha az aktarım.</a:t>
            </a:r>
          </a:p>
          <a:p xmlns:a="http://schemas.openxmlformats.org/drawingml/2006/main">
            <a:pPr>
              <a:defRPr sz="5100" b="1">
                <a:solidFill>
                  <a:srgbClr val="1F3434"/>
                </a:solidFill>
                <a:latin typeface="Arial"/>
                <a:ea typeface="Arial"/>
                <a:cs typeface="Arial"/>
              </a:defRPr>
            </a:pPr>
            <a:r>
              <a:rPr sz="5100" b="1">
                <a:solidFill>
                  <a:srgbClr val="1F3434"/>
                </a:solidFill>
                <a:latin typeface="Arial"/>
                <a:ea typeface="Arial"/>
                <a:cs typeface="Arial"/>
              </a:rPr>
              <a:t>Daha fazla analiz.</a:t>
            </a:r>
          </a:p>
        </p:txBody>
      </p:sp>
      <p:sp>
        <p:nvSpPr>
          <p:cNvPr id="5" name="">
            <a:extLst xmlns:a="http://schemas.openxmlformats.org/drawingml/2006/main">
              <a:ext uri="{FF2B5EF4-FFF2-40B4-BE49-F238E27FC236}">
                <a16:creationId xmlns:a16="http://schemas.microsoft.com/office/drawing/2014/main" id="{AC32600A-2799-4192-AA68-98B5F092A970}"/>
              </a:ext>
            </a:extLst>
          </p:cNvPr>
          <p:cNvSpPr>
            <a:spLocks xmlns:a="http://schemas.openxmlformats.org/drawingml/2006/main" noGrp="1"/>
          </p:cNvSpPr>
          <p:nvPr/>
        </p:nvSpPr>
        <p:spPr>
          <a:xfrm xmlns:a="http://schemas.openxmlformats.org/drawingml/2006/main">
            <a:off x="685800" y="44100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526766"/>
                </a:solidFill>
                <a:latin typeface="Arial"/>
                <a:ea typeface="Arial"/>
                <a:cs typeface="Arial"/>
              </a:defRPr>
            </a:pPr>
            <a:r>
              <a:rPr sz="2475" b="0">
                <a:solidFill>
                  <a:srgbClr val="526766"/>
                </a:solidFill>
                <a:latin typeface="Arial"/>
                <a:ea typeface="Arial"/>
                <a:cs typeface="Arial"/>
              </a:rPr>
              <a:t>Veriden modele uzanan bağı güçlendiren,</a:t>
            </a:r>
          </a:p>
          <a:p xmlns:a="http://schemas.openxmlformats.org/drawingml/2006/main">
            <a:pPr>
              <a:defRPr sz="2475" b="0">
                <a:solidFill>
                  <a:srgbClr val="526766"/>
                </a:solidFill>
                <a:latin typeface="Arial"/>
                <a:ea typeface="Arial"/>
                <a:cs typeface="Arial"/>
              </a:defRPr>
            </a:pPr>
            <a:r>
              <a:rPr sz="2475" b="0">
                <a:solidFill>
                  <a:srgbClr val="526766"/>
                </a:solidFill>
                <a:latin typeface="Arial"/>
                <a:ea typeface="Arial"/>
                <a:cs typeface="Arial"/>
              </a:rPr>
              <a:t>agent ile yönetilebilen bir çalışma ortamı</a:t>
            </a:r>
          </a:p>
        </p:txBody>
      </p:sp>
    </p:spTree>
    <p:extLst>
      <p:ext uri="{BB962C8B-B14F-4D97-AF65-F5344CB8AC3E}">
        <p14:creationId xmlns:p14="http://schemas.microsoft.com/office/powerpoint/2010/main" val="19069846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2026-09-08T16:16:00.9910000Z</dcterms:created>
  <dcterms:modified xsi:type="dcterms:W3CDTF">2026-09-08T16:16:00.9910000Z</dcterms:modified>
</coreProperties>
</file>