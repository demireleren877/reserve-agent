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ef70720b4141e1" /><Relationship Type="http://schemas.openxmlformats.org/officeDocument/2006/relationships/extended-properties" Target="/docProps/app.xml" Id="Re671d78559f24413" /><Relationship Type="http://schemas.openxmlformats.org/officeDocument/2006/relationships/officeDocument" Target="/ppt/presentation.xml" Id="R94bd43d12ded49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8286e5a6a4468e"/>
  </p:sldMasterIdLst>
  <p:notesMasterIdLst>
    <p:notesMasterId xmlns:r="http://schemas.openxmlformats.org/officeDocument/2006/relationships" r:id="R89f1056471b749cb"/>
  </p:notesMasterIdLst>
  <p:sldIdLst>
    <p:sldId xmlns:r="http://schemas.openxmlformats.org/officeDocument/2006/relationships" id="256" r:id="Rd56a8428b8164bd6"/>
    <p:sldId xmlns:r="http://schemas.openxmlformats.org/officeDocument/2006/relationships" id="257" r:id="Rab29dab7fdfc4ee9"/>
    <p:sldId xmlns:r="http://schemas.openxmlformats.org/officeDocument/2006/relationships" id="258" r:id="Rb436dbb801c54316"/>
    <p:sldId xmlns:r="http://schemas.openxmlformats.org/officeDocument/2006/relationships" id="259" r:id="Radaeecdc4e3c4742"/>
    <p:sldId xmlns:r="http://schemas.openxmlformats.org/officeDocument/2006/relationships" id="260" r:id="R690dc16c94924074"/>
    <p:sldId xmlns:r="http://schemas.openxmlformats.org/officeDocument/2006/relationships" id="261" r:id="Rff05bfe000264959"/>
    <p:sldId xmlns:r="http://schemas.openxmlformats.org/officeDocument/2006/relationships" id="262" r:id="R9eda5e87fd2e4613"/>
    <p:sldId xmlns:r="http://schemas.openxmlformats.org/officeDocument/2006/relationships" id="263" r:id="R96db4aaa172d4788"/>
    <p:sldId xmlns:r="http://schemas.openxmlformats.org/officeDocument/2006/relationships" id="264" r:id="Ra94330d4b57b4e4f"/>
    <p:sldId xmlns:r="http://schemas.openxmlformats.org/officeDocument/2006/relationships" id="265" r:id="R3380192d1fb644fd"/>
    <p:sldId xmlns:r="http://schemas.openxmlformats.org/officeDocument/2006/relationships" id="266" r:id="Rbc48258c31eb49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fd2779633647eb" /><Relationship Type="http://schemas.openxmlformats.org/officeDocument/2006/relationships/slideMaster" Target="/ppt/slideMasters/slideMaster1.xml" Id="Rbb8286e5a6a4468e" /><Relationship Type="http://schemas.openxmlformats.org/officeDocument/2006/relationships/notesMaster" Target="/ppt/notesMasters/notesMaster1.xml" Id="R89f1056471b749cb" /><Relationship Type="http://schemas.openxmlformats.org/officeDocument/2006/relationships/presProps" Target="/ppt/presProps.xml" Id="R8ef9e5e1e2ef4871" /><Relationship Type="http://schemas.openxmlformats.org/officeDocument/2006/relationships/tableStyles" Target="/ppt/tableStyles.xml" Id="R3c10da11026b4f3c" /><Relationship Type="http://schemas.openxmlformats.org/officeDocument/2006/relationships/slide" Target="/ppt/slides/slide1.xml" Id="Rd56a8428b8164bd6" /><Relationship Type="http://schemas.openxmlformats.org/officeDocument/2006/relationships/slide" Target="/ppt/slides/slide2.xml" Id="Rab29dab7fdfc4ee9" /><Relationship Type="http://schemas.openxmlformats.org/officeDocument/2006/relationships/slide" Target="/ppt/slides/slide3.xml" Id="Rb436dbb801c54316" /><Relationship Type="http://schemas.openxmlformats.org/officeDocument/2006/relationships/slide" Target="/ppt/slides/slide4.xml" Id="Radaeecdc4e3c4742" /><Relationship Type="http://schemas.openxmlformats.org/officeDocument/2006/relationships/slide" Target="/ppt/slides/slide5.xml" Id="R690dc16c94924074" /><Relationship Type="http://schemas.openxmlformats.org/officeDocument/2006/relationships/slide" Target="/ppt/slides/slide6.xml" Id="Rff05bfe000264959" /><Relationship Type="http://schemas.openxmlformats.org/officeDocument/2006/relationships/slide" Target="/ppt/slides/slide7.xml" Id="R9eda5e87fd2e4613" /><Relationship Type="http://schemas.openxmlformats.org/officeDocument/2006/relationships/slide" Target="/ppt/slides/slide8.xml" Id="R96db4aaa172d4788" /><Relationship Type="http://schemas.openxmlformats.org/officeDocument/2006/relationships/slide" Target="/ppt/slides/slide9.xml" Id="Ra94330d4b57b4e4f" /><Relationship Type="http://schemas.openxmlformats.org/officeDocument/2006/relationships/slide" Target="/ppt/slides/slide10.xml" Id="R3380192d1fb644fd" /><Relationship Type="http://schemas.openxmlformats.org/officeDocument/2006/relationships/slide" Target="/ppt/slides/slide11.xml" Id="Rbc48258c31eb49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cef2a3177a4c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39145213124852" /><Relationship Type="http://schemas.openxmlformats.org/officeDocument/2006/relationships/notesMaster" Target="/ppt/notesMasters/notesMaster1.xml" Id="Rc3d736e655554f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a5f6da49304adb" /><Relationship Type="http://schemas.openxmlformats.org/officeDocument/2006/relationships/notesMaster" Target="/ppt/notesMasters/notesMaster1.xml" Id="R9048b02a96c74e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1f5af432fe482e" /><Relationship Type="http://schemas.openxmlformats.org/officeDocument/2006/relationships/notesMaster" Target="/ppt/notesMasters/notesMaster1.xml" Id="Rce6632ceb77741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98a524466245ff" /><Relationship Type="http://schemas.openxmlformats.org/officeDocument/2006/relationships/notesMaster" Target="/ppt/notesMasters/notesMaster1.xml" Id="Raa84f1c9e3cf44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d36206699743b3" /><Relationship Type="http://schemas.openxmlformats.org/officeDocument/2006/relationships/notesMaster" Target="/ppt/notesMasters/notesMaster1.xml" Id="R3b43aedf9d0549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924497dbcb4fa7" /><Relationship Type="http://schemas.openxmlformats.org/officeDocument/2006/relationships/notesMaster" Target="/ppt/notesMasters/notesMaster1.xml" Id="R1b5c4e67691642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abc49ac70d4733" /><Relationship Type="http://schemas.openxmlformats.org/officeDocument/2006/relationships/notesMaster" Target="/ppt/notesMasters/notesMaster1.xml" Id="R199f66e8db974c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e1152b9ec346a1" /><Relationship Type="http://schemas.openxmlformats.org/officeDocument/2006/relationships/notesMaster" Target="/ppt/notesMasters/notesMaster1.xml" Id="R12bc6c01f7a640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35f6f9aec4437f" /><Relationship Type="http://schemas.openxmlformats.org/officeDocument/2006/relationships/notesMaster" Target="/ppt/notesMasters/notesMaster1.xml" Id="R465c06d1836e4a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a14c5c3d6c4aca" /><Relationship Type="http://schemas.openxmlformats.org/officeDocument/2006/relationships/notesMaster" Target="/ppt/notesMasters/notesMaster1.xml" Id="R5f935ec2d10243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140d92682f4a45" /><Relationship Type="http://schemas.openxmlformats.org/officeDocument/2006/relationships/notesMaster" Target="/ppt/notesMasters/notesMaster1.xml" Id="Rac70ab0ec4f74d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sunumun amacı yalnızca bir ürün göstermek değil. Finansın hata toleransı düşük alanlarından birinde yapay zekâyı nasıl kontrollü kullanabileceğimizi anlatmak.</a:t>
            </a:r>
          </a:p>
          <a:p xmlns:a="http://schemas.openxmlformats.org/drawingml/2006/main">
            <a:r>
              <a:t>Actuarius, bu yaklaşımı aktüeryal rezerv süreci üzerinde somutlaştırıyor.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Aktüerya, üretken yapay zekânın sınırsız hareket edebileceği bir alan değil.</a:t>
            </a:r>
          </a:p>
          <a:p xmlns:a="http://schemas.openxmlformats.org/drawingml/2006/main">
            <a:r>
              <a:t>Bu kısıt bir engel değil. Doğru mimariyi tarif ediyor: hesap, veri sınırı, kayıt ve insan onayı ayrı ayrı korunmalı.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Bizim yaklaşımımızda AI hesap motorunun yerine geçmiyor.</a:t>
            </a:r>
          </a:p>
          <a:p xmlns:a="http://schemas.openxmlformats.org/drawingml/2006/main">
            <a:r>
              <a:t>AI, aktüerin doğal dildeki sorusunu ilgili kontrole ve hesap fonksiyonuna bağlıyor. Sayıyı versiyonlu motor döndürüyor. Aktüer bağlamı ve varsayımı değerlendirerek onaylıyor.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İlk değer noktası veri hazırlığı. Aktüer bugün önemli zamanını dosya yapısını anlamaya ve hatayı aramaya ayırıyor.</a:t>
            </a:r>
          </a:p>
          <a:p xmlns:a="http://schemas.openxmlformats.org/drawingml/2006/main">
            <a:r>
              <a:t>AI burada karar vermek yerine kolon eşleme önerisi, kalite özeti ve anomali açıklaması sağlayabilir. Kullanıcı her eşlemeyi görür ve onaylar.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ekranında her adım görünür. Aktüer hangi gelişim faktörünü kullandığını ve hangi hücreyi dışladığını açık biçimde görür.</a:t>
            </a:r>
          </a:p>
          <a:p xmlns:a="http://schemas.openxmlformats.org/drawingml/2006/main">
            <a:r>
              <a:t>AI’nın katkısı, seçimi aktüer adına yapmak değil. Seçimi açıklamak, dönem farklarını araştırmak ve kontrol sorularını hızlandırmak.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Dört kullanım alanı öncelikli. İlki doğal dilde analiz, ikincisi kontroller, üçüncüsü açıklama taslağı, dördüncüsü süreç desteği.</a:t>
            </a:r>
          </a:p>
          <a:p xmlns:a="http://schemas.openxmlformats.org/drawingml/2006/main">
            <a:r>
              <a:t>Bu yeteneklerin ortak kuralı aynı: AI serbestçe sayı uydurmaz. Doğrulanmış fonksiyonları çağırır ve dönen sonucu kaynak bağlamıyla sunar.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soru bugün birden fazla dosya ve ekran arasında araştırma gerektirebilir.</a:t>
            </a:r>
          </a:p>
          <a:p xmlns:a="http://schemas.openxmlformats.org/drawingml/2006/main">
            <a:r>
              <a:t>Agent önce bağlamı belirler, sonra ilgili kontrollere gider. Hesap motoru sonuçları verir. Agent bunları kısa bir açıklamaya çevirir. Aktüer ayrıntılı inceleme izini korur.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slaytta mevcut durum ile hedef kontrol katmanını açıkça ayırıyoruz.</a:t>
            </a:r>
          </a:p>
          <a:p xmlns:a="http://schemas.openxmlformats.org/drawingml/2006/main">
            <a:r>
              <a:t>Yerel çalışma, Oracle bağlantısı ve deterministik motor elimizde. Kurumsal parola kasası, ayrıntılı yetki, değiştirilemez kapanış ve AI sağlayıcı politikası pilotun kontrol kapsamını oluşturmalı.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Sunumda doğrulanmamış verimlilik oranları kullanmıyoruz.</a:t>
            </a:r>
          </a:p>
          <a:p xmlns:a="http://schemas.openxmlformats.org/drawingml/2006/main">
            <a:r>
              <a:t>Pilot öncesinde mevcut kapanış süresini, analiz zamanını ve yeniden çalışmayı ölçeceğiz. Aynı akışın Actuarius ile yürütülen kapanışını karşılaştıracağız.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Öneri, tek branş ve bir kapanış dönemiyle başlamaktır.</a:t>
            </a:r>
          </a:p>
          <a:p xmlns:a="http://schemas.openxmlformats.org/drawingml/2006/main">
            <a:r>
              <a:t>İlk ay veri ve kontrol kapsamını hazırlarız. İkinci ay mevcut süreçle yan yana çalışırız. Son ay ölçümleri, riskleri ve ölçekleme kararını yönetime sunarız.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Yönetimden talebimiz geniş ölçekli bir teknoloji yatırımı kararı değil.</a:t>
            </a:r>
          </a:p>
          <a:p xmlns:a="http://schemas.openxmlformats.org/drawingml/2006/main">
            <a:r>
              <a:t>Tek branşta, ölçülebilir ve kontrollü bir pilot için sponsor, aktüerya ve IT temsilcisi ile ortak başarı kriterleri istiyoruz.</a:t>
            </a:r>
          </a:p>
          <a:p xmlns:a="http://schemas.openxmlformats.org/drawingml/2006/main">
            <a:r>
              <a:t>Pilot sonunda faydayı ve kontrol sonuçlarını birlikte değerlendirebiliriz.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84be4997946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cc0d10a4924402" /><Relationship Type="http://schemas.openxmlformats.org/officeDocument/2006/relationships/slideLayout" Target="/ppt/slideLayouts/slideLayout1.xml" Id="R4f49d158303548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49d158303548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ce5655ac3438a" /><Relationship Type="http://schemas.openxmlformats.org/officeDocument/2006/relationships/notesSlide" Target="/ppt/notesSlides/notesSlide1.xml" Id="R92d17fa5251f40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ad7b4cb1e4d83" /><Relationship Type="http://schemas.openxmlformats.org/officeDocument/2006/relationships/notesSlide" Target="/ppt/notesSlides/notesSlide2.xml" Id="R4fc4168eafca4b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fce1edb424ad3" /><Relationship Type="http://schemas.openxmlformats.org/officeDocument/2006/relationships/notesSlide" Target="/ppt/notesSlides/notesSlide3.xml" Id="R68c62fea343143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1142f2dd44e49" /><Relationship Type="http://schemas.openxmlformats.org/officeDocument/2006/relationships/image" Target="/ppt/media/image.png" Id="R49e8514971c34cfc" /><Relationship Type="http://schemas.openxmlformats.org/officeDocument/2006/relationships/notesSlide" Target="/ppt/notesSlides/notesSlide4.xml" Id="Re5ceb61ac76145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7012bfc414f64" /><Relationship Type="http://schemas.openxmlformats.org/officeDocument/2006/relationships/image" Target="/ppt/media/image2.png" Id="R6fca101768ff4a65" /><Relationship Type="http://schemas.openxmlformats.org/officeDocument/2006/relationships/notesSlide" Target="/ppt/notesSlides/notesSlide5.xml" Id="R80186966c0674d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745acd33b41ab" /><Relationship Type="http://schemas.openxmlformats.org/officeDocument/2006/relationships/image" Target="/ppt/media/image3.png" Id="Raeabd780bf3c43cc" /><Relationship Type="http://schemas.openxmlformats.org/officeDocument/2006/relationships/notesSlide" Target="/ppt/notesSlides/notesSlide6.xml" Id="Rfe74dcf6082d43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3b68e0f094be6" /><Relationship Type="http://schemas.openxmlformats.org/officeDocument/2006/relationships/notesSlide" Target="/ppt/notesSlides/notesSlide7.xml" Id="R567b2f27edad48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6e955b7254ad3" /><Relationship Type="http://schemas.openxmlformats.org/officeDocument/2006/relationships/notesSlide" Target="/ppt/notesSlides/notesSlide8.xml" Id="Rb4f7bffd37df4d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f770b862b4516" /><Relationship Type="http://schemas.openxmlformats.org/officeDocument/2006/relationships/notesSlide" Target="/ppt/notesSlides/notesSlide9.xml" Id="Rca87c0bfd0b042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95c55af8b4471" /><Relationship Type="http://schemas.openxmlformats.org/officeDocument/2006/relationships/notesSlide" Target="/ppt/notesSlides/notesSlide10.xml" Id="R62562454c9ce44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2eb7257b84f9e" /><Relationship Type="http://schemas.openxmlformats.org/officeDocument/2006/relationships/notesSlide" Target="/ppt/notesSlides/notesSlide11.xml" Id="R510fd476b47247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BEF66-6B41-4B44-A0E8-EDB070B3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896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1234B-64A3-4C3C-95DE-9C3F684A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C2D0B-BF05-4568-8709-DA4B52BC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420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Aktüeryada </a:t>
            </a:r>
            <a:r>
              <a:rPr sz="420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yapay zekâ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4398A-ACC1-4692-811F-5A201A8F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Kontrollü bir finans alanında somut kullanım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2295C-BBEA-455A-AD7A-8755652F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Actuarius Enterprise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51BB9-62D8-4C64-85F7-1B62F182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Ürün yaklaşımı, güvenlik çerçevesi ve pilot önerisi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B6182-1642-4FE5-9872-A81B9C12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43000"/>
            <a:ext cx="1695450" cy="4000500"/>
          </a:xfrm>
          <a:prstGeom xmlns:a="http://schemas.openxmlformats.org/drawingml/2006/main" prst="roundRect">
            <a:avLst>
              <a:gd name="adj" fmla="val 15730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49AA7-B675-4465-8B94-36FE57A2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09750"/>
            <a:ext cx="1314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950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4950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AB1CB-0F9C-4A79-805A-DD70823B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71800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896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CC7C9-E48F-40AA-8064-1DAB599F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381375"/>
            <a:ext cx="1276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KONTROL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ALTINDA</a:t>
            </a:r>
          </a:p>
        </p:txBody>
      </p:sp>
    </p:spTree>
    <p:extLst>
      <p:ext uri="{BB962C8B-B14F-4D97-AF65-F5344CB8AC3E}">
        <p14:creationId xmlns:p14="http://schemas.microsoft.com/office/powerpoint/2010/main" val="205740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DBC192-B720-48C6-B0D1-08A90377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Aktüeryada AI neden farklı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18BD9-76DE-469E-81D2-214573F6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23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7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Rezerv sonucu finansal tablolara girer. Bu nedenle hız kadar izlenebilirlik ve tekrar üretilebilirlik de gerekir.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2F054-63C5-4039-8550-FA66FEA7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A31BB-EA80-4595-9973-97B10109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43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Hata maliyeti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39FD9-EDFF-42A6-97E8-3BDDD41B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622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Yanlış bir sayı kararları ve raporlamayı etkiler.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1F3F6-B88B-4385-A5AD-1E87AFE0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670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A7267-E0BA-42C0-9A70-4385251C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A3107-0593-40AB-B536-1BC9938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6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Açıklanabilirlik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3C1E3-E793-47E6-9BB5-9B1BCB4D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5052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Sonucun hangi veri ve varsayımla oluştuğu görünmelidir.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28E0C-270E-456A-A8FC-705A684D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100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C03A0-BBE8-461F-87D0-210BCFEE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88E13-9534-4B8C-8535-304E7644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29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Veri sınırı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61AFD-42E7-44F8-BECB-C75BDC43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48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Hasar ve poliçe verisi kurum politikasına uygun kalmalıdır.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DEA42-7FD9-45D2-9B8D-256B99FA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529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5C2DD-0ABA-4C5C-9314-540B4FC5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B5CCE-73D3-4538-AE4C-850B00B1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72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Uzman onayı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7E505-480C-4385-B143-BC49E838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9911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Nihai kararın sahibi aktüerdir.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1922C-9D44-42DA-89F6-6EB61FBA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484D2-5B36-4692-BE24-20009FC7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286917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A2B59-0903-4BCA-AD90-21FEA207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Çalışma prensibi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14AD9-40A1-4E92-B851-A02C7141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8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Hesabı deterministik motor üretir. AI bağlamı toplar ve açıklamayı hızlandırır. Aktüer onaylar.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2B285-4EB4-4FA9-9EBA-854669B0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933700" cy="247650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533A4-EF8D-43CD-9B37-3E0FE8C5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93370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3D8F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C4561-3321-4981-9D16-4B3D5511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AI KATMANI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76DA3-603C-4BC0-A664-6188C49C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2400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Soruyu anlar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Doğru analizi seçer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Taslak açıklama üretir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9D93A-2EEE-4817-A3D2-415154B9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2933700" cy="247650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A7F23-0A1F-4729-A254-6AE7C037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293370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AA7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992A1-7A4B-400C-98C6-9F7BC1DD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14625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AA7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AA7FF"/>
                </a:solidFill>
                <a:latin typeface="Avenir Next"/>
                <a:ea typeface="Avenir Next"/>
                <a:cs typeface="Avenir Next"/>
              </a:rPr>
              <a:t>HESAP MOTORU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09946-C7EF-45B1-BCFC-5FAE035D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2400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8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Versiyonlu yöntemler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Aynı girdiye aynı sonuç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Kontrol testleri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47259-63FA-46C0-84E9-45BBAF81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33625"/>
            <a:ext cx="2933700" cy="247650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62F4A-3971-4774-8747-92888AF4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33625"/>
            <a:ext cx="293370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7896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3C78A-77CE-422D-AE61-CA8B2FCD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14625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AKTÜER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A8651-33BE-4737-B919-8DB9A388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2400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8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Varsayımı değerlendirir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İstisnayı inceler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Nihai sonucu onaylar</a:t>
            </a:r>
          </a:p>
        </p:txBody>
      </p:sp>
      <p:cxnSp>
        <p:nvCxnSpPr>
          <p:cNvPr id="34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19500" y="35718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5C7"/>
            </a:solidFill>
            <a:prstDash val="solid"/>
            <a:head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258050" y="35718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5C7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3A4F29-6D96-459D-BD6E-23E376F7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Kontrol noktası: AI hiçbir aşamada kayıtsız ve doğrulanmamış bir rezerv sonucu üretmez.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C44FD-6792-41F7-B25B-7591A2E9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51B87-85A7-4A99-B917-BDA23113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94762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956BF-BFC1-424F-A0C0-A7C3C665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Veri hazırlığı tek bir kapanış bağlamında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49D91-0E39-4290-A552-9A65CD76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8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Dosya yükleme, kolon eşleme ve dönem bağlamı aynı çalışma alanında tutulur.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8514971c34c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714500"/>
            <a:ext cx="6553200" cy="4095750"/>
          </a:xfrm>
          <a:prstGeom xmlns:a="http://schemas.openxmlformats.org/drawingml/2006/main" prst="roundRect">
            <a:avLst>
              <a:gd name="adj" fmla="val 418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1F22D-F404-4B06-8865-DAD1A69B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ADBF8-BC88-4549-8EA1-C6EF27BF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Veriyi tanı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55280-7B6C-4F03-B7EB-A854D8FF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479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Dosya yapısını ve alanları kontrol 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A6FD4-117B-4C47-AB2F-B84DEF40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B8E4C-72FF-4192-A5BB-6524EA43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527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Döneme bağla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632CE-431D-4437-9F0A-7786DF68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528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Aynı kapanış bağlamını koru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F0C03-8FFD-4C4B-B3D9-829F3C2A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B9407-20AD-4B30-88BD-2A52F81B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576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Analize hazırla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68572-401E-429E-AC6D-304EE121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577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Eksik veya uyumsuz alanları görünür kıl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BA588B-C0BF-409E-A076-69199B93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rPr>
              <a:t>AI fırsatı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092A9-44EA-4F15-82E8-4ADAD827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Kolon önerisi, kalite kontrol özeti ve anomali açıklaması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E62D0-43F0-4468-AD24-00ACE08C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BC1955-9AAD-4191-B8DB-8A0704F3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512811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CA379-221D-4B84-93B1-498E3E31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Rezerv modeli insan kontrolünde ilerler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D3994-332E-4F76-8590-43FBEB4E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Model adımları görünür kalır. Seçim ve dışlama kararları aktüerin çalışma kaydına dönüşür.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a101768ff4a65"/>
          <a:srcRect xmlns:a="http://schemas.openxmlformats.org/drawingml/2006/main" l="0" t="10000" r="0" b="1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90700"/>
            <a:ext cx="8572500" cy="42862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6DEF0-C9B6-4F89-A9B5-E74BF5D7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981200" cy="371475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737A8-5895-4936-911B-B2A7E4E9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336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AI’nın rolü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49CC0-8E14-426F-B784-13102426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14650"/>
            <a:ext cx="152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1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Seçilen faktörü açıklamak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Dönemler arası farkı araştırmak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Kontrol soruları önermek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FDB3E-375D-454C-A241-BA6F69C0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1435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Seçim yetkisi aktüerde kalır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7EA9D-D230-4797-9DE7-C42843DC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13F95-2E6B-4CC6-AAD0-2F483A79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81167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2CC4F6-329D-4248-B38D-12EA1C5C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AI kullanım alanları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bd780bf3c43cc"/>
          <a:srcRect xmlns:a="http://schemas.openxmlformats.org/drawingml/2006/main" l="36" t="0" r="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428750"/>
            <a:ext cx="5314950" cy="3324225"/>
          </a:xfrm>
          <a:prstGeom xmlns:a="http://schemas.openxmlformats.org/drawingml/2006/main" prst="roundRect">
            <a:avLst>
              <a:gd name="adj" fmla="val 5158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23AF9-3CE7-49C6-922A-48FFCAB1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A7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35EA3-87FA-4EA5-A8A4-FC837E0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430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Doğal dilde analiz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07044-7C33-4682-8968-64E58198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240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Aktüer sorusunu ilgili veri ve modele bağlama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BED4C-6217-4C57-BD37-D842CF4D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A7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82287-D23F-4FB1-A472-754B6DC6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Kontrol ve karşılaştırma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D78B2-319A-40D8-8BCA-ABF0264B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Dönem, branş ve yöntem farklarını inceleme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CAE46-B492-4B09-9CFA-492641C8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896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99D67-3BA6-4AEE-8F1B-D763EFD0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05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Açıklama taslağı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A140B-2CD6-4D20-B17E-D8423865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Sonucun dayanaklarını rapor diline dönüştürme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54886-CBD1-4C7A-8C8B-A7C64712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896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005EE-164E-49BF-85AF-B4FAB1B2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862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İş akışı desteği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F7F8E-6A2A-48B9-A88A-E1C4AAD2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672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Eksik adımı ve bekleyen kontrolü hatırlatma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64712-0F03-4145-BF60-D97A8DCB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53149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5DF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5FCE1-871A-4D57-AD43-A936A1FA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673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Temel kural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8FD3D-FAF7-4530-BEE0-8F69329D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AI, doğrulanmış fonksiyonları çağırır ve sonucu kaynak bağlamıyla sunar.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437623-CEB7-4F3E-8F07-27D0C784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B7730-3A72-45D2-98D5-BF4A272A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368395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D55EB9-8E47-4818-8F8A-457D34D8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Örnek yönetici sorusu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28FFB-E657-4FED-B0B0-524E67B2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“2025Q4 Motor IBNR neden değişti?”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2CD6F-CC86-4DF3-B751-D9234A3E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3812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C5D9C-528D-4B0C-A2A2-5D29D193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175EE-50A4-457D-AD95-355C7823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Bağlam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ACF3B-B760-46EA-9496-C1BB47B7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Dönem ve branşı belirler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25968-4142-4A25-98E8-9AE10146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23812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4BBD8-0CF1-457A-B49F-0BD14E65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A8C12-B27C-4E97-AF20-C0F60C62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24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Kontrol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1B9FC-B9CE-40B7-AB72-B78755EF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Veri, LDF ve varsayımı karşılaştırır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D122C-DE06-4134-884D-298DD02E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3812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F08C5-6E79-441F-AF28-96DB60EA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71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99A47-7C49-4D10-B6A1-DE6B655E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24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Hesap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03F91-5672-4FF0-AFB9-960C876B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385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Motor doğrulanmış sonuçları döndürür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5DA2C-79F8-40E6-B2FE-414646E2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81250"/>
            <a:ext cx="23812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917A2-C0F8-4C0C-8ADF-FE290249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565A4-935F-4FB1-8E28-126197BB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24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Açıklama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EDB2F5-1E97-4E11-A7E6-029A9AA4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385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Etki kaynaklarını taslak metne çevirir</a:t>
            </a:r>
          </a:p>
        </p:txBody>
      </p:sp>
      <p:cxnSp>
        <p:nvCxnSpPr>
          <p:cNvPr id="43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67050" y="34766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5C7"/>
            </a:solidFill>
            <a:prstDash val="solid"/>
            <a:head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867400" y="34766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5C7"/>
            </a:solidFill>
            <a:prstDash val="solid"/>
            <a:head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667750" y="34766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5C7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C48B3C-FDF6-4A18-94D0-104EB0AE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768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Çıktı: yöneticiye kısa yanıt, aktüere inceleme izi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A22FE-F979-4985-B29D-0AD3DA83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6116E3-E54E-403C-9820-413EFA2B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55186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F2BE4A-4347-4397-9716-3C44B9CA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Kurumsal kontrol modeli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D10E4-5A36-41E4-83A0-4A221FD7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Temel ürün çalışıyor. Yönetim katmanını kontrollü pilot sırasında tamamlamayı planlıyoruz.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3EF32-8233-4EE1-BDAC-FB770324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rPr>
              <a:t>MEVCUT TEMEL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C504E-E9EF-4730-B791-2F022CC9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HEDEF KONTROLLER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DF761-D9B3-412A-B1B6-C9C8B768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6EDFA-38D4-4631-BB6F-46F7E75B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479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Yerel masaüstü uygulaması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66735-3161-4ACC-BB9B-1BEE9E47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78FDD-B4FB-436F-882A-C34A33CD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718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Şirket ağı içindeki Oracle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5D563-00F7-45C5-A7F1-7BDB3E32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EEAB0-1C07-49D4-A883-4A45AB63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957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Deterministik hesap motoru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18150-23B1-4E77-8CA4-29B491A0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30A5E-57DE-40E5-9BBA-05F7E489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96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Kullanıcı ve işlem kaydı altyapısı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98CE6-CC8E-4313-87A8-FFAC208A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30D91-ECDE-4687-AEBF-085DE028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479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Parolalar için kurumsal kasa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A5081-5A9A-4DFB-94B8-F50F4F67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559AC-1EDF-41B8-A87E-B3EC072A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718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Modül ve veri bazlı yetki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22E5F-1AF3-4EB9-AD19-0828EE26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AD62A1-48AA-4D4F-B7AB-7367CE6F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957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Değiştirilemez kapanış kaydı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07D870-18A5-4496-B5B3-54169347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644DF6-6CA8-4E64-9F12-E30FABD8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196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Kurum içi ve bulut AI politikası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278389-3BC7-4C79-B863-E90029C2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7170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CC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85959C-AA9C-4039-B0C7-0AEC2603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İlke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2E1BCA-8F54-4461-AE12-FE52B785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007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AI erişimi kurum politikası, kayıt ve insan onayı ile sınırlandırılır.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ECEEC8-1E6F-46E3-ADD8-5BB7A695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ED4443-6F59-462B-871E-72197F48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375495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6A84F5-61E1-49E8-8C04-F3D1CB0F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Pilot başarısını ölçme biçimi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F5200-7E2A-4627-91ED-42CF17FB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Etki iddiasını kullanım verisiyle doğrulayacağız. Başlangıç değerini pilot öncesinde ölçüp aynı kapanış akışıyla karşılaştıracağız.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F4241-7A21-4B98-A0DA-AD869BEA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C1314-09A7-4E90-A073-6BE05C27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479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Kapanış süresi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8E0C7-3F1F-45AE-AE8B-2796B8DF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Veri alımından onaylı sonuca kadar geçen süre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025B2-D5C9-4AA7-9E33-37E492BA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908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55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DEE81-11E7-4838-B25E-95D471B6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E9843-DF6A-444A-846D-9C9E642B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Analiz süresi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EDD86-92ED-4D6E-B696-E5027E94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Fark ve anomali araştırmasına ayrılan uzman zamanı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8FB5A-B7FF-4157-8607-F360AC8C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55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1CAEE-6375-41A2-815B-FD5680FA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E7220-3B18-46AC-8FC6-F048D606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10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Yeniden çalışma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5210D-151A-4518-8AEB-729A6F37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90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Hata veya eksik bağlam nedeniyle tekrarlanan adımlar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35842-38E9-4A6A-9BE6-30168C9F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529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55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FB36E-4C79-4406-8399-DA74C119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DF99C-BE61-496F-B23D-B625AB3B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Denetim kapsamı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7C125-F3D6-4F6D-ADBE-05576DF5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01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Kaynağı ve onayı kayıtlı kritik işlemlerin oranı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1F54AD-739F-4241-B5F4-05F10860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Hedef yüzdeler pilot başlangıcında gerçek baz değerlerle belirlenecek.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B675E-EE21-4BA3-9193-E425B97A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D5D35-A27B-46B6-B666-B98B82EE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8356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368219-665B-4383-9EBE-E078C27E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90 günlük kontrollü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4DE00-D511-4792-8DFF-D51909FA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Tek branş ve tek kapanış dönemi ile başlayıp kontrol kapsamını aşamalı genişletme önerisi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4B83D-D665-470E-9C56-9A57E89C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933700" cy="2952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E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C97D3-13A2-4549-92F9-BD910F45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9337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A7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D2823-E0DA-4678-8E44-31F7D0AE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AA7FF"/>
                </a:solidFill>
                <a:latin typeface="Avenir Next"/>
                <a:ea typeface="Avenir Next"/>
                <a:cs typeface="Avenir Next"/>
              </a:rPr>
              <a:t>GÜN 0–30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19A40-5530-44DF-92ED-176445DF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241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Hazırlık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C658C-CDF0-4B57-B6F3-BF057B72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Baz metrikler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Veri kapsamı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Kullanıcı ve yetki matrisi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AI kullanım politikası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96946-1357-4D84-981C-688043AC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33600"/>
            <a:ext cx="2933700" cy="2952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E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EE319-4C61-407E-9025-3D3EAB00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33600"/>
            <a:ext cx="29337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D8F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F4294-C73E-43A0-9066-174CB7DB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5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GÜN 31–60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7A659-380D-41E7-8522-9EDE2FB6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Paralel çalışma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1127C-99DE-48C0-AFFF-F8B35369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3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Mevcut süreçle yan yana çalışma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Sonuç mutabakatı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Kullanıcı geri bildirimi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Kontrol kayıtları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C0115-24C7-44D1-9EDA-6B9E5197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2933700" cy="2952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E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0CCBC-4BE8-4A17-9C55-F1198E67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29337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896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D3E6F-8703-4313-BF6A-447D8B10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GÜN 61–90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C64F1C-FBD0-4084-BD1D-49EF51BD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241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Değerlendirme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DA3EB-1612-4D1A-BD30-CC97571B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Başarı metrikleri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Risk ve kontrol bulguları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Ölçekleme kararı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Sonraki branş planı</a:t>
            </a:r>
          </a:p>
        </p:txBody>
      </p:sp>
      <p:cxnSp>
        <p:nvCxnSpPr>
          <p:cNvPr id="40" name="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9500" y="36099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A6578"/>
            </a:solidFill>
            <a:prstDash val="solid"/>
            <a:head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258050" y="36099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A6578"/>
            </a:solidFill>
            <a:prstDash val="solid"/>
            <a:head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895F3A-172B-469B-B7DD-0275F564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81650"/>
            <a:ext cx="899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51B2B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51B2B"/>
                </a:solidFill>
                <a:latin typeface="Avenir Next"/>
                <a:ea typeface="Avenir Next"/>
                <a:cs typeface="Avenir Next"/>
              </a:rPr>
              <a:t>Pilot sonunda ölçekleme kararı ölçülen fayda ve kontrol sonuçlarına dayanır.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2BFE6F-4102-4A56-944B-01BCAF89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861615-E369-41FD-BFD1-AB298832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A6578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059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7FCAE-1528-4279-8AEF-415967A6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ÖNERİ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79A23-DB0B-4A7F-BEBF-265500F3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Bir branşta 90 günlük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7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kontrollü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33AF9-492B-431B-879E-5A22181D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2004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964D7-2862-4B1F-9FB3-2991C74A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5669D-508F-430C-AFA8-97547909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Yönetici sponsoru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80909-5BE9-448F-8C8F-4D8EA596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Kapsam ve karar noktalarının sahipliği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E3977-2918-4A71-B00D-934FE5B3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90900"/>
            <a:ext cx="32004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F988B-92FB-451F-9AF6-101B53CF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19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3D8F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63D8F3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518AD-F590-49B5-9A67-F15A3835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19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Aktüerya ile IT temsilcisi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F8266-58E1-4A8C-B419-1CD93F7E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Veri, güvenlik ve çalışma düzeninin kurulması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499C7-7BD5-48EB-8240-82E0310A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90900"/>
            <a:ext cx="32004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A35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2F9D2-2DEB-47E1-9AAF-CE3F4C69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BE9C3-30FD-46BB-965D-96AD0DE1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AF0F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AF0F8"/>
                </a:solidFill>
                <a:latin typeface="Avenir Next"/>
                <a:ea typeface="Avenir Next"/>
                <a:cs typeface="Avenir Next"/>
              </a:rPr>
              <a:t>Ortak başarı ölçütleri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E8F0D-3E29-4924-B985-54A6CD7D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386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Pilot öncesi baz değer ve kapanış sonrası karşılaştırma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743B4-C2B5-4BD3-BE86-AB1E1B0B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D7896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D78962"/>
                </a:solidFill>
                <a:latin typeface="Avenir Next"/>
                <a:ea typeface="Avenir Next"/>
                <a:cs typeface="Avenir Next"/>
              </a:rPr>
              <a:t>Actuarius Enterprise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523A8-CBE7-4D20-9D72-5DA6A7F4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674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Sorular ve değerlendirmeler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82EAD-3342-4136-8689-7851F0EA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Finance Day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1CFDC-DD68-4899-86F0-D37875E7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5C7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04880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2026-09-08T16:02:08.4140000Z</dcterms:created>
  <dcterms:modified xsi:type="dcterms:W3CDTF">2026-09-08T16:02:08.4150000Z</dcterms:modified>
</coreProperties>
</file>